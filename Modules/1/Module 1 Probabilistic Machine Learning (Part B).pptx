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55"/>
  </p:notesMasterIdLst>
  <p:handoutMasterIdLst>
    <p:handoutMasterId r:id="rId56"/>
  </p:handoutMasterIdLst>
  <p:sldIdLst>
    <p:sldId id="271" r:id="rId2"/>
    <p:sldId id="499" r:id="rId3"/>
    <p:sldId id="618" r:id="rId4"/>
    <p:sldId id="501" r:id="rId5"/>
    <p:sldId id="553" r:id="rId6"/>
    <p:sldId id="651" r:id="rId7"/>
    <p:sldId id="652" r:id="rId8"/>
    <p:sldId id="653" r:id="rId9"/>
    <p:sldId id="655" r:id="rId10"/>
    <p:sldId id="654" r:id="rId11"/>
    <p:sldId id="656" r:id="rId12"/>
    <p:sldId id="644" r:id="rId13"/>
    <p:sldId id="646" r:id="rId14"/>
    <p:sldId id="645" r:id="rId15"/>
    <p:sldId id="648" r:id="rId16"/>
    <p:sldId id="621" r:id="rId17"/>
    <p:sldId id="635" r:id="rId18"/>
    <p:sldId id="636" r:id="rId19"/>
    <p:sldId id="637" r:id="rId20"/>
    <p:sldId id="634" r:id="rId21"/>
    <p:sldId id="650" r:id="rId22"/>
    <p:sldId id="649" r:id="rId23"/>
    <p:sldId id="595" r:id="rId24"/>
    <p:sldId id="638" r:id="rId25"/>
    <p:sldId id="561" r:id="rId26"/>
    <p:sldId id="624" r:id="rId27"/>
    <p:sldId id="626" r:id="rId28"/>
    <p:sldId id="627" r:id="rId29"/>
    <p:sldId id="564" r:id="rId30"/>
    <p:sldId id="628" r:id="rId31"/>
    <p:sldId id="629" r:id="rId32"/>
    <p:sldId id="630" r:id="rId33"/>
    <p:sldId id="568" r:id="rId34"/>
    <p:sldId id="598" r:id="rId35"/>
    <p:sldId id="640" r:id="rId36"/>
    <p:sldId id="657" r:id="rId37"/>
    <p:sldId id="613" r:id="rId38"/>
    <p:sldId id="573" r:id="rId39"/>
    <p:sldId id="614" r:id="rId40"/>
    <p:sldId id="574" r:id="rId41"/>
    <p:sldId id="577" r:id="rId42"/>
    <p:sldId id="617" r:id="rId43"/>
    <p:sldId id="584" r:id="rId44"/>
    <p:sldId id="585" r:id="rId45"/>
    <p:sldId id="602" r:id="rId46"/>
    <p:sldId id="601" r:id="rId47"/>
    <p:sldId id="589" r:id="rId48"/>
    <p:sldId id="623" r:id="rId49"/>
    <p:sldId id="591" r:id="rId50"/>
    <p:sldId id="642" r:id="rId51"/>
    <p:sldId id="592" r:id="rId52"/>
    <p:sldId id="641" r:id="rId53"/>
    <p:sldId id="606" r:id="rId54"/>
  </p:sldIdLst>
  <p:sldSz cx="9144000" cy="6858000" type="screen4x3"/>
  <p:notesSz cx="6797675" cy="9874250"/>
  <p:custDataLst>
    <p:tags r:id="rId57"/>
  </p:custDataLst>
  <p:defaultTextStyle>
    <a:defPPr>
      <a:defRPr lang="ko-KR"/>
    </a:defPPr>
    <a:lvl1pPr algn="l" rtl="0" eaLnBrk="0" fontAlgn="base" hangingPunct="0">
      <a:spcBef>
        <a:spcPct val="0"/>
      </a:spcBef>
      <a:spcAft>
        <a:spcPct val="0"/>
      </a:spcAft>
      <a:defRPr sz="1600" kern="1200">
        <a:solidFill>
          <a:schemeClr val="tx1"/>
        </a:solidFill>
        <a:latin typeface="Tahoma" panose="020B0604030504040204" pitchFamily="34" charset="0"/>
        <a:ea typeface="굴림" pitchFamily="6" charset="-127"/>
        <a:cs typeface="+mn-cs"/>
      </a:defRPr>
    </a:lvl1pPr>
    <a:lvl2pPr marL="457200" algn="l" rtl="0" eaLnBrk="0" fontAlgn="base" hangingPunct="0">
      <a:spcBef>
        <a:spcPct val="0"/>
      </a:spcBef>
      <a:spcAft>
        <a:spcPct val="0"/>
      </a:spcAft>
      <a:defRPr sz="1600" kern="1200">
        <a:solidFill>
          <a:schemeClr val="tx1"/>
        </a:solidFill>
        <a:latin typeface="Tahoma" panose="020B0604030504040204" pitchFamily="34" charset="0"/>
        <a:ea typeface="굴림" pitchFamily="6" charset="-127"/>
        <a:cs typeface="+mn-cs"/>
      </a:defRPr>
    </a:lvl2pPr>
    <a:lvl3pPr marL="914400" algn="l" rtl="0" eaLnBrk="0" fontAlgn="base" hangingPunct="0">
      <a:spcBef>
        <a:spcPct val="0"/>
      </a:spcBef>
      <a:spcAft>
        <a:spcPct val="0"/>
      </a:spcAft>
      <a:defRPr sz="1600" kern="1200">
        <a:solidFill>
          <a:schemeClr val="tx1"/>
        </a:solidFill>
        <a:latin typeface="Tahoma" panose="020B0604030504040204" pitchFamily="34" charset="0"/>
        <a:ea typeface="굴림" pitchFamily="6" charset="-127"/>
        <a:cs typeface="+mn-cs"/>
      </a:defRPr>
    </a:lvl3pPr>
    <a:lvl4pPr marL="1371600" algn="l" rtl="0" eaLnBrk="0" fontAlgn="base" hangingPunct="0">
      <a:spcBef>
        <a:spcPct val="0"/>
      </a:spcBef>
      <a:spcAft>
        <a:spcPct val="0"/>
      </a:spcAft>
      <a:defRPr sz="1600" kern="1200">
        <a:solidFill>
          <a:schemeClr val="tx1"/>
        </a:solidFill>
        <a:latin typeface="Tahoma" panose="020B0604030504040204" pitchFamily="34" charset="0"/>
        <a:ea typeface="굴림" pitchFamily="6" charset="-127"/>
        <a:cs typeface="+mn-cs"/>
      </a:defRPr>
    </a:lvl4pPr>
    <a:lvl5pPr marL="1828800" algn="l" rtl="0" eaLnBrk="0" fontAlgn="base" hangingPunct="0">
      <a:spcBef>
        <a:spcPct val="0"/>
      </a:spcBef>
      <a:spcAft>
        <a:spcPct val="0"/>
      </a:spcAft>
      <a:defRPr sz="1600" kern="1200">
        <a:solidFill>
          <a:schemeClr val="tx1"/>
        </a:solidFill>
        <a:latin typeface="Tahoma" panose="020B0604030504040204" pitchFamily="34" charset="0"/>
        <a:ea typeface="굴림" pitchFamily="6" charset="-127"/>
        <a:cs typeface="+mn-cs"/>
      </a:defRPr>
    </a:lvl5pPr>
    <a:lvl6pPr marL="2286000" algn="l" defTabSz="914400" rtl="0" eaLnBrk="1" latinLnBrk="0" hangingPunct="1">
      <a:defRPr sz="1600" kern="1200">
        <a:solidFill>
          <a:schemeClr val="tx1"/>
        </a:solidFill>
        <a:latin typeface="Tahoma" panose="020B0604030504040204" pitchFamily="34" charset="0"/>
        <a:ea typeface="굴림" pitchFamily="6" charset="-127"/>
        <a:cs typeface="+mn-cs"/>
      </a:defRPr>
    </a:lvl6pPr>
    <a:lvl7pPr marL="2743200" algn="l" defTabSz="914400" rtl="0" eaLnBrk="1" latinLnBrk="0" hangingPunct="1">
      <a:defRPr sz="1600" kern="1200">
        <a:solidFill>
          <a:schemeClr val="tx1"/>
        </a:solidFill>
        <a:latin typeface="Tahoma" panose="020B0604030504040204" pitchFamily="34" charset="0"/>
        <a:ea typeface="굴림" pitchFamily="6" charset="-127"/>
        <a:cs typeface="+mn-cs"/>
      </a:defRPr>
    </a:lvl7pPr>
    <a:lvl8pPr marL="3200400" algn="l" defTabSz="914400" rtl="0" eaLnBrk="1" latinLnBrk="0" hangingPunct="1">
      <a:defRPr sz="1600" kern="1200">
        <a:solidFill>
          <a:schemeClr val="tx1"/>
        </a:solidFill>
        <a:latin typeface="Tahoma" panose="020B0604030504040204" pitchFamily="34" charset="0"/>
        <a:ea typeface="굴림" pitchFamily="6" charset="-127"/>
        <a:cs typeface="+mn-cs"/>
      </a:defRPr>
    </a:lvl8pPr>
    <a:lvl9pPr marL="3657600" algn="l" defTabSz="914400" rtl="0" eaLnBrk="1" latinLnBrk="0" hangingPunct="1">
      <a:defRPr sz="1600" kern="1200">
        <a:solidFill>
          <a:schemeClr val="tx1"/>
        </a:solidFill>
        <a:latin typeface="Tahoma" panose="020B0604030504040204" pitchFamily="34" charset="0"/>
        <a:ea typeface="굴림" pitchFamily="6"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43"/>
    <p:restoredTop sz="90476" autoAdjust="0"/>
  </p:normalViewPr>
  <p:slideViewPr>
    <p:cSldViewPr>
      <p:cViewPr varScale="1">
        <p:scale>
          <a:sx n="59" d="100"/>
          <a:sy n="59" d="100"/>
        </p:scale>
        <p:origin x="906" y="66"/>
      </p:cViewPr>
      <p:guideLst>
        <p:guide orient="horz" pos="2160"/>
        <p:guide pos="2880"/>
      </p:guideLst>
    </p:cSldViewPr>
  </p:slideViewPr>
  <p:notesTextViewPr>
    <p:cViewPr>
      <p:scale>
        <a:sx n="100" d="100"/>
        <a:sy n="100" d="100"/>
      </p:scale>
      <p:origin x="0" y="0"/>
    </p:cViewPr>
  </p:notesTextViewPr>
  <p:notesViewPr>
    <p:cSldViewPr>
      <p:cViewPr>
        <p:scale>
          <a:sx n="10" d="100"/>
          <a:sy n="10" d="100"/>
        </p:scale>
        <p:origin x="-102" y="-2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627" name="Rectangle 2">
            <a:extLst>
              <a:ext uri="{FF2B5EF4-FFF2-40B4-BE49-F238E27FC236}">
                <a16:creationId xmlns:a16="http://schemas.microsoft.com/office/drawing/2014/main" id="{153FB927-467D-EB43-91EB-AEAE54EE3F20}"/>
              </a:ext>
            </a:extLst>
          </p:cNvPr>
          <p:cNvSpPr>
            <a:spLocks noGrp="1" noChangeArrowheads="1"/>
          </p:cNvSpPr>
          <p:nvPr>
            <p:ph type="hdr" sz="quarter"/>
          </p:nvPr>
        </p:nvSpPr>
        <p:spPr bwMode="auto">
          <a:xfrm>
            <a:off x="0" y="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eaLnBrk="0" hangingPunct="0">
              <a:defRPr>
                <a:latin typeface="Tahoma" charset="0"/>
                <a:ea typeface="굴림" charset="0"/>
                <a:cs typeface="굴림" charset="0"/>
              </a:defRPr>
            </a:lvl1pPr>
          </a:lstStyle>
          <a:p>
            <a:pPr>
              <a:defRPr/>
            </a:pPr>
            <a:endParaRPr lang="en-AU"/>
          </a:p>
        </p:txBody>
      </p:sp>
      <p:sp>
        <p:nvSpPr>
          <p:cNvPr id="54628" name="Rectangle 3">
            <a:extLst>
              <a:ext uri="{FF2B5EF4-FFF2-40B4-BE49-F238E27FC236}">
                <a16:creationId xmlns:a16="http://schemas.microsoft.com/office/drawing/2014/main" id="{14581292-E019-3241-ACBD-907E27E0E4E4}"/>
              </a:ext>
            </a:extLst>
          </p:cNvPr>
          <p:cNvSpPr>
            <a:spLocks noGrp="1" noChangeArrowheads="1"/>
          </p:cNvSpPr>
          <p:nvPr>
            <p:ph type="dt" sz="quarter" idx="1"/>
          </p:nvPr>
        </p:nvSpPr>
        <p:spPr bwMode="auto">
          <a:xfrm>
            <a:off x="3849688" y="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eaLnBrk="0" hangingPunct="0">
              <a:defRPr>
                <a:ea typeface="굴림" panose="020B0600000101010101" pitchFamily="34" charset="-127"/>
              </a:defRPr>
            </a:lvl1pPr>
          </a:lstStyle>
          <a:p>
            <a:pPr>
              <a:defRPr/>
            </a:pPr>
            <a:fld id="{AB0E93D5-022B-4598-AD7B-437500BDF67C}" type="datetime1">
              <a:rPr lang="en-AU" altLang="ko-KR"/>
              <a:pPr>
                <a:defRPr/>
              </a:pPr>
              <a:t>22/05/2024</a:t>
            </a:fld>
            <a:endParaRPr lang="en-AU" altLang="ko-KR"/>
          </a:p>
        </p:txBody>
      </p:sp>
      <p:sp>
        <p:nvSpPr>
          <p:cNvPr id="54629" name="Rectangle 4">
            <a:extLst>
              <a:ext uri="{FF2B5EF4-FFF2-40B4-BE49-F238E27FC236}">
                <a16:creationId xmlns:a16="http://schemas.microsoft.com/office/drawing/2014/main" id="{0B4CE2C6-209D-5D4B-9E18-7611BD25E91A}"/>
              </a:ext>
            </a:extLst>
          </p:cNvPr>
          <p:cNvSpPr>
            <a:spLocks noGrp="1" noChangeArrowheads="1"/>
          </p:cNvSpPr>
          <p:nvPr>
            <p:ph type="ftr" sz="quarter" idx="2"/>
          </p:nvPr>
        </p:nvSpPr>
        <p:spPr bwMode="auto">
          <a:xfrm>
            <a:off x="0" y="937895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eaLnBrk="0" hangingPunct="0">
              <a:defRPr>
                <a:latin typeface="Tahoma" charset="0"/>
                <a:ea typeface="굴림" charset="0"/>
                <a:cs typeface="굴림" charset="0"/>
              </a:defRPr>
            </a:lvl1pPr>
          </a:lstStyle>
          <a:p>
            <a:pPr>
              <a:defRPr/>
            </a:pPr>
            <a:endParaRPr lang="en-AU"/>
          </a:p>
        </p:txBody>
      </p:sp>
      <p:sp>
        <p:nvSpPr>
          <p:cNvPr id="54630" name="Rectangle 5">
            <a:extLst>
              <a:ext uri="{FF2B5EF4-FFF2-40B4-BE49-F238E27FC236}">
                <a16:creationId xmlns:a16="http://schemas.microsoft.com/office/drawing/2014/main" id="{090194B9-385D-C545-A753-FB6A382158C0}"/>
              </a:ext>
            </a:extLst>
          </p:cNvPr>
          <p:cNvSpPr>
            <a:spLocks noGrp="1" noChangeArrowheads="1"/>
          </p:cNvSpPr>
          <p:nvPr>
            <p:ph type="sldNum" sz="quarter" idx="3"/>
          </p:nvPr>
        </p:nvSpPr>
        <p:spPr bwMode="auto">
          <a:xfrm>
            <a:off x="3849688" y="937895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algn="r" eaLnBrk="0" hangingPunct="0">
              <a:defRPr>
                <a:ea typeface="굴림" panose="020B0600000101010101" pitchFamily="34" charset="-127"/>
              </a:defRPr>
            </a:lvl1pPr>
          </a:lstStyle>
          <a:p>
            <a:pPr>
              <a:defRPr/>
            </a:pPr>
            <a:fld id="{A70C3B42-4EA3-407E-BB7F-24BDE5C888D8}" type="slidenum">
              <a:rPr lang="en-AU" altLang="ko-KR"/>
              <a:pPr>
                <a:defRPr/>
              </a:pPr>
              <a:t>‹#›</a:t>
            </a:fld>
            <a:endParaRPr lang="en-AU" altLang="ko-K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595" name="Rectangle 2">
            <a:extLst>
              <a:ext uri="{FF2B5EF4-FFF2-40B4-BE49-F238E27FC236}">
                <a16:creationId xmlns:a16="http://schemas.microsoft.com/office/drawing/2014/main" id="{63F16D39-046C-4847-A7CC-6C0FD2496933}"/>
              </a:ext>
            </a:extLst>
          </p:cNvPr>
          <p:cNvSpPr>
            <a:spLocks noGrp="1" noChangeArrowheads="1"/>
          </p:cNvSpPr>
          <p:nvPr>
            <p:ph type="hdr" sz="quarter"/>
          </p:nvPr>
        </p:nvSpPr>
        <p:spPr bwMode="auto">
          <a:xfrm>
            <a:off x="0" y="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eaLnBrk="1" hangingPunct="1">
              <a:defRPr kumimoji="1" sz="1200">
                <a:latin typeface="굴림" charset="0"/>
                <a:ea typeface="굴림" charset="0"/>
                <a:cs typeface="굴림" charset="0"/>
              </a:defRPr>
            </a:lvl1pPr>
          </a:lstStyle>
          <a:p>
            <a:pPr>
              <a:defRPr/>
            </a:pPr>
            <a:endParaRPr lang="en-US" altLang="ko-KR"/>
          </a:p>
        </p:txBody>
      </p:sp>
      <p:sp>
        <p:nvSpPr>
          <p:cNvPr id="53596" name="Rectangle 3">
            <a:extLst>
              <a:ext uri="{FF2B5EF4-FFF2-40B4-BE49-F238E27FC236}">
                <a16:creationId xmlns:a16="http://schemas.microsoft.com/office/drawing/2014/main" id="{0F618EC8-49BE-594B-B29D-B9ADD1059CEE}"/>
              </a:ext>
            </a:extLst>
          </p:cNvPr>
          <p:cNvSpPr>
            <a:spLocks noGrp="1" noChangeArrowheads="1"/>
          </p:cNvSpPr>
          <p:nvPr>
            <p:ph type="dt" idx="1"/>
          </p:nvPr>
        </p:nvSpPr>
        <p:spPr bwMode="auto">
          <a:xfrm>
            <a:off x="3849688" y="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eaLnBrk="1" hangingPunct="1">
              <a:defRPr kumimoji="1" sz="1200">
                <a:latin typeface="굴림" charset="0"/>
                <a:ea typeface="굴림" charset="0"/>
                <a:cs typeface="굴림" charset="0"/>
              </a:defRPr>
            </a:lvl1pPr>
          </a:lstStyle>
          <a:p>
            <a:pPr>
              <a:defRPr/>
            </a:pPr>
            <a:endParaRPr lang="en-US" altLang="ko-KR"/>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598" name="Rectangle 5">
            <a:extLst>
              <a:ext uri="{FF2B5EF4-FFF2-40B4-BE49-F238E27FC236}">
                <a16:creationId xmlns:a16="http://schemas.microsoft.com/office/drawing/2014/main" id="{8A461071-85DD-2A41-A62B-DB80779A1829}"/>
              </a:ext>
            </a:extLst>
          </p:cNvPr>
          <p:cNvSpPr>
            <a:spLocks noGrp="1" noChangeArrowheads="1"/>
          </p:cNvSpPr>
          <p:nvPr>
            <p:ph type="body" sz="quarter" idx="3"/>
          </p:nvPr>
        </p:nvSpPr>
        <p:spPr bwMode="auto">
          <a:xfrm>
            <a:off x="679450" y="4691063"/>
            <a:ext cx="5438775" cy="4443412"/>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53599" name="Rectangle 6">
            <a:extLst>
              <a:ext uri="{FF2B5EF4-FFF2-40B4-BE49-F238E27FC236}">
                <a16:creationId xmlns:a16="http://schemas.microsoft.com/office/drawing/2014/main" id="{1A2762FE-0EC3-FC49-9613-D0905F596171}"/>
              </a:ext>
            </a:extLst>
          </p:cNvPr>
          <p:cNvSpPr>
            <a:spLocks noGrp="1" noChangeArrowheads="1"/>
          </p:cNvSpPr>
          <p:nvPr>
            <p:ph type="ftr" sz="quarter" idx="4"/>
          </p:nvPr>
        </p:nvSpPr>
        <p:spPr bwMode="auto">
          <a:xfrm>
            <a:off x="0" y="937895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eaLnBrk="1" hangingPunct="1">
              <a:defRPr kumimoji="1" sz="1200">
                <a:latin typeface="굴림" charset="0"/>
                <a:ea typeface="굴림" charset="0"/>
                <a:cs typeface="굴림" charset="0"/>
              </a:defRPr>
            </a:lvl1pPr>
          </a:lstStyle>
          <a:p>
            <a:pPr>
              <a:defRPr/>
            </a:pPr>
            <a:endParaRPr lang="en-US" altLang="ko-KR"/>
          </a:p>
        </p:txBody>
      </p:sp>
      <p:sp>
        <p:nvSpPr>
          <p:cNvPr id="53600" name="Rectangle 7">
            <a:extLst>
              <a:ext uri="{FF2B5EF4-FFF2-40B4-BE49-F238E27FC236}">
                <a16:creationId xmlns:a16="http://schemas.microsoft.com/office/drawing/2014/main" id="{9FD215E7-6E8F-B442-8B73-41D5DD8FF313}"/>
              </a:ext>
            </a:extLst>
          </p:cNvPr>
          <p:cNvSpPr>
            <a:spLocks noGrp="1" noChangeArrowheads="1"/>
          </p:cNvSpPr>
          <p:nvPr>
            <p:ph type="sldNum" sz="quarter" idx="5"/>
          </p:nvPr>
        </p:nvSpPr>
        <p:spPr bwMode="auto">
          <a:xfrm>
            <a:off x="3849688" y="9378950"/>
            <a:ext cx="2946400" cy="493713"/>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algn="r" eaLnBrk="1" hangingPunct="1">
              <a:defRPr kumimoji="1" sz="1200">
                <a:latin typeface="굴림" panose="020B0600000101010101" pitchFamily="34" charset="-127"/>
                <a:ea typeface="굴림" panose="020B0600000101010101" pitchFamily="34" charset="-127"/>
              </a:defRPr>
            </a:lvl1pPr>
          </a:lstStyle>
          <a:p>
            <a:pPr>
              <a:defRPr/>
            </a:pPr>
            <a:fld id="{A39B9A8E-DB3C-4106-B39D-9D54242D1584}"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algun Gothic" panose="020B0503020000020004" pitchFamily="34" charset="-127"/>
        <a:ea typeface="MS PGothic" panose="020B0600070205080204"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algun Gothic" panose="020B0503020000020004" pitchFamily="34" charset="-127"/>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algun Gothic" panose="020B0503020000020004" pitchFamily="34" charset="-127"/>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algun Gothic" panose="020B0503020000020004" pitchFamily="34" charset="-127"/>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algun Gothic" panose="020B0503020000020004" pitchFamily="34" charset="-127"/>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en.wikipedia.org/wiki/Beta_distribution#Bayesian_inference"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BF4E489A-59F8-4D6E-8ED6-D830881620BC}" type="slidenum">
              <a:rPr kumimoji="1" lang="en-US" altLang="ko-KR">
                <a:latin typeface="굴림" pitchFamily="6" charset="-127"/>
                <a:ea typeface="굴림" pitchFamily="6" charset="-127"/>
              </a:rPr>
              <a:pPr>
                <a:spcBef>
                  <a:spcPct val="0"/>
                </a:spcBef>
              </a:pPr>
              <a:t>1</a:t>
            </a:fld>
            <a:endParaRPr kumimoji="1" lang="en-US" altLang="ko-KR">
              <a:latin typeface="굴림" pitchFamily="6" charset="-127"/>
              <a:ea typeface="굴림" pitchFamily="6" charset="-127"/>
            </a:endParaRPr>
          </a:p>
        </p:txBody>
      </p:sp>
      <p:sp>
        <p:nvSpPr>
          <p:cNvPr id="6147" name="Rectangle 2"/>
          <p:cNvSpPr>
            <a:spLocks noGrp="1" noRot="1" noChangeAspect="1" noChangeArrowheads="1" noTextEdit="1"/>
          </p:cNvSpPr>
          <p:nvPr>
            <p:ph type="sldImg" idx="1"/>
          </p:nvPr>
        </p:nvSpPr>
        <p:spPr>
          <a:noFill/>
          <a:ln cap="flat">
            <a:headEnd type="none" w="med" len="med"/>
            <a:tailEnd type="none" w="med" len="med"/>
          </a:ln>
        </p:spPr>
      </p:sp>
      <p:sp>
        <p:nvSpPr>
          <p:cNvPr id="55659" name="Rectangle 3">
            <a:extLst>
              <a:ext uri="{FF2B5EF4-FFF2-40B4-BE49-F238E27FC236}">
                <a16:creationId xmlns:a16="http://schemas.microsoft.com/office/drawing/2014/main" id="{8ABE4ECD-7B9D-8945-8901-21824F8B2841}"/>
              </a:ext>
            </a:extLst>
          </p:cNvPr>
          <p:cNvSpPr>
            <a:spLocks noGrp="1" noChangeArrowheads="1"/>
          </p:cNvSpPr>
          <p:nvPr>
            <p:ph type="body" idx="2"/>
          </p:nvPr>
        </p:nvSpPr>
        <p:spPr>
          <a:xfrm>
            <a:off x="906463" y="4691063"/>
            <a:ext cx="4984750" cy="444341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ko-KR" baseline="0" dirty="0">
              <a:latin typeface="굴림" panose="020B0600000101010101" pitchFamily="34" charset="-127"/>
              <a:ea typeface="굴림" panose="020B0600000101010101" pitchFamily="34" charset="-127"/>
            </a:endParaRPr>
          </a:p>
          <a:p>
            <a:pPr eaLnBrk="1" hangingPunct="1">
              <a:defRPr/>
            </a:pPr>
            <a:r>
              <a:rPr lang="en-US" altLang="ko-KR" baseline="0" dirty="0">
                <a:latin typeface="굴림" panose="020B0600000101010101" pitchFamily="34" charset="-127"/>
                <a:ea typeface="굴림" panose="020B0600000101010101" pitchFamily="34" charset="-127"/>
              </a:rPr>
              <a:t>We list the Bayesian approach here specially because of that, first this is a very important branch of machine learning and we will apply it to more complex problem in later modules, but here what we will do is just to give a introduction to its fundamental concepts. </a:t>
            </a:r>
            <a:endParaRPr lang="en-AU" altLang="ko-KR" dirty="0">
              <a:latin typeface="굴림" panose="020B0600000101010101" pitchFamily="34" charset="-127"/>
              <a:ea typeface="굴림" panose="020B0600000101010101" pitchFamily="34"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noFill/>
          <a:ln cap="flat">
            <a:headEnd type="none" w="med" len="med"/>
            <a:tailEnd type="none" w="med" len="med"/>
          </a:ln>
        </p:spPr>
      </p:sp>
      <p:sp>
        <p:nvSpPr>
          <p:cNvPr id="58745" name="Notes Placeholder 2">
            <a:extLst>
              <a:ext uri="{FF2B5EF4-FFF2-40B4-BE49-F238E27FC236}">
                <a16:creationId xmlns:a16="http://schemas.microsoft.com/office/drawing/2014/main" id="{87877CBB-0AAA-DC4D-8A92-89837FC7AE84}"/>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Anybody has any idea about what uncertainty in machine learning means?</a:t>
            </a:r>
            <a:r>
              <a:rPr lang="en-US" altLang="en-US" baseline="0" dirty="0"/>
              <a:t> </a:t>
            </a:r>
          </a:p>
          <a:p>
            <a:pPr>
              <a:defRPr/>
            </a:pPr>
            <a:r>
              <a:rPr lang="en-US" altLang="en-US" dirty="0"/>
              <a:t>What is uncertainty? We are not sure how well the function we learn from the training set can perform on the future generalization task (or data unseen)</a:t>
            </a:r>
          </a:p>
          <a:p>
            <a:pPr>
              <a:defRPr/>
            </a:pPr>
            <a:r>
              <a:rPr lang="en-US" altLang="en-US" dirty="0"/>
              <a:t>Uncertainty makes everything complicated. Because </a:t>
            </a:r>
            <a:r>
              <a:rPr lang="en-US" altLang="en-US" baseline="0" dirty="0"/>
              <a:t>If the function fit to the training set well can definitely be used for future prediction on test set, then things are much easier, right? Because of uncertainty, ML is challenging. Without uncertainty, many fundamental concepts in ML will not exist. Like the regularization. </a:t>
            </a:r>
            <a:endParaRPr lang="en-US" altLang="en-US" dirty="0"/>
          </a:p>
        </p:txBody>
      </p:sp>
      <p:sp>
        <p:nvSpPr>
          <p:cNvPr id="819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DD5BB5A9-CF20-4DFB-8CF4-F1F27D8E7D34}" type="slidenum">
              <a:rPr lang="en-US" altLang="ko-KR" sz="1600">
                <a:latin typeface="Tahoma" panose="020B0604030504040204" pitchFamily="34" charset="0"/>
                <a:ea typeface="굴림" pitchFamily="6" charset="-127"/>
              </a:rPr>
              <a:pPr>
                <a:spcBef>
                  <a:spcPct val="0"/>
                </a:spcBef>
              </a:pPr>
              <a:t>2</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noFill/>
          <a:ln cap="flat">
            <a:headEnd type="none" w="med" len="med"/>
            <a:tailEnd type="none" w="med" len="med"/>
          </a:ln>
        </p:spPr>
      </p:sp>
      <p:sp>
        <p:nvSpPr>
          <p:cNvPr id="58745" name="Notes Placeholder 2">
            <a:extLst>
              <a:ext uri="{FF2B5EF4-FFF2-40B4-BE49-F238E27FC236}">
                <a16:creationId xmlns:a16="http://schemas.microsoft.com/office/drawing/2014/main" id="{87877CBB-0AAA-DC4D-8A92-89837FC7AE84}"/>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The</a:t>
            </a:r>
            <a:r>
              <a:rPr lang="en-US" altLang="en-US" baseline="0" dirty="0"/>
              <a:t> reasons? Noise and finite size of data sets. Both of them will change the shape of the real underlying function.  Remember this experiment, for M=9, when the number of training data is only 10, the learned function fitting to the training error is like the graph in the previous slide, but if we increase the number of training data, the learned line, which is the red, getting more close to the green one. When </a:t>
            </a:r>
          </a:p>
        </p:txBody>
      </p:sp>
      <p:sp>
        <p:nvSpPr>
          <p:cNvPr id="819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DD5BB5A9-CF20-4DFB-8CF4-F1F27D8E7D34}" type="slidenum">
              <a:rPr lang="en-US" altLang="ko-KR" sz="1600">
                <a:latin typeface="Tahoma" panose="020B0604030504040204" pitchFamily="34" charset="0"/>
                <a:ea typeface="굴림" pitchFamily="6" charset="-127"/>
              </a:rPr>
              <a:pPr>
                <a:spcBef>
                  <a:spcPct val="0"/>
                </a:spcBef>
              </a:pPr>
              <a:t>3</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757940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noFill/>
          <a:ln cap="flat">
            <a:headEnd type="none" w="med" len="med"/>
            <a:tailEnd type="none" w="med" len="med"/>
          </a:ln>
        </p:spPr>
      </p:sp>
      <p:sp>
        <p:nvSpPr>
          <p:cNvPr id="59774" name="Notes Placeholder 2">
            <a:extLst>
              <a:ext uri="{FF2B5EF4-FFF2-40B4-BE49-F238E27FC236}">
                <a16:creationId xmlns:a16="http://schemas.microsoft.com/office/drawing/2014/main" id="{9076637A-C3D1-324D-B1E7-E7170B4ABA06}"/>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We</a:t>
            </a:r>
            <a:r>
              <a:rPr lang="en-US" altLang="en-US" baseline="0" dirty="0"/>
              <a:t> will introduce how to use probability theory to capture our uncertainty from two different views, one is frequentist and another one is Bayesian statistics. They capture the uncertainty in different ways. But both of them are using the knowledge from probability theory. </a:t>
            </a:r>
            <a:endParaRPr lang="en-AU" altLang="en-US" dirty="0"/>
          </a:p>
        </p:txBody>
      </p:sp>
      <p:sp>
        <p:nvSpPr>
          <p:cNvPr id="1024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24AF173C-E35A-45F4-82B0-DB0D2F05A8F4}" type="slidenum">
              <a:rPr lang="en-US" altLang="ko-KR" sz="1600">
                <a:latin typeface="Tahoma" panose="020B0604030504040204" pitchFamily="34" charset="0"/>
                <a:ea typeface="굴림" pitchFamily="6" charset="-127"/>
              </a:rPr>
              <a:pPr>
                <a:spcBef>
                  <a:spcPct val="0"/>
                </a:spcBef>
              </a:pPr>
              <a:t>4</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noFill/>
          <a:ln cap="flat">
            <a:headEnd type="none" w="med" len="med"/>
            <a:tailEnd type="none" w="med" len="med"/>
          </a:ln>
        </p:spPr>
      </p:sp>
      <p:sp>
        <p:nvSpPr>
          <p:cNvPr id="60803" name="Notes Placeholder 2">
            <a:extLst>
              <a:ext uri="{FF2B5EF4-FFF2-40B4-BE49-F238E27FC236}">
                <a16:creationId xmlns:a16="http://schemas.microsoft.com/office/drawing/2014/main" id="{042AAE1D-2993-E34D-82B1-29514979B3E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There are many fundamental concepts in probability theory. Like random variables, the probability distributions. To illustrate these fundamental concepts, I  will walk you through a coin tossing example. </a:t>
            </a:r>
          </a:p>
          <a:p>
            <a:pPr>
              <a:defRPr/>
            </a:pPr>
            <a:endParaRPr lang="en-US" altLang="en-US" dirty="0"/>
          </a:p>
          <a:p>
            <a:pPr>
              <a:defRPr/>
            </a:pPr>
            <a:r>
              <a:rPr lang="en-US" altLang="en-US" dirty="0"/>
              <a:t>Assume we are tossing a coin, the event we try to model is the outcome of tossing a coin, which is landing head or tail. We all know that one important part in probability theory is to provide mathematical abstractions of non-deterministic or uncertain process. So, let’s start with a mathematical modeling of the coin tossing event. </a:t>
            </a:r>
            <a:endParaRPr lang="en-AU" altLang="en-US" dirty="0"/>
          </a:p>
        </p:txBody>
      </p:sp>
      <p:sp>
        <p:nvSpPr>
          <p:cNvPr id="1229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0C6757D1-ACAB-49A0-BF01-9A60EDC95582}" type="slidenum">
              <a:rPr lang="en-US" altLang="ko-KR" sz="1600">
                <a:latin typeface="Tahoma" panose="020B0604030504040204" pitchFamily="34" charset="0"/>
                <a:ea typeface="굴림" pitchFamily="6" charset="-127"/>
              </a:rPr>
              <a:pPr>
                <a:spcBef>
                  <a:spcPct val="0"/>
                </a:spcBef>
              </a:pPr>
              <a:t>5</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noFill/>
          <a:ln cap="flat">
            <a:headEnd type="none" w="med" len="med"/>
            <a:tailEnd type="none" w="med" len="med"/>
          </a:ln>
        </p:spPr>
      </p:sp>
      <p:sp>
        <p:nvSpPr>
          <p:cNvPr id="60803" name="Notes Placeholder 2">
            <a:extLst>
              <a:ext uri="{FF2B5EF4-FFF2-40B4-BE49-F238E27FC236}">
                <a16:creationId xmlns:a16="http://schemas.microsoft.com/office/drawing/2014/main" id="{042AAE1D-2993-E34D-82B1-29514979B3E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There are many fundamental concepts in probability theory. Like random variables, the probability distributions. To illustrate these fundamental concepts, I  will walk you through a coin tossing example. </a:t>
            </a:r>
          </a:p>
          <a:p>
            <a:pPr>
              <a:defRPr/>
            </a:pPr>
            <a:endParaRPr lang="en-US" altLang="en-US" dirty="0"/>
          </a:p>
          <a:p>
            <a:pPr>
              <a:defRPr/>
            </a:pPr>
            <a:r>
              <a:rPr lang="en-US" altLang="en-US" dirty="0"/>
              <a:t>Assume we are tossing a coin, the event we try to model is the outcome of tossing a coin, which is landing head or tail. We all know that one important part in probability theory is to provide mathematical abstractions of non-deterministic or uncertain process. So, let’s start with a mathematical modeling of the coin tossing event. </a:t>
            </a:r>
            <a:endParaRPr lang="en-AU" altLang="en-US" dirty="0"/>
          </a:p>
        </p:txBody>
      </p:sp>
      <p:sp>
        <p:nvSpPr>
          <p:cNvPr id="1229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0C6757D1-ACAB-49A0-BF01-9A60EDC95582}" type="slidenum">
              <a:rPr lang="en-US" altLang="ko-KR" sz="1600">
                <a:latin typeface="Tahoma" panose="020B0604030504040204" pitchFamily="34" charset="0"/>
                <a:ea typeface="굴림" pitchFamily="6" charset="-127"/>
              </a:rPr>
              <a:pPr>
                <a:spcBef>
                  <a:spcPct val="0"/>
                </a:spcBef>
              </a:pPr>
              <a:t>6</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027718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noFill/>
          <a:ln cap="flat">
            <a:headEnd type="none" w="med" len="med"/>
            <a:tailEnd type="none" w="med" len="med"/>
          </a:ln>
        </p:spPr>
      </p:sp>
      <p:sp>
        <p:nvSpPr>
          <p:cNvPr id="60803" name="Notes Placeholder 2">
            <a:extLst>
              <a:ext uri="{FF2B5EF4-FFF2-40B4-BE49-F238E27FC236}">
                <a16:creationId xmlns:a16="http://schemas.microsoft.com/office/drawing/2014/main" id="{042AAE1D-2993-E34D-82B1-29514979B3E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There are many fundamental concepts in probability theory. Like random variables, the probability distributions. To illustrate these fundamental concepts, I  will walk you through a coin tossing example. </a:t>
            </a:r>
          </a:p>
          <a:p>
            <a:pPr>
              <a:defRPr/>
            </a:pPr>
            <a:endParaRPr lang="en-US" altLang="en-US" dirty="0"/>
          </a:p>
          <a:p>
            <a:pPr>
              <a:defRPr/>
            </a:pPr>
            <a:r>
              <a:rPr lang="en-US" altLang="en-US" dirty="0"/>
              <a:t>Assume we are tossing a coin, the event we try to model is the outcome of tossing a coin, which is landing head or tail. We all know that one important part in probability theory is to provide mathematical abstractions of non-deterministic or uncertain process. So, let’s start with a mathematical modeling of the coin tossing event. </a:t>
            </a:r>
            <a:endParaRPr lang="en-AU" altLang="en-US" dirty="0"/>
          </a:p>
        </p:txBody>
      </p:sp>
      <p:sp>
        <p:nvSpPr>
          <p:cNvPr id="1229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0C6757D1-ACAB-49A0-BF01-9A60EDC95582}" type="slidenum">
              <a:rPr lang="en-US" altLang="ko-KR" sz="1600">
                <a:latin typeface="Tahoma" panose="020B0604030504040204" pitchFamily="34" charset="0"/>
                <a:ea typeface="굴림" pitchFamily="6" charset="-127"/>
              </a:rPr>
              <a:pPr>
                <a:spcBef>
                  <a:spcPct val="0"/>
                </a:spcBef>
              </a:pPr>
              <a:t>7</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549361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noFill/>
          <a:ln cap="flat">
            <a:headEnd type="none" w="med" len="med"/>
            <a:tailEnd type="none" w="med" len="med"/>
          </a:ln>
        </p:spPr>
      </p:sp>
      <p:sp>
        <p:nvSpPr>
          <p:cNvPr id="61832" name="Notes Placeholder 2">
            <a:extLst>
              <a:ext uri="{FF2B5EF4-FFF2-40B4-BE49-F238E27FC236}">
                <a16:creationId xmlns:a16="http://schemas.microsoft.com/office/drawing/2014/main" id="{58C604DB-8C3C-7F4C-8A98-2046D4CA3214}"/>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AU" altLang="en-US" dirty="0"/>
              <a:t>Distinguish between probability distribution and the empirical distribution from data we observe. Probability distribution is something determined by nature of the process. For coin tossing, it is determined maybe by the materials of the coin and distribution of materials of the coin, the gesture of your hand when you toss the coin. Empirical distribution is the probability distribution given one trial. For example, you try 10 times with 3 times being head……empirical distribution is just one sample from the probability distribution. Some students might be wondering, usually, what we have is data, is empirical distribution, is it possible to approximate it with empirical distribution, here is the formal answer, in the limit that number of trials goes to infinity, you can say that  they are equal. For example, if you go toss the coin infinite times, then we can calculate…….this actually link us to one ML challenge we mentioned before, the finite dataset size……..</a:t>
            </a:r>
          </a:p>
        </p:txBody>
      </p:sp>
      <p:sp>
        <p:nvSpPr>
          <p:cNvPr id="14340"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24CFC8E-A1FD-48F5-8875-D9C29043D6DB}" type="slidenum">
              <a:rPr lang="en-US" altLang="ko-KR" sz="1600">
                <a:latin typeface="Tahoma" panose="020B0604030504040204" pitchFamily="34" charset="0"/>
                <a:ea typeface="굴림" pitchFamily="6" charset="-127"/>
              </a:rPr>
              <a:pPr>
                <a:spcBef>
                  <a:spcPct val="0"/>
                </a:spcBef>
              </a:pPr>
              <a:t>9</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056365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noFill/>
          <a:ln cap="flat">
            <a:headEnd type="none" w="med" len="med"/>
            <a:tailEnd type="none" w="med" len="med"/>
          </a:ln>
        </p:spPr>
      </p:sp>
      <p:sp>
        <p:nvSpPr>
          <p:cNvPr id="61832" name="Notes Placeholder 2">
            <a:extLst>
              <a:ext uri="{FF2B5EF4-FFF2-40B4-BE49-F238E27FC236}">
                <a16:creationId xmlns:a16="http://schemas.microsoft.com/office/drawing/2014/main" id="{58C604DB-8C3C-7F4C-8A98-2046D4CA3214}"/>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AU" altLang="en-US" dirty="0"/>
              <a:t>Distinguish between probability distribution and the empirical distribution from data we observe. Probability distribution is something determined by nature of the process. For coin tossing, it is determined maybe by the materials of the coin and distribution of materials of the coin, the gesture of your hand when you toss the coin. Empirical distribution is the probability distribution given one trial. For example, you try 10 times with 3 times being head……empirical distribution is just one sample from the probability distribution. Some students might be wondering, usually, what we have is data, is empirical distribution, is it possible to approximate it with empirical distribution, here is the formal answer, in the limit that number of trials goes to infinity, you can say that  they are equal. For example, if you go toss the coin infinite times, then we can calculate…….this actually link us to one ML challenge we mentioned before, the finite dataset size……..</a:t>
            </a:r>
          </a:p>
        </p:txBody>
      </p:sp>
      <p:sp>
        <p:nvSpPr>
          <p:cNvPr id="14340"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24CFC8E-A1FD-48F5-8875-D9C29043D6DB}" type="slidenum">
              <a:rPr lang="en-US" altLang="ko-KR" sz="1600">
                <a:latin typeface="Tahoma" panose="020B0604030504040204" pitchFamily="34" charset="0"/>
                <a:ea typeface="굴림" pitchFamily="6" charset="-127"/>
              </a:rPr>
              <a:pPr>
                <a:spcBef>
                  <a:spcPct val="0"/>
                </a:spcBef>
              </a:pPr>
              <a:t>10</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4003280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noFill/>
          <a:ln cap="flat">
            <a:headEnd type="none" w="med" len="med"/>
            <a:tailEnd type="none" w="med" len="med"/>
          </a:ln>
        </p:spPr>
      </p:sp>
      <p:sp>
        <p:nvSpPr>
          <p:cNvPr id="63890" name="Notes Placeholder 2">
            <a:extLst>
              <a:ext uri="{FF2B5EF4-FFF2-40B4-BE49-F238E27FC236}">
                <a16:creationId xmlns:a16="http://schemas.microsoft.com/office/drawing/2014/main" id="{B78CF229-C825-ED45-B871-BD7FF14CE35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kumimoji="1" lang="en-AU" altLang="en-US" dirty="0">
              <a:latin typeface="굴림" pitchFamily="6" charset="-127"/>
            </a:endParaRPr>
          </a:p>
        </p:txBody>
      </p:sp>
      <p:sp>
        <p:nvSpPr>
          <p:cNvPr id="204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5469CD6-B477-4B9F-8558-FABAE3DA195C}" type="slidenum">
              <a:rPr lang="en-US" altLang="ko-KR" sz="1600">
                <a:latin typeface="Tahoma" panose="020B0604030504040204" pitchFamily="34" charset="0"/>
                <a:ea typeface="굴림" pitchFamily="6" charset="-127"/>
              </a:rPr>
              <a:pPr>
                <a:spcBef>
                  <a:spcPct val="0"/>
                </a:spcBef>
              </a:pPr>
              <a:t>11</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381910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noFill/>
          <a:ln cap="flat">
            <a:headEnd type="none" w="med" len="med"/>
            <a:tailEnd type="none" w="med" len="med"/>
          </a:ln>
        </p:spPr>
      </p:sp>
      <p:sp>
        <p:nvSpPr>
          <p:cNvPr id="63890" name="Notes Placeholder 2">
            <a:extLst>
              <a:ext uri="{FF2B5EF4-FFF2-40B4-BE49-F238E27FC236}">
                <a16:creationId xmlns:a16="http://schemas.microsoft.com/office/drawing/2014/main" id="{B78CF229-C825-ED45-B871-BD7FF14CE35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kumimoji="1" lang="en-AU" altLang="en-US" dirty="0">
              <a:latin typeface="굴림" pitchFamily="6" charset="-127"/>
            </a:endParaRPr>
          </a:p>
        </p:txBody>
      </p:sp>
      <p:sp>
        <p:nvSpPr>
          <p:cNvPr id="204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5469CD6-B477-4B9F-8558-FABAE3DA195C}" type="slidenum">
              <a:rPr lang="en-US" altLang="ko-KR" sz="1600">
                <a:latin typeface="Tahoma" panose="020B0604030504040204" pitchFamily="34" charset="0"/>
                <a:ea typeface="굴림" pitchFamily="6" charset="-127"/>
              </a:rPr>
              <a:pPr>
                <a:spcBef>
                  <a:spcPct val="0"/>
                </a:spcBef>
              </a:pPr>
              <a:t>12</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836313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noFill/>
          <a:ln cap="flat">
            <a:headEnd type="none" w="med" len="med"/>
            <a:tailEnd type="none" w="med" len="med"/>
          </a:ln>
        </p:spPr>
      </p:sp>
      <p:sp>
        <p:nvSpPr>
          <p:cNvPr id="63890" name="Notes Placeholder 2">
            <a:extLst>
              <a:ext uri="{FF2B5EF4-FFF2-40B4-BE49-F238E27FC236}">
                <a16:creationId xmlns:a16="http://schemas.microsoft.com/office/drawing/2014/main" id="{B78CF229-C825-ED45-B871-BD7FF14CE35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kumimoji="1" lang="en-AU" altLang="en-US" dirty="0">
              <a:latin typeface="굴림" pitchFamily="6" charset="-127"/>
            </a:endParaRPr>
          </a:p>
        </p:txBody>
      </p:sp>
      <p:sp>
        <p:nvSpPr>
          <p:cNvPr id="204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5469CD6-B477-4B9F-8558-FABAE3DA195C}" type="slidenum">
              <a:rPr lang="en-US" altLang="ko-KR" sz="1600">
                <a:latin typeface="Tahoma" panose="020B0604030504040204" pitchFamily="34" charset="0"/>
                <a:ea typeface="굴림" pitchFamily="6" charset="-127"/>
              </a:rPr>
              <a:pPr>
                <a:spcBef>
                  <a:spcPct val="0"/>
                </a:spcBef>
              </a:pPr>
              <a:t>13</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499277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noFill/>
          <a:ln cap="flat">
            <a:headEnd type="none" w="med" len="med"/>
            <a:tailEnd type="none" w="med" len="med"/>
          </a:ln>
        </p:spPr>
      </p:sp>
      <p:sp>
        <p:nvSpPr>
          <p:cNvPr id="63890" name="Notes Placeholder 2">
            <a:extLst>
              <a:ext uri="{FF2B5EF4-FFF2-40B4-BE49-F238E27FC236}">
                <a16:creationId xmlns:a16="http://schemas.microsoft.com/office/drawing/2014/main" id="{B78CF229-C825-ED45-B871-BD7FF14CE35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kumimoji="1" lang="en-AU" altLang="en-US" dirty="0">
              <a:latin typeface="굴림" pitchFamily="6" charset="-127"/>
            </a:endParaRPr>
          </a:p>
        </p:txBody>
      </p:sp>
      <p:sp>
        <p:nvSpPr>
          <p:cNvPr id="204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5469CD6-B477-4B9F-8558-FABAE3DA195C}" type="slidenum">
              <a:rPr lang="en-US" altLang="ko-KR" sz="1600">
                <a:latin typeface="Tahoma" panose="020B0604030504040204" pitchFamily="34" charset="0"/>
                <a:ea typeface="굴림" pitchFamily="6" charset="-127"/>
              </a:rPr>
              <a:pPr>
                <a:spcBef>
                  <a:spcPct val="0"/>
                </a:spcBef>
              </a:pPr>
              <a:t>14</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557102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noFill/>
          <a:ln cap="flat">
            <a:headEnd type="none" w="med" len="med"/>
            <a:tailEnd type="none" w="med" len="med"/>
          </a:ln>
        </p:spPr>
      </p:sp>
      <p:sp>
        <p:nvSpPr>
          <p:cNvPr id="63890" name="Notes Placeholder 2">
            <a:extLst>
              <a:ext uri="{FF2B5EF4-FFF2-40B4-BE49-F238E27FC236}">
                <a16:creationId xmlns:a16="http://schemas.microsoft.com/office/drawing/2014/main" id="{B78CF229-C825-ED45-B871-BD7FF14CE35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kumimoji="1" lang="en-AU" altLang="en-US" dirty="0">
              <a:latin typeface="굴림" pitchFamily="6" charset="-127"/>
            </a:endParaRPr>
          </a:p>
        </p:txBody>
      </p:sp>
      <p:sp>
        <p:nvSpPr>
          <p:cNvPr id="204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5469CD6-B477-4B9F-8558-FABAE3DA195C}" type="slidenum">
              <a:rPr lang="en-US" altLang="ko-KR" sz="1600">
                <a:latin typeface="Tahoma" panose="020B0604030504040204" pitchFamily="34" charset="0"/>
                <a:ea typeface="굴림" pitchFamily="6" charset="-127"/>
              </a:rPr>
              <a:pPr>
                <a:spcBef>
                  <a:spcPct val="0"/>
                </a:spcBef>
              </a:pPr>
              <a:t>15</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66536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16</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201808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17</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2754405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18</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984099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19</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3117057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20</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246612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21</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207533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noFill/>
          <a:ln cap="flat">
            <a:headEnd type="none" w="med" len="med"/>
            <a:tailEnd type="none" w="med" len="med"/>
          </a:ln>
        </p:spPr>
      </p:sp>
      <p:sp>
        <p:nvSpPr>
          <p:cNvPr id="66977" name="Notes Placeholder 2">
            <a:extLst>
              <a:ext uri="{FF2B5EF4-FFF2-40B4-BE49-F238E27FC236}">
                <a16:creationId xmlns:a16="http://schemas.microsoft.com/office/drawing/2014/main" id="{07932197-4CD3-3343-963B-A031C3325C41}"/>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266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128EBA0-EBAA-45D2-ACAF-A7B9FB1610B9}" type="slidenum">
              <a:rPr lang="en-US" altLang="ko-KR" sz="1600">
                <a:latin typeface="Tahoma" panose="020B0604030504040204" pitchFamily="34" charset="0"/>
                <a:ea typeface="굴림" pitchFamily="6" charset="-127"/>
              </a:rPr>
              <a:pPr>
                <a:spcBef>
                  <a:spcPct val="0"/>
                </a:spcBef>
              </a:pPr>
              <a:t>22</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2699981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noFill/>
          <a:ln cap="flat">
            <a:headEnd type="none" w="med" len="med"/>
            <a:tailEnd type="none" w="med" len="med"/>
          </a:ln>
        </p:spPr>
      </p:sp>
      <p:sp>
        <p:nvSpPr>
          <p:cNvPr id="68006" name="Notes Placeholder 2">
            <a:extLst>
              <a:ext uri="{FF2B5EF4-FFF2-40B4-BE49-F238E27FC236}">
                <a16:creationId xmlns:a16="http://schemas.microsoft.com/office/drawing/2014/main" id="{496AEB8A-12B8-5A4D-8DC9-AF8CD1055223}"/>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We already</a:t>
            </a:r>
            <a:r>
              <a:rPr lang="en-US" altLang="en-US" baseline="0" dirty="0"/>
              <a:t> have a understanding of basic concepts of probability theory. Actually, probability has many other concepts or properties but the above are the ones that we are going to use in measuring the uncertainty in machine learning. To keep consistent with our previous introduction, we still use the example of tossing a coin.</a:t>
            </a:r>
            <a:endParaRPr lang="en-AU" altLang="en-US" dirty="0"/>
          </a:p>
        </p:txBody>
      </p:sp>
      <p:sp>
        <p:nvSpPr>
          <p:cNvPr id="2867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338721B5-4688-4859-B1E7-A08761478DE9}" type="slidenum">
              <a:rPr lang="en-US" altLang="ko-KR" sz="1600">
                <a:latin typeface="Tahoma" panose="020B0604030504040204" pitchFamily="34" charset="0"/>
                <a:ea typeface="굴림" pitchFamily="6" charset="-127"/>
              </a:rPr>
              <a:pPr>
                <a:spcBef>
                  <a:spcPct val="0"/>
                </a:spcBef>
              </a:pPr>
              <a:t>23</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noFill/>
          <a:ln cap="flat">
            <a:headEnd type="none" w="med" len="med"/>
            <a:tailEnd type="none" w="med" len="med"/>
          </a:ln>
        </p:spPr>
      </p:sp>
      <p:sp>
        <p:nvSpPr>
          <p:cNvPr id="69035" name="Notes Placeholder 2">
            <a:extLst>
              <a:ext uri="{FF2B5EF4-FFF2-40B4-BE49-F238E27FC236}">
                <a16:creationId xmlns:a16="http://schemas.microsoft.com/office/drawing/2014/main" id="{3E4C98D6-834D-D747-9843-68242AB9ED6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Notice the</a:t>
            </a:r>
            <a:r>
              <a:rPr lang="en-US" altLang="en-US" baseline="0" dirty="0"/>
              <a:t> coin might be damaged, so we cannot make the assumption that the head and tail would be half and half. Here we want to build a model for this coin tossing.</a:t>
            </a:r>
          </a:p>
        </p:txBody>
      </p:sp>
      <p:sp>
        <p:nvSpPr>
          <p:cNvPr id="3072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2B80F650-42CD-4A4E-9A58-5DFF72421CD6}" type="slidenum">
              <a:rPr lang="en-US" altLang="ko-KR" sz="1600">
                <a:latin typeface="Tahoma" panose="020B0604030504040204" pitchFamily="34" charset="0"/>
                <a:ea typeface="굴림" pitchFamily="6" charset="-127"/>
              </a:rPr>
              <a:pPr>
                <a:spcBef>
                  <a:spcPct val="0"/>
                </a:spcBef>
              </a:pPr>
              <a:t>24</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484420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noFill/>
          <a:ln cap="flat">
            <a:headEnd type="none" w="med" len="med"/>
            <a:tailEnd type="none" w="med" len="med"/>
          </a:ln>
        </p:spPr>
      </p:sp>
      <p:sp>
        <p:nvSpPr>
          <p:cNvPr id="69035" name="Notes Placeholder 2">
            <a:extLst>
              <a:ext uri="{FF2B5EF4-FFF2-40B4-BE49-F238E27FC236}">
                <a16:creationId xmlns:a16="http://schemas.microsoft.com/office/drawing/2014/main" id="{3E4C98D6-834D-D747-9843-68242AB9ED6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Notice the</a:t>
            </a:r>
            <a:r>
              <a:rPr lang="en-US" altLang="en-US" baseline="0" dirty="0"/>
              <a:t> coin might be damaged, so we cannot make the assumption that the head and tail would be half and half. Here we want to build a model for this coin tossing.</a:t>
            </a:r>
          </a:p>
        </p:txBody>
      </p:sp>
      <p:sp>
        <p:nvSpPr>
          <p:cNvPr id="3072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2B80F650-42CD-4A4E-9A58-5DFF72421CD6}" type="slidenum">
              <a:rPr lang="en-US" altLang="ko-KR" sz="1600">
                <a:latin typeface="Tahoma" panose="020B0604030504040204" pitchFamily="34" charset="0"/>
                <a:ea typeface="굴림" pitchFamily="6" charset="-127"/>
              </a:rPr>
              <a:pPr>
                <a:spcBef>
                  <a:spcPct val="0"/>
                </a:spcBef>
              </a:pPr>
              <a:t>25</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noFill/>
          <a:ln cap="flat">
            <a:headEnd type="none" w="med" len="med"/>
            <a:tailEnd type="none" w="med" len="med"/>
          </a:ln>
        </p:spPr>
      </p:sp>
      <p:sp>
        <p:nvSpPr>
          <p:cNvPr id="69035" name="Notes Placeholder 2">
            <a:extLst>
              <a:ext uri="{FF2B5EF4-FFF2-40B4-BE49-F238E27FC236}">
                <a16:creationId xmlns:a16="http://schemas.microsoft.com/office/drawing/2014/main" id="{3E4C98D6-834D-D747-9843-68242AB9ED6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Notice the</a:t>
            </a:r>
            <a:r>
              <a:rPr lang="en-US" altLang="en-US" baseline="0" dirty="0"/>
              <a:t> coin might be damaged, so we cannot make the assumption that the head and tail would be half and half. Here we want to build a model for this coin tossing.</a:t>
            </a:r>
          </a:p>
        </p:txBody>
      </p:sp>
      <p:sp>
        <p:nvSpPr>
          <p:cNvPr id="3072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2B80F650-42CD-4A4E-9A58-5DFF72421CD6}" type="slidenum">
              <a:rPr lang="en-US" altLang="ko-KR" sz="1600">
                <a:latin typeface="Tahoma" panose="020B0604030504040204" pitchFamily="34" charset="0"/>
                <a:ea typeface="굴림" pitchFamily="6" charset="-127"/>
              </a:rPr>
              <a:pPr>
                <a:spcBef>
                  <a:spcPct val="0"/>
                </a:spcBef>
              </a:pPr>
              <a:t>26</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29966139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noFill/>
          <a:ln cap="flat">
            <a:headEnd type="none" w="med" len="med"/>
            <a:tailEnd type="none" w="med" len="med"/>
          </a:ln>
        </p:spPr>
      </p:sp>
      <p:sp>
        <p:nvSpPr>
          <p:cNvPr id="73151" name="Notes Placeholder 2">
            <a:extLst>
              <a:ext uri="{FF2B5EF4-FFF2-40B4-BE49-F238E27FC236}">
                <a16:creationId xmlns:a16="http://schemas.microsoft.com/office/drawing/2014/main" id="{33412C44-65F5-5749-BA04-21EDADE36E3A}"/>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Any intuitions</a:t>
            </a:r>
            <a:r>
              <a:rPr lang="en-US" altLang="en-US" baseline="0" dirty="0"/>
              <a:t> about how to maximize this?</a:t>
            </a:r>
            <a:endParaRPr lang="en-AU" altLang="en-US" dirty="0"/>
          </a:p>
        </p:txBody>
      </p:sp>
      <p:sp>
        <p:nvSpPr>
          <p:cNvPr id="3891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8C7A3D57-35E1-4B9C-B626-C9E4B22A134A}" type="slidenum">
              <a:rPr lang="en-US" altLang="ko-KR" sz="1600">
                <a:latin typeface="Tahoma" panose="020B0604030504040204" pitchFamily="34" charset="0"/>
                <a:ea typeface="굴림" pitchFamily="6" charset="-127"/>
              </a:rPr>
              <a:pPr>
                <a:spcBef>
                  <a:spcPct val="0"/>
                </a:spcBef>
              </a:pPr>
              <a:t>29</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noFill/>
          <a:ln cap="flat">
            <a:headEnd type="none" w="med" len="med"/>
            <a:tailEnd type="none" w="med" len="med"/>
          </a:ln>
        </p:spPr>
      </p:sp>
      <p:sp>
        <p:nvSpPr>
          <p:cNvPr id="76238" name="Notes Placeholder 2">
            <a:extLst>
              <a:ext uri="{FF2B5EF4-FFF2-40B4-BE49-F238E27FC236}">
                <a16:creationId xmlns:a16="http://schemas.microsoft.com/office/drawing/2014/main" id="{4CBE3BA4-DA0B-E641-A468-AF65B99BCDB6}"/>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Here is the summary of the major points introduced in previous</a:t>
            </a:r>
            <a:r>
              <a:rPr lang="en-US" altLang="en-US" baseline="0" dirty="0"/>
              <a:t> slides.</a:t>
            </a:r>
          </a:p>
          <a:p>
            <a:pPr>
              <a:defRPr/>
            </a:pPr>
            <a:endParaRPr lang="en-US" altLang="en-US" baseline="0" dirty="0"/>
          </a:p>
          <a:p>
            <a:pPr>
              <a:defRPr/>
            </a:pPr>
            <a:r>
              <a:rPr lang="en-US" altLang="en-US" baseline="0" dirty="0"/>
              <a:t>Let’s assume that if we change one tail to head, the prediction of coming head will be 0.2 instead of 0.3, right? Is this possible? Totally possible, right? If you do this 10 tossing again, even with the same coin, the observed sequence can be different.  How can you represent this uncertainty about your prediction?</a:t>
            </a:r>
          </a:p>
          <a:p>
            <a:pPr>
              <a:defRPr/>
            </a:pPr>
            <a:endParaRPr lang="en-US" altLang="en-US" baseline="0" dirty="0"/>
          </a:p>
          <a:p>
            <a:pPr>
              <a:defRPr/>
            </a:pPr>
            <a:endParaRPr lang="en-AU" altLang="en-US" dirty="0"/>
          </a:p>
        </p:txBody>
      </p:sp>
      <p:sp>
        <p:nvSpPr>
          <p:cNvPr id="45060"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4EE2C054-A680-4665-B1C3-F9F13934BCA0}" type="slidenum">
              <a:rPr lang="en-US" altLang="ko-KR" sz="1600">
                <a:latin typeface="Tahoma" panose="020B0604030504040204" pitchFamily="34" charset="0"/>
                <a:ea typeface="굴림" pitchFamily="6" charset="-127"/>
              </a:rPr>
              <a:pPr>
                <a:spcBef>
                  <a:spcPct val="0"/>
                </a:spcBef>
              </a:pPr>
              <a:t>33</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noFill/>
          <a:ln cap="flat">
            <a:headEnd type="none" w="med" len="med"/>
            <a:tailEnd type="none" w="med" len="med"/>
          </a:ln>
        </p:spPr>
      </p:sp>
      <p:sp>
        <p:nvSpPr>
          <p:cNvPr id="81383" name="Notes Placeholder 2">
            <a:extLst>
              <a:ext uri="{FF2B5EF4-FFF2-40B4-BE49-F238E27FC236}">
                <a16:creationId xmlns:a16="http://schemas.microsoft.com/office/drawing/2014/main" id="{EF28E07D-2F66-7041-858B-2C6DE94F0A86}"/>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The</a:t>
            </a:r>
            <a:r>
              <a:rPr lang="en-US" altLang="en-US" baseline="0" dirty="0"/>
              <a:t> solution is </a:t>
            </a:r>
            <a:r>
              <a:rPr lang="en-US" altLang="en-US" baseline="0" dirty="0" err="1"/>
              <a:t>bootstapping</a:t>
            </a:r>
            <a:r>
              <a:rPr lang="en-US" altLang="en-US" baseline="0" dirty="0"/>
              <a:t>. </a:t>
            </a:r>
            <a:endParaRPr lang="en-AU" altLang="en-US" dirty="0"/>
          </a:p>
        </p:txBody>
      </p:sp>
      <p:sp>
        <p:nvSpPr>
          <p:cNvPr id="55300"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4A3B1357-BCC7-4043-9C95-7C0BD9C9E1D8}" type="slidenum">
              <a:rPr lang="en-US" altLang="ko-KR" sz="1600">
                <a:latin typeface="Tahoma" panose="020B0604030504040204" pitchFamily="34" charset="0"/>
                <a:ea typeface="굴림" pitchFamily="6" charset="-127"/>
              </a:rPr>
              <a:pPr>
                <a:spcBef>
                  <a:spcPct val="0"/>
                </a:spcBef>
              </a:pPr>
              <a:t>34</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noFill/>
          <a:ln cap="flat">
            <a:headEnd type="none" w="med" len="med"/>
            <a:tailEnd type="none" w="med" len="med"/>
          </a:ln>
        </p:spPr>
      </p:sp>
      <p:sp>
        <p:nvSpPr>
          <p:cNvPr id="82412" name="Notes Placeholder 2">
            <a:extLst>
              <a:ext uri="{FF2B5EF4-FFF2-40B4-BE49-F238E27FC236}">
                <a16:creationId xmlns:a16="http://schemas.microsoft.com/office/drawing/2014/main" id="{5A527701-6F33-7A45-B58C-D403D170E497}"/>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lvl="1">
              <a:defRPr/>
            </a:pPr>
            <a:endParaRPr lang="en-US" altLang="ko-KR" dirty="0"/>
          </a:p>
          <a:p>
            <a:pPr>
              <a:defRPr/>
            </a:pPr>
            <a:r>
              <a:rPr lang="en-US" altLang="ko-KR" dirty="0"/>
              <a:t>We wonder our estimated parameter would change if we have an alternate dataset </a:t>
            </a:r>
            <a:r>
              <a:rPr lang="en-US" altLang="ko-KR" dirty="0">
                <a:solidFill>
                  <a:srgbClr val="0070C0"/>
                </a:solidFill>
                <a:latin typeface="Cambria Math" panose="02040503050406030204" pitchFamily="18" charset="0"/>
              </a:rPr>
              <a:t>𝐷′</a:t>
            </a:r>
            <a:endParaRPr lang="en-US" altLang="ko-KR" dirty="0"/>
          </a:p>
          <a:p>
            <a:pPr>
              <a:defRPr/>
            </a:pPr>
            <a:endParaRPr lang="en-US" altLang="ko-KR" dirty="0"/>
          </a:p>
          <a:p>
            <a:pPr>
              <a:defRPr/>
            </a:pPr>
            <a:r>
              <a:rPr lang="en-US" altLang="ko-KR" dirty="0"/>
              <a:t>If we do this exercise for several alternate datasets, then we will have a </a:t>
            </a:r>
            <a:r>
              <a:rPr lang="en-US" altLang="ko-KR" i="1" dirty="0"/>
              <a:t>distribution</a:t>
            </a:r>
            <a:r>
              <a:rPr lang="en-US" altLang="ko-KR" dirty="0"/>
              <a:t> over estimates for </a:t>
            </a:r>
            <a:r>
              <a:rPr lang="is-IS" altLang="ko-KR" b="1" dirty="0">
                <a:solidFill>
                  <a:srgbClr val="0070C0"/>
                </a:solidFill>
                <a:latin typeface="Cambria Math" panose="02040503050406030204" pitchFamily="18" charset="0"/>
              </a:rPr>
              <a:t>𝒘</a:t>
            </a:r>
            <a:r>
              <a:rPr lang="is-IS" altLang="ko-KR" dirty="0">
                <a:solidFill>
                  <a:srgbClr val="0070C0"/>
                </a:solidFill>
                <a:latin typeface="Cambria Math" panose="02040503050406030204" pitchFamily="18" charset="0"/>
              </a:rPr>
              <a:t> </a:t>
            </a:r>
            <a:r>
              <a:rPr lang="en-US" altLang="ko-KR" dirty="0"/>
              <a:t>. </a:t>
            </a:r>
          </a:p>
          <a:p>
            <a:pPr>
              <a:defRPr/>
            </a:pPr>
            <a:endParaRPr lang="en-US" altLang="ko-KR" dirty="0"/>
          </a:p>
          <a:p>
            <a:pPr>
              <a:defRPr/>
            </a:pPr>
            <a:r>
              <a:rPr lang="en-US" altLang="ko-KR" dirty="0"/>
              <a:t>The higher the variance of this distribution, the more uncertainty we have about our parameter estimates. </a:t>
            </a:r>
          </a:p>
          <a:p>
            <a:pPr>
              <a:defRPr/>
            </a:pPr>
            <a:endParaRPr lang="en-US" altLang="ko-KR" dirty="0"/>
          </a:p>
          <a:p>
            <a:pPr>
              <a:defRPr/>
            </a:pPr>
            <a:endParaRPr lang="en-US" altLang="ko-KR"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solidFill>
                  <a:srgbClr val="C00000"/>
                </a:solidFill>
              </a:rPr>
              <a:t>Now, the problem is how to get the alternate datasets? We know that we are given only one</a:t>
            </a:r>
            <a:r>
              <a:rPr lang="en-US" baseline="0" dirty="0">
                <a:solidFill>
                  <a:srgbClr val="C00000"/>
                </a:solidFill>
              </a:rPr>
              <a:t> initial dataset, and in most cases, we are not allowed to request more datasets. Any ideas? How to get more datasets.</a:t>
            </a:r>
            <a:endParaRPr lang="en-AU" dirty="0">
              <a:solidFill>
                <a:srgbClr val="C00000"/>
              </a:solidFill>
            </a:endParaRPr>
          </a:p>
          <a:p>
            <a:pPr>
              <a:defRPr/>
            </a:pPr>
            <a:endParaRPr lang="en-AU" altLang="ko-KR" dirty="0"/>
          </a:p>
        </p:txBody>
      </p:sp>
      <p:sp>
        <p:nvSpPr>
          <p:cNvPr id="5734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E3D664AF-6072-4CCA-997F-9E46B8E8D881}" type="slidenum">
              <a:rPr lang="en-US" altLang="ko-KR" sz="1600">
                <a:latin typeface="Tahoma" panose="020B0604030504040204" pitchFamily="34" charset="0"/>
                <a:ea typeface="굴림" pitchFamily="6" charset="-127"/>
              </a:rPr>
              <a:pPr>
                <a:spcBef>
                  <a:spcPct val="0"/>
                </a:spcBef>
              </a:pPr>
              <a:t>35</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1400711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noFill/>
          <a:ln cap="flat">
            <a:headEnd type="none" w="med" len="med"/>
            <a:tailEnd type="none" w="med" len="med"/>
          </a:ln>
        </p:spPr>
      </p:sp>
      <p:sp>
        <p:nvSpPr>
          <p:cNvPr id="82412" name="Notes Placeholder 2">
            <a:extLst>
              <a:ext uri="{FF2B5EF4-FFF2-40B4-BE49-F238E27FC236}">
                <a16:creationId xmlns:a16="http://schemas.microsoft.com/office/drawing/2014/main" id="{5A527701-6F33-7A45-B58C-D403D170E497}"/>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lvl="1">
              <a:defRPr/>
            </a:pPr>
            <a:endParaRPr lang="en-US" altLang="ko-KR" dirty="0"/>
          </a:p>
          <a:p>
            <a:pPr>
              <a:defRPr/>
            </a:pPr>
            <a:r>
              <a:rPr lang="en-US" altLang="ko-KR" dirty="0"/>
              <a:t>We wonder our estimated parameter would change if we have an alternate dataset </a:t>
            </a:r>
            <a:r>
              <a:rPr lang="en-US" altLang="ko-KR" dirty="0">
                <a:solidFill>
                  <a:srgbClr val="0070C0"/>
                </a:solidFill>
                <a:latin typeface="Cambria Math" panose="02040503050406030204" pitchFamily="18" charset="0"/>
              </a:rPr>
              <a:t>𝐷′</a:t>
            </a:r>
            <a:endParaRPr lang="en-US" altLang="ko-KR" dirty="0"/>
          </a:p>
          <a:p>
            <a:pPr>
              <a:defRPr/>
            </a:pPr>
            <a:endParaRPr lang="en-US" altLang="ko-KR" dirty="0"/>
          </a:p>
          <a:p>
            <a:pPr>
              <a:defRPr/>
            </a:pPr>
            <a:r>
              <a:rPr lang="en-US" altLang="ko-KR" dirty="0"/>
              <a:t>If we do this exercise for several alternate datasets, then we will have a </a:t>
            </a:r>
            <a:r>
              <a:rPr lang="en-US" altLang="ko-KR" i="1" dirty="0"/>
              <a:t>distribution</a:t>
            </a:r>
            <a:r>
              <a:rPr lang="en-US" altLang="ko-KR" dirty="0"/>
              <a:t> over estimates for </a:t>
            </a:r>
            <a:r>
              <a:rPr lang="is-IS" altLang="ko-KR" b="1" dirty="0">
                <a:solidFill>
                  <a:srgbClr val="0070C0"/>
                </a:solidFill>
                <a:latin typeface="Cambria Math" panose="02040503050406030204" pitchFamily="18" charset="0"/>
              </a:rPr>
              <a:t>𝒘</a:t>
            </a:r>
            <a:r>
              <a:rPr lang="is-IS" altLang="ko-KR" dirty="0">
                <a:solidFill>
                  <a:srgbClr val="0070C0"/>
                </a:solidFill>
                <a:latin typeface="Cambria Math" panose="02040503050406030204" pitchFamily="18" charset="0"/>
              </a:rPr>
              <a:t> </a:t>
            </a:r>
            <a:r>
              <a:rPr lang="en-US" altLang="ko-KR" dirty="0"/>
              <a:t>. </a:t>
            </a:r>
          </a:p>
          <a:p>
            <a:pPr>
              <a:defRPr/>
            </a:pPr>
            <a:endParaRPr lang="en-US" altLang="ko-KR" dirty="0"/>
          </a:p>
          <a:p>
            <a:pPr>
              <a:defRPr/>
            </a:pPr>
            <a:r>
              <a:rPr lang="en-US" altLang="ko-KR" dirty="0"/>
              <a:t>The higher the variance of this distribution, the more uncertainty we have about our parameter estimates. </a:t>
            </a:r>
          </a:p>
          <a:p>
            <a:pPr>
              <a:defRPr/>
            </a:pPr>
            <a:endParaRPr lang="en-US" altLang="ko-KR" dirty="0"/>
          </a:p>
          <a:p>
            <a:pPr>
              <a:defRPr/>
            </a:pPr>
            <a:endParaRPr lang="en-US" altLang="ko-KR"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solidFill>
                  <a:srgbClr val="C00000"/>
                </a:solidFill>
              </a:rPr>
              <a:t>Now, the problem is how to get the alternate datasets? We know that we are given only one</a:t>
            </a:r>
            <a:r>
              <a:rPr lang="en-US" baseline="0" dirty="0">
                <a:solidFill>
                  <a:srgbClr val="C00000"/>
                </a:solidFill>
              </a:rPr>
              <a:t> initial dataset, and in most cases, we are not allowed to request more datasets. Any ideas? How to get more datasets.</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en-US" baseline="0" dirty="0">
              <a:solidFill>
                <a:srgbClr val="C00000"/>
              </a:solidFill>
            </a:endParaRPr>
          </a:p>
          <a:p>
            <a:pPr marL="0" marR="0" lvl="0" indent="0" algn="l" defTabSz="457200" rtl="0" eaLnBrk="0" fontAlgn="base" latinLnBrk="0" hangingPunct="0">
              <a:lnSpc>
                <a:spcPct val="100000"/>
              </a:lnSpc>
              <a:spcBef>
                <a:spcPct val="30000"/>
              </a:spcBef>
              <a:spcAft>
                <a:spcPct val="0"/>
              </a:spcAft>
              <a:buClrTx/>
              <a:buSzTx/>
              <a:buFontTx/>
              <a:buNone/>
              <a:tabLst/>
              <a:defRPr/>
            </a:pPr>
            <a:r>
              <a:rPr lang="en-US" baseline="0" dirty="0">
                <a:solidFill>
                  <a:srgbClr val="C00000"/>
                </a:solidFill>
              </a:rPr>
              <a:t>Bootstrap: proposed by statisticians, has been proven theoretically. I will not go through the theoretical details of Bootstrap here, because we are computer science guy, right? What you need to know is that it has been widely used in machine learning as a scheme quantifying the uncertainty. </a:t>
            </a:r>
            <a:endParaRPr lang="en-AU" dirty="0">
              <a:solidFill>
                <a:srgbClr val="C00000"/>
              </a:solidFill>
            </a:endParaRPr>
          </a:p>
          <a:p>
            <a:pPr>
              <a:defRPr/>
            </a:pPr>
            <a:endParaRPr lang="en-AU" altLang="ko-KR" dirty="0"/>
          </a:p>
        </p:txBody>
      </p:sp>
      <p:sp>
        <p:nvSpPr>
          <p:cNvPr id="5734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E3D664AF-6072-4CCA-997F-9E46B8E8D881}" type="slidenum">
              <a:rPr lang="en-US" altLang="ko-KR" sz="1600">
                <a:latin typeface="Tahoma" panose="020B0604030504040204" pitchFamily="34" charset="0"/>
                <a:ea typeface="굴림" pitchFamily="6" charset="-127"/>
              </a:rPr>
              <a:pPr>
                <a:spcBef>
                  <a:spcPct val="0"/>
                </a:spcBef>
              </a:pPr>
              <a:t>37</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2214292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p:nvPr>
        </p:nvSpPr>
        <p:spPr>
          <a:noFill/>
          <a:ln cap="flat">
            <a:headEnd type="none" w="med" len="med"/>
            <a:tailEnd type="none" w="med" len="med"/>
          </a:ln>
        </p:spPr>
      </p:sp>
      <p:sp>
        <p:nvSpPr>
          <p:cNvPr id="83441" name="Notes Placeholder 2">
            <a:extLst>
              <a:ext uri="{FF2B5EF4-FFF2-40B4-BE49-F238E27FC236}">
                <a16:creationId xmlns:a16="http://schemas.microsoft.com/office/drawing/2014/main" id="{E52D3DFB-0089-374B-A0EB-5866764B3A57}"/>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is-IS" altLang="en-US" sz="2400">
              <a:latin typeface="Tahoma" panose="020B0604030504040204" pitchFamily="34" charset="0"/>
            </a:endParaRPr>
          </a:p>
        </p:txBody>
      </p:sp>
      <p:sp>
        <p:nvSpPr>
          <p:cNvPr id="5939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7BC0517D-44EF-4D5A-9211-D470374A00BD}" type="slidenum">
              <a:rPr lang="en-US" altLang="ko-KR" sz="1600">
                <a:latin typeface="Tahoma" panose="020B0604030504040204" pitchFamily="34" charset="0"/>
                <a:ea typeface="굴림" pitchFamily="6" charset="-127"/>
              </a:rPr>
              <a:pPr>
                <a:spcBef>
                  <a:spcPct val="0"/>
                </a:spcBef>
              </a:pPr>
              <a:t>38</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noFill/>
          <a:ln cap="flat">
            <a:headEnd type="none" w="med" len="med"/>
            <a:tailEnd type="none" w="med" len="med"/>
          </a:ln>
        </p:spPr>
      </p:sp>
      <p:sp>
        <p:nvSpPr>
          <p:cNvPr id="82412" name="Notes Placeholder 2">
            <a:extLst>
              <a:ext uri="{FF2B5EF4-FFF2-40B4-BE49-F238E27FC236}">
                <a16:creationId xmlns:a16="http://schemas.microsoft.com/office/drawing/2014/main" id="{5A527701-6F33-7A45-B58C-D403D170E497}"/>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ko-KR" dirty="0"/>
          </a:p>
        </p:txBody>
      </p:sp>
      <p:sp>
        <p:nvSpPr>
          <p:cNvPr id="5734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E3D664AF-6072-4CCA-997F-9E46B8E8D881}" type="slidenum">
              <a:rPr lang="en-US" altLang="ko-KR" sz="1600">
                <a:latin typeface="Tahoma" panose="020B0604030504040204" pitchFamily="34" charset="0"/>
                <a:ea typeface="굴림" pitchFamily="6" charset="-127"/>
              </a:rPr>
              <a:pPr>
                <a:spcBef>
                  <a:spcPct val="0"/>
                </a:spcBef>
              </a:pPr>
              <a:t>39</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37158746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a:noFill/>
          <a:ln cap="flat">
            <a:headEnd type="none" w="med" len="med"/>
            <a:tailEnd type="none" w="med" len="med"/>
          </a:ln>
        </p:spPr>
      </p:sp>
      <p:sp>
        <p:nvSpPr>
          <p:cNvPr id="84470" name="Notes Placeholder 2">
            <a:extLst>
              <a:ext uri="{FF2B5EF4-FFF2-40B4-BE49-F238E27FC236}">
                <a16:creationId xmlns:a16="http://schemas.microsoft.com/office/drawing/2014/main" id="{4D9534FB-57B1-B84A-B09F-CAE3E9612A33}"/>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dirty="0"/>
          </a:p>
        </p:txBody>
      </p:sp>
      <p:sp>
        <p:nvSpPr>
          <p:cNvPr id="6144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BFD01DAB-6FA2-4740-AFB4-AD25DC0CB7FB}" type="slidenum">
              <a:rPr lang="en-US" altLang="ko-KR" sz="1600">
                <a:latin typeface="Tahoma" panose="020B0604030504040204" pitchFamily="34" charset="0"/>
                <a:ea typeface="굴림" pitchFamily="6" charset="-127"/>
              </a:rPr>
              <a:pPr>
                <a:spcBef>
                  <a:spcPct val="0"/>
                </a:spcBef>
              </a:pPr>
              <a:t>40</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noFill/>
          <a:ln cap="flat">
            <a:headEnd type="none" w="med" len="med"/>
            <a:tailEnd type="none" w="med" len="med"/>
          </a:ln>
        </p:spPr>
      </p:sp>
      <p:sp>
        <p:nvSpPr>
          <p:cNvPr id="85499" name="Notes Placeholder 2">
            <a:extLst>
              <a:ext uri="{FF2B5EF4-FFF2-40B4-BE49-F238E27FC236}">
                <a16:creationId xmlns:a16="http://schemas.microsoft.com/office/drawing/2014/main" id="{3AD9E78D-9E68-AB4D-95E2-F1C859013CA8}"/>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For thi</a:t>
            </a:r>
            <a:r>
              <a:rPr lang="en-US" altLang="en-US" baseline="0" dirty="0"/>
              <a:t>s example, even with the bootstrap strategy, the resampled datasets would still contain the tail only. No head. Based on the previous method, our estimation of becoming head would be 0 for sure. </a:t>
            </a:r>
          </a:p>
          <a:p>
            <a:pPr>
              <a:defRPr/>
            </a:pPr>
            <a:endParaRPr lang="en-US" altLang="en-US" baseline="0" dirty="0"/>
          </a:p>
          <a:p>
            <a:pPr>
              <a:defRPr/>
            </a:pPr>
            <a:r>
              <a:rPr lang="en-US" altLang="en-US" baseline="0" dirty="0"/>
              <a:t>But we are humans and we know from our experience that most coins should be about 50-50. So if this coin is fair, so any idea about the problem of this data set? Why we get a such wrong answer? Yes, the size of the datasets. Our prior experience is like encoding the knowledge of distributions in infinity, as you know we human know most coins are fair and if they are fair, if you toss it for infinite times, you have a large probability to have a 50% getting a head. </a:t>
            </a:r>
          </a:p>
          <a:p>
            <a:pPr>
              <a:defRPr/>
            </a:pPr>
            <a:endParaRPr lang="en-US" altLang="en-US" baseline="0" dirty="0"/>
          </a:p>
          <a:p>
            <a:pPr>
              <a:defRPr/>
            </a:pPr>
            <a:r>
              <a:rPr lang="en-US" altLang="en-US" baseline="0" dirty="0"/>
              <a:t>So one important characteristic of Bayesian approach is with it, you can encode this prior experience or knowledge about the parameter into the model.  About how, I will introduce in details in the later slides. </a:t>
            </a:r>
            <a:endParaRPr lang="en-AU" altLang="en-US" dirty="0"/>
          </a:p>
        </p:txBody>
      </p:sp>
      <p:sp>
        <p:nvSpPr>
          <p:cNvPr id="6349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11B4E7FD-3391-404A-9A5A-2701BB1A735B}" type="slidenum">
              <a:rPr lang="en-US" altLang="ko-KR" sz="1600">
                <a:latin typeface="Tahoma" panose="020B0604030504040204" pitchFamily="34" charset="0"/>
                <a:ea typeface="굴림" pitchFamily="6" charset="-127"/>
              </a:rPr>
              <a:pPr>
                <a:spcBef>
                  <a:spcPct val="0"/>
                </a:spcBef>
              </a:pPr>
              <a:t>41</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ChangeArrowheads="1" noTextEdit="1"/>
          </p:cNvSpPr>
          <p:nvPr>
            <p:ph type="sldImg"/>
          </p:nvPr>
        </p:nvSpPr>
        <p:spPr>
          <a:noFill/>
          <a:ln cap="flat">
            <a:headEnd type="none" w="med" len="med"/>
            <a:tailEnd type="none" w="med" len="med"/>
          </a:ln>
        </p:spPr>
      </p:sp>
      <p:sp>
        <p:nvSpPr>
          <p:cNvPr id="94760" name="Notes Placeholder 2">
            <a:extLst>
              <a:ext uri="{FF2B5EF4-FFF2-40B4-BE49-F238E27FC236}">
                <a16:creationId xmlns:a16="http://schemas.microsoft.com/office/drawing/2014/main" id="{E66D7E9B-FF35-F14F-B1A2-E4C6A30EB0DC}"/>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is-IS" altLang="en-US">
              <a:latin typeface="Tahoma" panose="020B0604030504040204" pitchFamily="34" charset="0"/>
            </a:endParaRPr>
          </a:p>
        </p:txBody>
      </p:sp>
      <p:sp>
        <p:nvSpPr>
          <p:cNvPr id="8192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BE850646-BAD0-46CF-9051-C572EC377B3E}" type="slidenum">
              <a:rPr lang="en-US" altLang="ko-KR" sz="1600">
                <a:latin typeface="Tahoma" panose="020B0604030504040204" pitchFamily="34" charset="0"/>
                <a:ea typeface="굴림" pitchFamily="6" charset="-127"/>
              </a:rPr>
              <a:pPr>
                <a:spcBef>
                  <a:spcPct val="0"/>
                </a:spcBef>
              </a:pPr>
              <a:t>42</a:t>
            </a:fld>
            <a:endParaRPr lang="en-US" altLang="ko-KR" sz="1600">
              <a:latin typeface="Tahoma" panose="020B0604030504040204" pitchFamily="34" charset="0"/>
              <a:ea typeface="굴림" pitchFamily="6" charset="-127"/>
            </a:endParaRPr>
          </a:p>
        </p:txBody>
      </p:sp>
    </p:spTree>
    <p:extLst>
      <p:ext uri="{BB962C8B-B14F-4D97-AF65-F5344CB8AC3E}">
        <p14:creationId xmlns:p14="http://schemas.microsoft.com/office/powerpoint/2010/main" val="2675401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ChangeArrowheads="1" noTextEdit="1"/>
          </p:cNvSpPr>
          <p:nvPr>
            <p:ph type="sldImg"/>
          </p:nvPr>
        </p:nvSpPr>
        <p:spPr>
          <a:noFill/>
          <a:ln cap="flat">
            <a:headEnd type="none" w="med" len="med"/>
            <a:tailEnd type="none" w="med" len="med"/>
          </a:ln>
        </p:spPr>
      </p:sp>
      <p:sp>
        <p:nvSpPr>
          <p:cNvPr id="88586" name="Notes Placeholder 2">
            <a:extLst>
              <a:ext uri="{FF2B5EF4-FFF2-40B4-BE49-F238E27FC236}">
                <a16:creationId xmlns:a16="http://schemas.microsoft.com/office/drawing/2014/main" id="{A705EFE9-F0CE-6045-9F72-BF5273402FC8}"/>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dirty="0"/>
              <a:t>Conjugate</a:t>
            </a:r>
            <a:r>
              <a:rPr lang="zh-CN" altLang="en-US" dirty="0"/>
              <a:t> </a:t>
            </a:r>
            <a:r>
              <a:rPr lang="en-AU" altLang="zh-CN"/>
              <a:t>prior</a:t>
            </a:r>
            <a:endParaRPr lang="en-AU" altLang="en-US" dirty="0"/>
          </a:p>
        </p:txBody>
      </p:sp>
      <p:sp>
        <p:nvSpPr>
          <p:cNvPr id="6963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A09B9A10-70C9-484E-BED3-380044682C76}" type="slidenum">
              <a:rPr lang="en-US" altLang="ko-KR" sz="1600">
                <a:latin typeface="Tahoma" panose="020B0604030504040204" pitchFamily="34" charset="0"/>
                <a:ea typeface="굴림" pitchFamily="6" charset="-127"/>
              </a:rPr>
              <a:pPr>
                <a:spcBef>
                  <a:spcPct val="0"/>
                </a:spcBef>
              </a:pPr>
              <a:t>43</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ChangeArrowheads="1" noTextEdit="1"/>
          </p:cNvSpPr>
          <p:nvPr>
            <p:ph type="sldImg"/>
          </p:nvPr>
        </p:nvSpPr>
        <p:spPr>
          <a:noFill/>
          <a:ln cap="flat">
            <a:headEnd type="none" w="med" len="med"/>
            <a:tailEnd type="none" w="med" len="med"/>
          </a:ln>
        </p:spPr>
      </p:sp>
      <p:sp>
        <p:nvSpPr>
          <p:cNvPr id="89615" name="Notes Placeholder 2">
            <a:extLst>
              <a:ext uri="{FF2B5EF4-FFF2-40B4-BE49-F238E27FC236}">
                <a16:creationId xmlns:a16="http://schemas.microsoft.com/office/drawing/2014/main" id="{BC7A727A-6E74-404C-B360-B551963DDC7F}"/>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ko-KR" dirty="0"/>
          </a:p>
          <a:p>
            <a:pPr>
              <a:defRPr/>
            </a:pPr>
            <a:r>
              <a:rPr lang="en-AU" altLang="ko-KR" dirty="0"/>
              <a:t>In other words: </a:t>
            </a:r>
            <a:r>
              <a:rPr kumimoji="1" lang="en-AU" altLang="ko-KR" dirty="0">
                <a:latin typeface="굴림" pitchFamily="6" charset="-127"/>
                <a:hlinkClick r:id="rId3"/>
              </a:rPr>
              <a:t>Beta distribution</a:t>
            </a:r>
            <a:r>
              <a:rPr kumimoji="1" lang="en-AU" altLang="ko-KR" dirty="0">
                <a:latin typeface="굴림" pitchFamily="6" charset="-127"/>
              </a:rPr>
              <a:t> with parameters a and b, which basically pretends that we</a:t>
            </a:r>
            <a:r>
              <a:rPr kumimoji="1" lang="en-AU" altLang="en-US" dirty="0">
                <a:latin typeface="굴림" pitchFamily="6" charset="-127"/>
              </a:rPr>
              <a:t>’</a:t>
            </a:r>
            <a:r>
              <a:rPr kumimoji="1" lang="en-AU" altLang="ko-KR" dirty="0">
                <a:latin typeface="굴림" pitchFamily="6" charset="-127"/>
              </a:rPr>
              <a:t>ve previously seen a-1 heads and b-1 tails, respectively, before we perform coin tossing.</a:t>
            </a:r>
          </a:p>
          <a:p>
            <a:pPr>
              <a:defRPr/>
            </a:pPr>
            <a:endParaRPr kumimoji="1" lang="en-AU" altLang="ko-KR" dirty="0">
              <a:latin typeface="굴림" pitchFamily="6" charset="-127"/>
            </a:endParaRPr>
          </a:p>
          <a:p>
            <a:pPr>
              <a:defRPr/>
            </a:pPr>
            <a:r>
              <a:rPr kumimoji="1" lang="en-AU" altLang="ko-KR" dirty="0">
                <a:latin typeface="굴림" pitchFamily="6" charset="-127"/>
              </a:rPr>
              <a:t>C</a:t>
            </a:r>
          </a:p>
          <a:p>
            <a:pPr>
              <a:defRPr/>
            </a:pPr>
            <a:r>
              <a:rPr kumimoji="1" lang="en-AU" altLang="ko-KR" dirty="0">
                <a:latin typeface="굴림" pitchFamily="6" charset="-127"/>
              </a:rPr>
              <a:t>Looking at different beta dist. If we set a =1, b=1, we see uniform dist. Which means I don</a:t>
            </a:r>
            <a:r>
              <a:rPr kumimoji="1" lang="en-AU" altLang="en-US" dirty="0">
                <a:latin typeface="굴림" pitchFamily="6" charset="-127"/>
              </a:rPr>
              <a:t>’</a:t>
            </a:r>
            <a:r>
              <a:rPr kumimoji="1" lang="en-AU" altLang="ko-KR" dirty="0">
                <a:latin typeface="굴림" pitchFamily="6" charset="-127"/>
              </a:rPr>
              <a:t>t know anything about parameter or this coin.</a:t>
            </a:r>
          </a:p>
          <a:p>
            <a:pPr>
              <a:defRPr/>
            </a:pPr>
            <a:endParaRPr kumimoji="1" lang="en-AU" altLang="ko-KR" dirty="0">
              <a:latin typeface="굴림" pitchFamily="6" charset="-127"/>
            </a:endParaRPr>
          </a:p>
          <a:p>
            <a:pPr>
              <a:defRPr/>
            </a:pPr>
            <a:r>
              <a:rPr lang="is-IS" altLang="ko-KR" dirty="0">
                <a:latin typeface="Tahoma" panose="020B0604030504040204" pitchFamily="34" charset="0"/>
              </a:rPr>
              <a:t>Prior knowledge is represented as probabilty distribution over parameter w......which means we can now estimate the </a:t>
            </a:r>
            <a:r>
              <a:rPr lang="is-IS" altLang="ko-KR" b="1" dirty="0">
                <a:latin typeface="Tahoma" panose="020B0604030504040204" pitchFamily="34" charset="0"/>
              </a:rPr>
              <a:t>uncertainty</a:t>
            </a:r>
            <a:r>
              <a:rPr lang="is-IS" altLang="ko-KR" dirty="0">
                <a:latin typeface="Tahoma" panose="020B0604030504040204" pitchFamily="34" charset="0"/>
              </a:rPr>
              <a:t> of the parameter using  </a:t>
            </a:r>
            <a:r>
              <a:rPr lang="is-IS" altLang="ko-KR" b="1" dirty="0">
                <a:latin typeface="Tahoma" panose="020B0604030504040204" pitchFamily="34" charset="0"/>
              </a:rPr>
              <a:t>probabilty distribution</a:t>
            </a:r>
            <a:r>
              <a:rPr lang="is-IS" altLang="ko-KR" dirty="0">
                <a:latin typeface="Tahoma" panose="020B0604030504040204" pitchFamily="34" charset="0"/>
              </a:rPr>
              <a:t> over </a:t>
            </a:r>
            <a:r>
              <a:rPr lang="en-US" altLang="ko-KR" b="1" dirty="0">
                <a:solidFill>
                  <a:srgbClr val="FF0000"/>
                </a:solidFill>
                <a:latin typeface="Cambria Math" panose="02040503050406030204" pitchFamily="18" charset="0"/>
              </a:rPr>
              <a:t>𝒘</a:t>
            </a:r>
            <a:r>
              <a:rPr lang="is-IS" altLang="ko-KR" dirty="0">
                <a:latin typeface="Tahoma" panose="020B0604030504040204" pitchFamily="34" charset="0"/>
              </a:rPr>
              <a:t> </a:t>
            </a:r>
            <a:endParaRPr kumimoji="1" lang="en-AU" altLang="ko-KR" dirty="0">
              <a:latin typeface="굴림" pitchFamily="6" charset="-127"/>
            </a:endParaRPr>
          </a:p>
          <a:p>
            <a:pPr>
              <a:defRPr/>
            </a:pPr>
            <a:endParaRPr kumimoji="1" lang="en-AU" altLang="ko-KR" dirty="0">
              <a:latin typeface="굴림" pitchFamily="6" charset="-127"/>
            </a:endParaRPr>
          </a:p>
          <a:p>
            <a:pPr>
              <a:defRPr/>
            </a:pPr>
            <a:r>
              <a:rPr kumimoji="1" lang="en-AU" altLang="ko-KR" dirty="0">
                <a:latin typeface="굴림" pitchFamily="6" charset="-127"/>
              </a:rPr>
              <a:t>&lt;end&gt;</a:t>
            </a:r>
          </a:p>
          <a:p>
            <a:pPr>
              <a:defRPr/>
            </a:pPr>
            <a:r>
              <a:rPr kumimoji="1" lang="en-AU" altLang="ko-KR" dirty="0">
                <a:latin typeface="굴림" pitchFamily="6" charset="-127"/>
              </a:rPr>
              <a:t>So effectively, now we have more data from which to perform estimate for parameter w.</a:t>
            </a:r>
          </a:p>
          <a:p>
            <a:pPr>
              <a:defRPr/>
            </a:pPr>
            <a:r>
              <a:rPr kumimoji="1" lang="en-AU" altLang="ko-KR" dirty="0">
                <a:latin typeface="굴림" pitchFamily="6" charset="-127"/>
              </a:rPr>
              <a:t>Once we</a:t>
            </a:r>
            <a:r>
              <a:rPr kumimoji="1" lang="en-AU" altLang="en-US" dirty="0">
                <a:latin typeface="굴림" pitchFamily="6" charset="-127"/>
              </a:rPr>
              <a:t>’</a:t>
            </a:r>
            <a:r>
              <a:rPr kumimoji="1" lang="en-AU" altLang="ko-KR" dirty="0">
                <a:latin typeface="굴림" pitchFamily="6" charset="-127"/>
              </a:rPr>
              <a:t>ve specified this prior belief, we can now come up with an estimate for our model</a:t>
            </a:r>
            <a:r>
              <a:rPr kumimoji="1" lang="en-AU" altLang="en-US" dirty="0">
                <a:latin typeface="굴림" pitchFamily="6" charset="-127"/>
              </a:rPr>
              <a:t>’</a:t>
            </a:r>
            <a:r>
              <a:rPr kumimoji="1" lang="en-AU" altLang="ko-KR" dirty="0">
                <a:latin typeface="굴림" pitchFamily="6" charset="-127"/>
              </a:rPr>
              <a:t>s parameter given both our prior belief and the newly observed data.</a:t>
            </a:r>
            <a:endParaRPr lang="en-AU" altLang="ko-KR" dirty="0"/>
          </a:p>
        </p:txBody>
      </p:sp>
      <p:sp>
        <p:nvSpPr>
          <p:cNvPr id="71684"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1470E697-7A69-41C7-AF89-C944C3192451}" type="slidenum">
              <a:rPr lang="en-US" altLang="ko-KR" sz="1600">
                <a:latin typeface="Tahoma" panose="020B0604030504040204" pitchFamily="34" charset="0"/>
                <a:ea typeface="굴림" pitchFamily="6" charset="-127"/>
              </a:rPr>
              <a:pPr>
                <a:spcBef>
                  <a:spcPct val="0"/>
                </a:spcBef>
              </a:pPr>
              <a:t>44</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ChangeArrowheads="1" noTextEdit="1"/>
          </p:cNvSpPr>
          <p:nvPr>
            <p:ph type="sldImg"/>
          </p:nvPr>
        </p:nvSpPr>
        <p:spPr>
          <a:noFill/>
          <a:ln cap="flat">
            <a:headEnd type="none" w="med" len="med"/>
            <a:tailEnd type="none" w="med" len="med"/>
          </a:ln>
        </p:spPr>
      </p:sp>
      <p:sp>
        <p:nvSpPr>
          <p:cNvPr id="91673" name="Notes Placeholder 2">
            <a:extLst>
              <a:ext uri="{FF2B5EF4-FFF2-40B4-BE49-F238E27FC236}">
                <a16:creationId xmlns:a16="http://schemas.microsoft.com/office/drawing/2014/main" id="{393C15F1-0341-E642-951C-4E321BFB3060}"/>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75780"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9D208ED-0DDC-41C2-A313-0438515DF06E}" type="slidenum">
              <a:rPr lang="en-US" altLang="ko-KR" sz="1600">
                <a:latin typeface="Tahoma" panose="020B0604030504040204" pitchFamily="34" charset="0"/>
                <a:ea typeface="굴림" pitchFamily="6" charset="-127"/>
              </a:rPr>
              <a:pPr>
                <a:spcBef>
                  <a:spcPct val="0"/>
                </a:spcBef>
              </a:pPr>
              <a:t>45</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ChangeArrowheads="1" noTextEdit="1"/>
          </p:cNvSpPr>
          <p:nvPr>
            <p:ph type="sldImg"/>
          </p:nvPr>
        </p:nvSpPr>
        <p:spPr>
          <a:noFill/>
          <a:ln cap="flat">
            <a:headEnd type="none" w="med" len="med"/>
            <a:tailEnd type="none" w="med" len="med"/>
          </a:ln>
        </p:spPr>
      </p:sp>
      <p:sp>
        <p:nvSpPr>
          <p:cNvPr id="92702" name="Notes Placeholder 2">
            <a:extLst>
              <a:ext uri="{FF2B5EF4-FFF2-40B4-BE49-F238E27FC236}">
                <a16:creationId xmlns:a16="http://schemas.microsoft.com/office/drawing/2014/main" id="{CDC7CE04-CF29-D74F-8765-81FEDE3456BB}"/>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77828"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119CFA39-BFC8-43C5-A57F-4ECF9BFF55A2}" type="slidenum">
              <a:rPr lang="en-US" altLang="ko-KR" sz="1600">
                <a:latin typeface="Tahoma" panose="020B0604030504040204" pitchFamily="34" charset="0"/>
                <a:ea typeface="굴림" pitchFamily="6" charset="-127"/>
              </a:rPr>
              <a:pPr>
                <a:spcBef>
                  <a:spcPct val="0"/>
                </a:spcBef>
              </a:pPr>
              <a:t>46</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ChangeArrowheads="1" noTextEdit="1"/>
          </p:cNvSpPr>
          <p:nvPr>
            <p:ph type="sldImg"/>
          </p:nvPr>
        </p:nvSpPr>
        <p:spPr>
          <a:noFill/>
          <a:ln cap="flat">
            <a:headEnd type="none" w="med" len="med"/>
            <a:tailEnd type="none" w="med" len="med"/>
          </a:ln>
        </p:spPr>
      </p:sp>
      <p:sp>
        <p:nvSpPr>
          <p:cNvPr id="95789" name="Notes Placeholder 2">
            <a:extLst>
              <a:ext uri="{FF2B5EF4-FFF2-40B4-BE49-F238E27FC236}">
                <a16:creationId xmlns:a16="http://schemas.microsoft.com/office/drawing/2014/main" id="{DAF45CD8-88F2-9340-977C-C7E46BD374F5}"/>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8397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A98EC7CF-986F-4E10-808B-5C6047B7E7B9}" type="slidenum">
              <a:rPr lang="en-US" altLang="ko-KR" sz="1600">
                <a:latin typeface="Tahoma" panose="020B0604030504040204" pitchFamily="34" charset="0"/>
                <a:ea typeface="굴림" pitchFamily="6" charset="-127"/>
              </a:rPr>
              <a:pPr>
                <a:spcBef>
                  <a:spcPct val="0"/>
                </a:spcBef>
              </a:pPr>
              <a:t>47</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ChangeArrowheads="1" noTextEdit="1"/>
          </p:cNvSpPr>
          <p:nvPr>
            <p:ph type="sldImg"/>
          </p:nvPr>
        </p:nvSpPr>
        <p:spPr>
          <a:noFill/>
          <a:ln cap="flat">
            <a:headEnd type="none" w="med" len="med"/>
            <a:tailEnd type="none" w="med" len="med"/>
          </a:ln>
        </p:spPr>
      </p:sp>
      <p:sp>
        <p:nvSpPr>
          <p:cNvPr id="98876" name="Notes Placeholder 2">
            <a:extLst>
              <a:ext uri="{FF2B5EF4-FFF2-40B4-BE49-F238E27FC236}">
                <a16:creationId xmlns:a16="http://schemas.microsoft.com/office/drawing/2014/main" id="{866B5F14-DEAD-1E4A-B29C-84B9671918B9}"/>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90116"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F70AA52E-01A1-4C8E-8C92-70DEB240EE64}" type="slidenum">
              <a:rPr lang="en-US" altLang="ko-KR" sz="1600">
                <a:latin typeface="Tahoma" panose="020B0604030504040204" pitchFamily="34" charset="0"/>
                <a:ea typeface="굴림" pitchFamily="6" charset="-127"/>
              </a:rPr>
              <a:pPr>
                <a:spcBef>
                  <a:spcPct val="0"/>
                </a:spcBef>
              </a:pPr>
              <a:t>49</a:t>
            </a:fld>
            <a:endParaRPr lang="en-US" altLang="ko-KR" sz="1600">
              <a:latin typeface="Tahoma" panose="020B0604030504040204" pitchFamily="34" charset="0"/>
              <a:ea typeface="굴림" pitchFamily="6" charset="-127"/>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ChangeArrowheads="1" noTextEdit="1"/>
          </p:cNvSpPr>
          <p:nvPr>
            <p:ph type="sldImg"/>
          </p:nvPr>
        </p:nvSpPr>
        <p:spPr>
          <a:noFill/>
          <a:ln cap="flat">
            <a:headEnd type="none" w="med" len="med"/>
            <a:tailEnd type="none" w="med" len="med"/>
          </a:ln>
        </p:spPr>
      </p:sp>
      <p:sp>
        <p:nvSpPr>
          <p:cNvPr id="101963" name="Notes Placeholder 2">
            <a:extLst>
              <a:ext uri="{FF2B5EF4-FFF2-40B4-BE49-F238E27FC236}">
                <a16:creationId xmlns:a16="http://schemas.microsoft.com/office/drawing/2014/main" id="{799D7D8B-27AF-E644-9218-164D4142D965}"/>
              </a:ext>
            </a:extLst>
          </p:cNvPr>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AU" altLang="en-US"/>
          </a:p>
        </p:txBody>
      </p:sp>
      <p:sp>
        <p:nvSpPr>
          <p:cNvPr id="99332" name="Slide Number Placeholder 3"/>
          <p:cNvSpPr>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1pPr>
            <a:lvl2pPr marL="742950" indent="-28575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2pPr>
            <a:lvl3pPr marL="11430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3pPr>
            <a:lvl4pPr marL="16002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4pPr>
            <a:lvl5pPr marL="2057400" indent="-228600">
              <a:spcBef>
                <a:spcPct val="30000"/>
              </a:spcBef>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Malgun Gothic" panose="020B0503020000020004" pitchFamily="34" charset="-127"/>
                <a:ea typeface="MS PGothic" panose="020B0600070205080204" pitchFamily="34" charset="-128"/>
                <a:cs typeface="Arial" panose="020B0604020202020204" pitchFamily="34" charset="0"/>
              </a:defRPr>
            </a:lvl9pPr>
          </a:lstStyle>
          <a:p>
            <a:pPr>
              <a:spcBef>
                <a:spcPct val="0"/>
              </a:spcBef>
            </a:pPr>
            <a:fld id="{67D5B44E-9BA8-48DB-A534-9D2166F86701}" type="slidenum">
              <a:rPr lang="en-US" altLang="ko-KR" sz="1600">
                <a:latin typeface="Tahoma" panose="020B0604030504040204" pitchFamily="34" charset="0"/>
                <a:ea typeface="굴림" pitchFamily="6" charset="-127"/>
              </a:rPr>
              <a:pPr>
                <a:spcBef>
                  <a:spcPct val="0"/>
                </a:spcBef>
              </a:pPr>
              <a:t>53</a:t>
            </a:fld>
            <a:endParaRPr lang="en-US" altLang="ko-KR" sz="1600">
              <a:latin typeface="Tahoma" panose="020B0604030504040204" pitchFamily="34" charset="0"/>
              <a:ea typeface="굴림" pitchFamily="6"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FFFFFF"/>
        </a:solidFill>
        <a:effectLst/>
      </p:bgPr>
    </p:bg>
    <p:spTree>
      <p:nvGrpSpPr>
        <p:cNvPr id="1" name=""/>
        <p:cNvGrpSpPr/>
        <p:nvPr/>
      </p:nvGrpSpPr>
      <p:grpSpPr>
        <a:xfrm>
          <a:off x="0" y="0"/>
          <a:ext cx="0" cy="0"/>
          <a:chOff x="0" y="0"/>
          <a:chExt cx="0" cy="0"/>
        </a:xfrm>
      </p:grpSpPr>
      <p:grpSp>
        <p:nvGrpSpPr>
          <p:cNvPr id="4" name="Group 5"/>
          <p:cNvGrpSpPr>
            <a:grpSpLocks/>
          </p:cNvGrpSpPr>
          <p:nvPr/>
        </p:nvGrpSpPr>
        <p:grpSpPr bwMode="auto">
          <a:xfrm>
            <a:off x="0" y="2636838"/>
            <a:ext cx="8515350" cy="3744912"/>
            <a:chOff x="0" y="768"/>
            <a:chExt cx="5528" cy="3312"/>
          </a:xfrm>
        </p:grpSpPr>
        <p:sp>
          <p:nvSpPr>
            <p:cNvPr id="5" name="Rectangle 4"/>
            <p:cNvSpPr>
              <a:spLocks noChangeArrowheads="1"/>
            </p:cNvSpPr>
            <p:nvPr/>
          </p:nvSpPr>
          <p:spPr bwMode="auto">
            <a:xfrm>
              <a:off x="0" y="768"/>
              <a:ext cx="5528" cy="2832"/>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굴림" pitchFamily="6" charset="-127"/>
                </a:defRPr>
              </a:lvl1pPr>
              <a:lvl2pPr marL="742950" indent="-285750">
                <a:defRPr sz="1600">
                  <a:solidFill>
                    <a:schemeClr val="tx1"/>
                  </a:solidFill>
                  <a:latin typeface="Tahoma" panose="020B0604030504040204" pitchFamily="34" charset="0"/>
                  <a:ea typeface="굴림" pitchFamily="6" charset="-127"/>
                </a:defRPr>
              </a:lvl2pPr>
              <a:lvl3pPr marL="1143000" indent="-228600">
                <a:defRPr sz="1600">
                  <a:solidFill>
                    <a:schemeClr val="tx1"/>
                  </a:solidFill>
                  <a:latin typeface="Tahoma" panose="020B0604030504040204" pitchFamily="34" charset="0"/>
                  <a:ea typeface="굴림" pitchFamily="6" charset="-127"/>
                </a:defRPr>
              </a:lvl3pPr>
              <a:lvl4pPr marL="1600200" indent="-228600">
                <a:defRPr sz="1600">
                  <a:solidFill>
                    <a:schemeClr val="tx1"/>
                  </a:solidFill>
                  <a:latin typeface="Tahoma" panose="020B0604030504040204" pitchFamily="34" charset="0"/>
                  <a:ea typeface="굴림" pitchFamily="6" charset="-127"/>
                </a:defRPr>
              </a:lvl4pPr>
              <a:lvl5pPr marL="2057400" indent="-228600">
                <a:defRPr sz="1600">
                  <a:solidFill>
                    <a:schemeClr val="tx1"/>
                  </a:solidFill>
                  <a:latin typeface="Tahoma" panose="020B0604030504040204" pitchFamily="34" charset="0"/>
                  <a:ea typeface="굴림" pitchFamily="6" charset="-127"/>
                </a:defRPr>
              </a:lvl5pPr>
              <a:lvl6pPr marL="25146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6pPr>
              <a:lvl7pPr marL="29718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7pPr>
              <a:lvl8pPr marL="34290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8pPr>
              <a:lvl9pPr marL="38862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9pPr>
            </a:lstStyle>
            <a:p>
              <a:pPr eaLnBrk="1" hangingPunct="1">
                <a:defRPr/>
              </a:pPr>
              <a:endParaRPr lang="ko-KR" altLang="en-US"/>
            </a:p>
          </p:txBody>
        </p:sp>
        <p:sp>
          <p:nvSpPr>
            <p:cNvPr id="6" name="AutoShape 5"/>
            <p:cNvSpPr>
              <a:spLocks noChangeArrowheads="1"/>
            </p:cNvSpPr>
            <p:nvPr/>
          </p:nvSpPr>
          <p:spPr bwMode="auto">
            <a:xfrm>
              <a:off x="1976" y="2832"/>
              <a:ext cx="3552" cy="1248"/>
            </a:xfrm>
            <a:prstGeom prst="roundRect">
              <a:avLst>
                <a:gd name="adj" fmla="val 16667"/>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1600">
                  <a:solidFill>
                    <a:schemeClr val="tx1"/>
                  </a:solidFill>
                  <a:latin typeface="Tahoma" panose="020B0604030504040204" pitchFamily="34" charset="0"/>
                  <a:ea typeface="굴림" pitchFamily="6" charset="-127"/>
                </a:defRPr>
              </a:lvl1pPr>
              <a:lvl2pPr marL="742950" indent="-285750">
                <a:defRPr sz="1600">
                  <a:solidFill>
                    <a:schemeClr val="tx1"/>
                  </a:solidFill>
                  <a:latin typeface="Tahoma" panose="020B0604030504040204" pitchFamily="34" charset="0"/>
                  <a:ea typeface="굴림" pitchFamily="6" charset="-127"/>
                </a:defRPr>
              </a:lvl2pPr>
              <a:lvl3pPr marL="1143000" indent="-228600">
                <a:defRPr sz="1600">
                  <a:solidFill>
                    <a:schemeClr val="tx1"/>
                  </a:solidFill>
                  <a:latin typeface="Tahoma" panose="020B0604030504040204" pitchFamily="34" charset="0"/>
                  <a:ea typeface="굴림" pitchFamily="6" charset="-127"/>
                </a:defRPr>
              </a:lvl3pPr>
              <a:lvl4pPr marL="1600200" indent="-228600">
                <a:defRPr sz="1600">
                  <a:solidFill>
                    <a:schemeClr val="tx1"/>
                  </a:solidFill>
                  <a:latin typeface="Tahoma" panose="020B0604030504040204" pitchFamily="34" charset="0"/>
                  <a:ea typeface="굴림" pitchFamily="6" charset="-127"/>
                </a:defRPr>
              </a:lvl4pPr>
              <a:lvl5pPr marL="2057400" indent="-228600">
                <a:defRPr sz="1600">
                  <a:solidFill>
                    <a:schemeClr val="tx1"/>
                  </a:solidFill>
                  <a:latin typeface="Tahoma" panose="020B0604030504040204" pitchFamily="34" charset="0"/>
                  <a:ea typeface="굴림" pitchFamily="6" charset="-127"/>
                </a:defRPr>
              </a:lvl5pPr>
              <a:lvl6pPr marL="25146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6pPr>
              <a:lvl7pPr marL="29718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7pPr>
              <a:lvl8pPr marL="34290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8pPr>
              <a:lvl9pPr marL="38862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9pPr>
            </a:lstStyle>
            <a:p>
              <a:pPr eaLnBrk="1" hangingPunct="1">
                <a:defRPr/>
              </a:pPr>
              <a:endParaRPr lang="ko-KR" altLang="en-US"/>
            </a:p>
          </p:txBody>
        </p:sp>
        <p:sp>
          <p:nvSpPr>
            <p:cNvPr id="7" name="Rectangle 6"/>
            <p:cNvSpPr>
              <a:spLocks noChangeArrowheads="1"/>
            </p:cNvSpPr>
            <p:nvPr/>
          </p:nvSpPr>
          <p:spPr bwMode="auto">
            <a:xfrm>
              <a:off x="0" y="1584"/>
              <a:ext cx="2456" cy="2496"/>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굴림" pitchFamily="6" charset="-127"/>
                </a:defRPr>
              </a:lvl1pPr>
              <a:lvl2pPr marL="742950" indent="-285750">
                <a:defRPr sz="1600">
                  <a:solidFill>
                    <a:schemeClr val="tx1"/>
                  </a:solidFill>
                  <a:latin typeface="Tahoma" panose="020B0604030504040204" pitchFamily="34" charset="0"/>
                  <a:ea typeface="굴림" pitchFamily="6" charset="-127"/>
                </a:defRPr>
              </a:lvl2pPr>
              <a:lvl3pPr marL="1143000" indent="-228600">
                <a:defRPr sz="1600">
                  <a:solidFill>
                    <a:schemeClr val="tx1"/>
                  </a:solidFill>
                  <a:latin typeface="Tahoma" panose="020B0604030504040204" pitchFamily="34" charset="0"/>
                  <a:ea typeface="굴림" pitchFamily="6" charset="-127"/>
                </a:defRPr>
              </a:lvl3pPr>
              <a:lvl4pPr marL="1600200" indent="-228600">
                <a:defRPr sz="1600">
                  <a:solidFill>
                    <a:schemeClr val="tx1"/>
                  </a:solidFill>
                  <a:latin typeface="Tahoma" panose="020B0604030504040204" pitchFamily="34" charset="0"/>
                  <a:ea typeface="굴림" pitchFamily="6" charset="-127"/>
                </a:defRPr>
              </a:lvl4pPr>
              <a:lvl5pPr marL="2057400" indent="-228600">
                <a:defRPr sz="1600">
                  <a:solidFill>
                    <a:schemeClr val="tx1"/>
                  </a:solidFill>
                  <a:latin typeface="Tahoma" panose="020B0604030504040204" pitchFamily="34" charset="0"/>
                  <a:ea typeface="굴림" pitchFamily="6" charset="-127"/>
                </a:defRPr>
              </a:lvl5pPr>
              <a:lvl6pPr marL="25146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6pPr>
              <a:lvl7pPr marL="29718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7pPr>
              <a:lvl8pPr marL="34290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8pPr>
              <a:lvl9pPr marL="38862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9pPr>
            </a:lstStyle>
            <a:p>
              <a:pPr eaLnBrk="1" hangingPunct="1">
                <a:defRPr/>
              </a:pPr>
              <a:endParaRPr lang="ko-KR" altLang="en-US"/>
            </a:p>
          </p:txBody>
        </p:sp>
      </p:grpSp>
      <p:sp>
        <p:nvSpPr>
          <p:cNvPr id="8" name="Line 9"/>
          <p:cNvSpPr>
            <a:spLocks noChangeShapeType="1"/>
          </p:cNvSpPr>
          <p:nvPr/>
        </p:nvSpPr>
        <p:spPr bwMode="auto">
          <a:xfrm>
            <a:off x="0" y="2454275"/>
            <a:ext cx="8515350" cy="0"/>
          </a:xfrm>
          <a:prstGeom prst="line">
            <a:avLst/>
          </a:prstGeom>
          <a:noFill/>
          <a:ln w="101600">
            <a:solidFill>
              <a:srgbClr val="653579"/>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pic>
        <p:nvPicPr>
          <p:cNvPr id="9" name="Picture 10" descr="Mon_InfoTech_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5086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3" name="Rectangle 2"/>
          <p:cNvSpPr>
            <a:spLocks noGrp="1" noChangeArrowheads="1"/>
          </p:cNvSpPr>
          <p:nvPr>
            <p:ph type="ctrTitle"/>
          </p:nvPr>
        </p:nvSpPr>
        <p:spPr>
          <a:xfrm>
            <a:off x="228600" y="1490663"/>
            <a:ext cx="7772400" cy="754062"/>
          </a:xfrm>
        </p:spPr>
        <p:txBody>
          <a:bodyPr anchor="t"/>
          <a:lstStyle>
            <a:lvl1pPr marL="0" indent="0">
              <a:defRPr sz="1600"/>
            </a:lvl1pPr>
          </a:lstStyle>
          <a:p>
            <a:pPr lvl="0"/>
            <a:r>
              <a:rPr lang="en-AU" altLang="ko-KR" noProof="0"/>
              <a:t>Click to edit Master title style</a:t>
            </a:r>
          </a:p>
        </p:txBody>
      </p:sp>
      <p:sp>
        <p:nvSpPr>
          <p:cNvPr id="2064" name="Rectangle 8"/>
          <p:cNvSpPr>
            <a:spLocks noGrp="1" noChangeArrowheads="1"/>
          </p:cNvSpPr>
          <p:nvPr>
            <p:ph type="subTitle" idx="1"/>
          </p:nvPr>
        </p:nvSpPr>
        <p:spPr>
          <a:xfrm>
            <a:off x="279400" y="2982913"/>
            <a:ext cx="7848600" cy="2544762"/>
          </a:xfrm>
        </p:spPr>
        <p:txBody>
          <a:bodyPr anchor="b"/>
          <a:lstStyle>
            <a:lvl1pPr marL="0" indent="0">
              <a:buFontTx/>
              <a:buNone/>
              <a:defRPr sz="4500"/>
            </a:lvl1pPr>
          </a:lstStyle>
          <a:p>
            <a:pPr lvl="0"/>
            <a:r>
              <a:rPr lang="en-AU" altLang="ko-KR" noProof="0"/>
              <a:t>Click to edit Master </a:t>
            </a:r>
            <a:br>
              <a:rPr lang="en-AU" altLang="ko-KR" noProof="0"/>
            </a:br>
            <a:r>
              <a:rPr lang="en-AU" altLang="ko-KR" noProof="0"/>
              <a:t>subtitle style</a:t>
            </a:r>
          </a:p>
        </p:txBody>
      </p:sp>
    </p:spTree>
    <p:extLst>
      <p:ext uri="{BB962C8B-B14F-4D97-AF65-F5344CB8AC3E}">
        <p14:creationId xmlns:p14="http://schemas.microsoft.com/office/powerpoint/2010/main" val="3300493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396326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Tree>
    <p:extLst>
      <p:ext uri="{BB962C8B-B14F-4D97-AF65-F5344CB8AC3E}">
        <p14:creationId xmlns:p14="http://schemas.microsoft.com/office/powerpoint/2010/main" val="2929396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228600" y="15240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419600" y="15240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8611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36416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Tree>
    <p:extLst>
      <p:ext uri="{BB962C8B-B14F-4D97-AF65-F5344CB8AC3E}">
        <p14:creationId xmlns:p14="http://schemas.microsoft.com/office/powerpoint/2010/main" val="204591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998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Tree>
    <p:extLst>
      <p:ext uri="{BB962C8B-B14F-4D97-AF65-F5344CB8AC3E}">
        <p14:creationId xmlns:p14="http://schemas.microsoft.com/office/powerpoint/2010/main" val="4089401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Tree>
    <p:extLst>
      <p:ext uri="{BB962C8B-B14F-4D97-AF65-F5344CB8AC3E}">
        <p14:creationId xmlns:p14="http://schemas.microsoft.com/office/powerpoint/2010/main" val="314719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0391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152400"/>
            <a:ext cx="2076450" cy="5867400"/>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228600" y="152400"/>
            <a:ext cx="6076950" cy="5867400"/>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71995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3048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AU" altLang="ko-KR"/>
              <a:t>Click to edit Master title style</a:t>
            </a:r>
          </a:p>
        </p:txBody>
      </p:sp>
      <p:sp>
        <p:nvSpPr>
          <p:cNvPr id="1027" name="Rectangle 7"/>
          <p:cNvSpPr>
            <a:spLocks noGrp="1" noChangeArrowheads="1"/>
          </p:cNvSpPr>
          <p:nvPr>
            <p:ph type="body" idx="1"/>
          </p:nvPr>
        </p:nvSpPr>
        <p:spPr bwMode="auto">
          <a:xfrm>
            <a:off x="228600" y="15240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ko-KR"/>
              <a:t>Click to edit Master text styles</a:t>
            </a:r>
          </a:p>
          <a:p>
            <a:pPr lvl="1"/>
            <a:r>
              <a:rPr lang="en-AU" altLang="ko-KR"/>
              <a:t>Second level</a:t>
            </a:r>
          </a:p>
          <a:p>
            <a:pPr lvl="2"/>
            <a:r>
              <a:rPr lang="en-AU" altLang="ko-KR"/>
              <a:t>Third level</a:t>
            </a:r>
          </a:p>
          <a:p>
            <a:pPr lvl="3"/>
            <a:r>
              <a:rPr lang="en-AU" altLang="ko-KR"/>
              <a:t>Fourth level</a:t>
            </a:r>
          </a:p>
        </p:txBody>
      </p:sp>
      <p:sp>
        <p:nvSpPr>
          <p:cNvPr id="1028" name="Line 9"/>
          <p:cNvSpPr>
            <a:spLocks noChangeShapeType="1"/>
          </p:cNvSpPr>
          <p:nvPr/>
        </p:nvSpPr>
        <p:spPr bwMode="auto">
          <a:xfrm>
            <a:off x="0" y="1323975"/>
            <a:ext cx="8515350" cy="0"/>
          </a:xfrm>
          <a:prstGeom prst="line">
            <a:avLst/>
          </a:prstGeom>
          <a:noFill/>
          <a:ln w="101600">
            <a:solidFill>
              <a:srgbClr val="653579"/>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sp>
        <p:nvSpPr>
          <p:cNvPr id="1030" name="Rectangle 11">
            <a:extLst>
              <a:ext uri="{FF2B5EF4-FFF2-40B4-BE49-F238E27FC236}">
                <a16:creationId xmlns:a16="http://schemas.microsoft.com/office/drawing/2014/main" id="{528B3455-D378-0849-A46C-7506869A8436}"/>
              </a:ext>
            </a:extLst>
          </p:cNvPr>
          <p:cNvSpPr>
            <a:spLocks noGrp="1" noChangeArrowheads="1"/>
          </p:cNvSpPr>
          <p:nvPr/>
        </p:nvSpPr>
        <p:spPr bwMode="auto">
          <a:xfrm>
            <a:off x="7086600" y="6477000"/>
            <a:ext cx="1905000" cy="228600"/>
          </a:xfrm>
          <a:prstGeom prst="rect">
            <a:avLst/>
          </a:prstGeom>
          <a:noFill/>
          <a:ln>
            <a:noFill/>
          </a:ln>
          <a:effectLst/>
          <a:extLst>
            <a:ext uri="{909E8E84-426E-40dd-AFC4-6F175D3DCCD1}"/>
            <a:ext uri="{91240B29-F687-4f45-9708-019B960494DF}"/>
            <a:ext uri="{AF507438-7753-43e0-B8FC-AC1667EBCBE1}"/>
          </a:extLst>
        </p:spPr>
        <p:txBody>
          <a:bodyPr/>
          <a:lstStyle>
            <a:lvl1pPr eaLnBrk="0" hangingPunct="0">
              <a:defRPr sz="1600">
                <a:solidFill>
                  <a:schemeClr val="tx1"/>
                </a:solidFill>
                <a:latin typeface="Tahoma" panose="020B0604030504040204" pitchFamily="34" charset="0"/>
                <a:ea typeface="굴림" panose="020B0600000101010101" pitchFamily="34" charset="-127"/>
              </a:defRPr>
            </a:lvl1pPr>
            <a:lvl2pPr marL="742950" indent="-285750" eaLnBrk="0" hangingPunct="0">
              <a:defRPr sz="1600">
                <a:solidFill>
                  <a:schemeClr val="tx1"/>
                </a:solidFill>
                <a:latin typeface="Tahoma" panose="020B0604030504040204" pitchFamily="34" charset="0"/>
                <a:ea typeface="굴림" panose="020B0600000101010101" pitchFamily="34" charset="-127"/>
              </a:defRPr>
            </a:lvl2pPr>
            <a:lvl3pPr marL="1143000" indent="-228600" eaLnBrk="0" hangingPunct="0">
              <a:defRPr sz="1600">
                <a:solidFill>
                  <a:schemeClr val="tx1"/>
                </a:solidFill>
                <a:latin typeface="Tahoma" panose="020B0604030504040204" pitchFamily="34" charset="0"/>
                <a:ea typeface="굴림" panose="020B0600000101010101" pitchFamily="34" charset="-127"/>
              </a:defRPr>
            </a:lvl3pPr>
            <a:lvl4pPr marL="1600200" indent="-228600" eaLnBrk="0" hangingPunct="0">
              <a:defRPr sz="1600">
                <a:solidFill>
                  <a:schemeClr val="tx1"/>
                </a:solidFill>
                <a:latin typeface="Tahoma" panose="020B0604030504040204" pitchFamily="34" charset="0"/>
                <a:ea typeface="굴림" panose="020B0600000101010101" pitchFamily="34" charset="-127"/>
              </a:defRPr>
            </a:lvl4pPr>
            <a:lvl5pPr marL="2057400" indent="-228600" eaLnBrk="0" hangingPunct="0">
              <a:defRPr sz="1600">
                <a:solidFill>
                  <a:schemeClr val="tx1"/>
                </a:solidFill>
                <a:latin typeface="Tahoma" panose="020B0604030504040204" pitchFamily="34" charset="0"/>
                <a:ea typeface="굴림" panose="020B0600000101010101" pitchFamily="34" charset="-127"/>
              </a:defRPr>
            </a:lvl5pPr>
            <a:lvl6pPr marL="2514600" indent="-228600" eaLnBrk="0" fontAlgn="base" hangingPunct="0">
              <a:spcBef>
                <a:spcPct val="0"/>
              </a:spcBef>
              <a:spcAft>
                <a:spcPct val="0"/>
              </a:spcAft>
              <a:defRPr sz="1600">
                <a:solidFill>
                  <a:schemeClr val="tx1"/>
                </a:solidFill>
                <a:latin typeface="Tahoma" panose="020B0604030504040204" pitchFamily="34" charset="0"/>
                <a:ea typeface="굴림" panose="020B0600000101010101" pitchFamily="34" charset="-127"/>
              </a:defRPr>
            </a:lvl6pPr>
            <a:lvl7pPr marL="2971800" indent="-228600" eaLnBrk="0" fontAlgn="base" hangingPunct="0">
              <a:spcBef>
                <a:spcPct val="0"/>
              </a:spcBef>
              <a:spcAft>
                <a:spcPct val="0"/>
              </a:spcAft>
              <a:defRPr sz="1600">
                <a:solidFill>
                  <a:schemeClr val="tx1"/>
                </a:solidFill>
                <a:latin typeface="Tahoma" panose="020B0604030504040204" pitchFamily="34" charset="0"/>
                <a:ea typeface="굴림" panose="020B0600000101010101" pitchFamily="34" charset="-127"/>
              </a:defRPr>
            </a:lvl7pPr>
            <a:lvl8pPr marL="3429000" indent="-228600" eaLnBrk="0" fontAlgn="base" hangingPunct="0">
              <a:spcBef>
                <a:spcPct val="0"/>
              </a:spcBef>
              <a:spcAft>
                <a:spcPct val="0"/>
              </a:spcAft>
              <a:defRPr sz="1600">
                <a:solidFill>
                  <a:schemeClr val="tx1"/>
                </a:solidFill>
                <a:latin typeface="Tahoma" panose="020B0604030504040204" pitchFamily="34" charset="0"/>
                <a:ea typeface="굴림" panose="020B0600000101010101" pitchFamily="34" charset="-127"/>
              </a:defRPr>
            </a:lvl8pPr>
            <a:lvl9pPr marL="3886200" indent="-228600" eaLnBrk="0" fontAlgn="base" hangingPunct="0">
              <a:spcBef>
                <a:spcPct val="0"/>
              </a:spcBef>
              <a:spcAft>
                <a:spcPct val="0"/>
              </a:spcAft>
              <a:defRPr sz="1600">
                <a:solidFill>
                  <a:schemeClr val="tx1"/>
                </a:solidFill>
                <a:latin typeface="Tahoma" panose="020B0604030504040204" pitchFamily="34" charset="0"/>
                <a:ea typeface="굴림" panose="020B0600000101010101" pitchFamily="34" charset="-127"/>
              </a:defRPr>
            </a:lvl9pPr>
          </a:lstStyle>
          <a:p>
            <a:pPr algn="r">
              <a:defRPr/>
            </a:pPr>
            <a:fld id="{EDD37A51-1F74-4ACD-8C10-C4E9AB7A9DA1}" type="slidenum">
              <a:rPr lang="ko-KR" altLang="en-AU" sz="1000" smtClean="0">
                <a:latin typeface="Arial" panose="020B0604020202020204" pitchFamily="34" charset="0"/>
              </a:rPr>
              <a:pPr algn="r">
                <a:defRPr/>
              </a:pPr>
              <a:t>‹#›</a:t>
            </a:fld>
            <a:endParaRPr lang="ko-KR" altLang="en-AU" sz="100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85"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marL="80963" indent="-80963" algn="l" rtl="0" eaLnBrk="0" fontAlgn="base" hangingPunct="0">
        <a:spcBef>
          <a:spcPct val="0"/>
        </a:spcBef>
        <a:spcAft>
          <a:spcPct val="0"/>
        </a:spcAft>
        <a:defRPr sz="3200" b="1">
          <a:solidFill>
            <a:schemeClr val="tx2"/>
          </a:solidFill>
          <a:latin typeface="+mj-lt"/>
          <a:ea typeface="MS PGothic" panose="020B0600070205080204" pitchFamily="34" charset="-128"/>
          <a:cs typeface="+mj-cs"/>
        </a:defRPr>
      </a:lvl1pPr>
      <a:lvl2pPr marL="80963" indent="-80963" algn="l" rtl="0" eaLnBrk="0" fontAlgn="base" hangingPunct="0">
        <a:spcBef>
          <a:spcPct val="0"/>
        </a:spcBef>
        <a:spcAft>
          <a:spcPct val="0"/>
        </a:spcAft>
        <a:defRPr sz="3200" b="1">
          <a:solidFill>
            <a:schemeClr val="tx2"/>
          </a:solidFill>
          <a:latin typeface="Tahoma" charset="0"/>
          <a:ea typeface="MS PGothic" panose="020B0600070205080204" pitchFamily="34" charset="-128"/>
          <a:cs typeface="Arial" charset="0"/>
        </a:defRPr>
      </a:lvl2pPr>
      <a:lvl3pPr marL="80963" indent="-80963" algn="l" rtl="0" eaLnBrk="0" fontAlgn="base" hangingPunct="0">
        <a:spcBef>
          <a:spcPct val="0"/>
        </a:spcBef>
        <a:spcAft>
          <a:spcPct val="0"/>
        </a:spcAft>
        <a:defRPr sz="3200" b="1">
          <a:solidFill>
            <a:schemeClr val="tx2"/>
          </a:solidFill>
          <a:latin typeface="Tahoma" charset="0"/>
          <a:ea typeface="MS PGothic" panose="020B0600070205080204" pitchFamily="34" charset="-128"/>
          <a:cs typeface="Arial" charset="0"/>
        </a:defRPr>
      </a:lvl3pPr>
      <a:lvl4pPr marL="80963" indent="-80963" algn="l" rtl="0" eaLnBrk="0" fontAlgn="base" hangingPunct="0">
        <a:spcBef>
          <a:spcPct val="0"/>
        </a:spcBef>
        <a:spcAft>
          <a:spcPct val="0"/>
        </a:spcAft>
        <a:defRPr sz="3200" b="1">
          <a:solidFill>
            <a:schemeClr val="tx2"/>
          </a:solidFill>
          <a:latin typeface="Tahoma" charset="0"/>
          <a:ea typeface="MS PGothic" panose="020B0600070205080204" pitchFamily="34" charset="-128"/>
          <a:cs typeface="Arial" charset="0"/>
        </a:defRPr>
      </a:lvl4pPr>
      <a:lvl5pPr marL="80963" indent="-80963" algn="l" rtl="0" eaLnBrk="0" fontAlgn="base" hangingPunct="0">
        <a:spcBef>
          <a:spcPct val="0"/>
        </a:spcBef>
        <a:spcAft>
          <a:spcPct val="0"/>
        </a:spcAft>
        <a:defRPr sz="3200" b="1">
          <a:solidFill>
            <a:schemeClr val="tx2"/>
          </a:solidFill>
          <a:latin typeface="Tahoma" charset="0"/>
          <a:ea typeface="MS PGothic" panose="020B0600070205080204" pitchFamily="34" charset="-128"/>
          <a:cs typeface="Arial" charset="0"/>
        </a:defRPr>
      </a:lvl5pPr>
      <a:lvl6pPr marL="538163" indent="-80963" algn="l" rtl="0" eaLnBrk="0" fontAlgn="base" hangingPunct="0">
        <a:spcBef>
          <a:spcPct val="0"/>
        </a:spcBef>
        <a:spcAft>
          <a:spcPct val="0"/>
        </a:spcAft>
        <a:defRPr sz="3200" b="1">
          <a:solidFill>
            <a:schemeClr val="tx2"/>
          </a:solidFill>
          <a:latin typeface="Tahoma" charset="0"/>
          <a:ea typeface="Arial" charset="0"/>
          <a:cs typeface="Arial" charset="0"/>
        </a:defRPr>
      </a:lvl6pPr>
      <a:lvl7pPr marL="995363" indent="-80963" algn="l" rtl="0" eaLnBrk="0" fontAlgn="base" hangingPunct="0">
        <a:spcBef>
          <a:spcPct val="0"/>
        </a:spcBef>
        <a:spcAft>
          <a:spcPct val="0"/>
        </a:spcAft>
        <a:defRPr sz="3200" b="1">
          <a:solidFill>
            <a:schemeClr val="tx2"/>
          </a:solidFill>
          <a:latin typeface="Tahoma" charset="0"/>
          <a:ea typeface="Arial" charset="0"/>
          <a:cs typeface="Arial" charset="0"/>
        </a:defRPr>
      </a:lvl7pPr>
      <a:lvl8pPr marL="1452563" indent="-80963" algn="l" rtl="0" eaLnBrk="0" fontAlgn="base" hangingPunct="0">
        <a:spcBef>
          <a:spcPct val="0"/>
        </a:spcBef>
        <a:spcAft>
          <a:spcPct val="0"/>
        </a:spcAft>
        <a:defRPr sz="3200" b="1">
          <a:solidFill>
            <a:schemeClr val="tx2"/>
          </a:solidFill>
          <a:latin typeface="Tahoma" charset="0"/>
          <a:ea typeface="Arial" charset="0"/>
          <a:cs typeface="Arial" charset="0"/>
        </a:defRPr>
      </a:lvl8pPr>
      <a:lvl9pPr marL="1909763" indent="-80963" algn="l" rtl="0" eaLnBrk="0" fontAlgn="base" hangingPunct="0">
        <a:spcBef>
          <a:spcPct val="0"/>
        </a:spcBef>
        <a:spcAft>
          <a:spcPct val="0"/>
        </a:spcAft>
        <a:defRPr sz="3200" b="1">
          <a:solidFill>
            <a:schemeClr val="tx2"/>
          </a:solidFill>
          <a:latin typeface="Tahoma" charset="0"/>
          <a:ea typeface="Arial" charset="0"/>
          <a:cs typeface="Arial" charset="0"/>
        </a:defRPr>
      </a:lvl9pPr>
    </p:titleStyle>
    <p:bodyStyle>
      <a:lvl1pPr marL="441325" indent="-3429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S PGothic" panose="020B0600070205080204" pitchFamily="34" charset="-128"/>
          <a:cs typeface="+mn-cs"/>
        </a:defRPr>
      </a:lvl1pPr>
      <a:lvl2pPr marL="906463" indent="-285750" algn="l" rtl="0" eaLnBrk="0" fontAlgn="base" hangingPunct="0">
        <a:spcBef>
          <a:spcPct val="20000"/>
        </a:spcBef>
        <a:spcAft>
          <a:spcPct val="0"/>
        </a:spcAft>
        <a:buFont typeface="Wingdings" panose="05000000000000000000" pitchFamily="2" charset="2"/>
        <a:buChar char="o"/>
        <a:defRPr sz="2400">
          <a:solidFill>
            <a:schemeClr val="tx1"/>
          </a:solidFill>
          <a:latin typeface="+mn-lt"/>
          <a:ea typeface="Arial" charset="0"/>
          <a:cs typeface="+mn-cs"/>
        </a:defRPr>
      </a:lvl2pPr>
      <a:lvl3pPr marL="131445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Arial" charset="0"/>
          <a:cs typeface="+mn-cs"/>
        </a:defRPr>
      </a:lvl3pPr>
      <a:lvl4pPr marL="1722438" indent="-228600" algn="l" rtl="0" eaLnBrk="0" fontAlgn="base" hangingPunct="0">
        <a:spcBef>
          <a:spcPct val="20000"/>
        </a:spcBef>
        <a:spcAft>
          <a:spcPct val="0"/>
        </a:spcAft>
        <a:buFont typeface="Wingdings" panose="05000000000000000000" pitchFamily="2" charset="2"/>
        <a:buChar char="Ø"/>
        <a:defRPr sz="1600">
          <a:solidFill>
            <a:schemeClr val="tx1"/>
          </a:solidFill>
          <a:latin typeface="+mn-lt"/>
          <a:ea typeface="MS PGothic" panose="020B0600070205080204" pitchFamily="34" charset="-128"/>
          <a:cs typeface="Tahoma" charset="0"/>
        </a:defRPr>
      </a:lvl4pPr>
      <a:lvl5pPr marL="2130425"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Arial" charset="0"/>
          <a:ea typeface="MS PGothic" panose="020B0600070205080204" pitchFamily="34" charset="-128"/>
          <a:cs typeface="Tahoma" charset="0"/>
        </a:defRPr>
      </a:lvl5pPr>
      <a:lvl6pPr marL="25876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6pPr>
      <a:lvl7pPr marL="30448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7pPr>
      <a:lvl8pPr marL="35020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8pPr>
      <a:lvl9pPr marL="39592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jpe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4.jpe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7.emf"/><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15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40.png"/><Relationship Id="rId5" Type="http://schemas.openxmlformats.org/officeDocument/2006/relationships/image" Target="../media/image8.emf"/><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61.png"/><Relationship Id="rId5" Type="http://schemas.openxmlformats.org/officeDocument/2006/relationships/image" Target="../media/image7.emf"/><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7.emf"/><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7"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7.emf"/><Relationship Id="rId4" Type="http://schemas.openxmlformats.org/officeDocument/2006/relationships/image" Target="../media/image181.png"/><Relationship Id="rId9"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subTitle" idx="4294967295"/>
          </p:nvPr>
        </p:nvSpPr>
        <p:spPr>
          <a:xfrm>
            <a:off x="304800" y="2667000"/>
            <a:ext cx="7848600" cy="2895600"/>
          </a:xfrm>
        </p:spPr>
        <p:txBody>
          <a:bodyPr/>
          <a:lstStyle/>
          <a:p>
            <a:pPr marL="342900" eaLnBrk="1" hangingPunct="1">
              <a:buFontTx/>
              <a:buNone/>
            </a:pPr>
            <a:r>
              <a:rPr lang="en-AU" altLang="ko-KR" sz="2400" b="1" dirty="0">
                <a:solidFill>
                  <a:srgbClr val="C00000"/>
                </a:solidFill>
                <a:ea typeface="굴림" pitchFamily="6" charset="-127"/>
              </a:rPr>
              <a:t>Module 1: Elements of Machine Learning</a:t>
            </a:r>
          </a:p>
          <a:p>
            <a:pPr marL="342900" eaLnBrk="1" hangingPunct="1">
              <a:buFontTx/>
              <a:buNone/>
            </a:pPr>
            <a:endParaRPr lang="en-AU" altLang="ko-KR" sz="2000" b="1" dirty="0">
              <a:ea typeface="굴림" pitchFamily="6" charset="-127"/>
            </a:endParaRPr>
          </a:p>
          <a:p>
            <a:pPr marL="342900" eaLnBrk="1" hangingPunct="1">
              <a:buFontTx/>
              <a:buNone/>
            </a:pPr>
            <a:r>
              <a:rPr lang="en-AU" altLang="ko-KR" sz="2000" b="1" dirty="0">
                <a:ea typeface="굴림" pitchFamily="6" charset="-127"/>
              </a:rPr>
              <a:t>Part B:</a:t>
            </a:r>
          </a:p>
          <a:p>
            <a:pPr marL="342900" eaLnBrk="1" hangingPunct="1">
              <a:buFont typeface="Arial" panose="020B0604020202020204" pitchFamily="34" charset="0"/>
              <a:buChar char="•"/>
            </a:pPr>
            <a:r>
              <a:rPr lang="en-AU" altLang="ko-KR" sz="2000" b="1" dirty="0">
                <a:ea typeface="굴림" pitchFamily="6" charset="-127"/>
              </a:rPr>
              <a:t>Probabilistic Machine Learning</a:t>
            </a:r>
          </a:p>
          <a:p>
            <a:pPr lvl="1"/>
            <a:r>
              <a:rPr lang="en-US" altLang="ko-KR" sz="1800" dirty="0">
                <a:ea typeface="굴림" pitchFamily="6" charset="-127"/>
              </a:rPr>
              <a:t>basics of probability theory</a:t>
            </a:r>
          </a:p>
          <a:p>
            <a:pPr lvl="1"/>
            <a:r>
              <a:rPr lang="en-US" altLang="ko-KR" sz="1800" dirty="0">
                <a:ea typeface="굴림" pitchFamily="6" charset="-127"/>
              </a:rPr>
              <a:t>probabilistic models and parameter estimation</a:t>
            </a:r>
          </a:p>
          <a:p>
            <a:pPr lvl="1"/>
            <a:r>
              <a:rPr lang="en-US" altLang="ko-KR" sz="1800" dirty="0">
                <a:ea typeface="굴림" pitchFamily="6" charset="-127"/>
              </a:rPr>
              <a:t>quantifying uncertainty about arbitrary estimates (bootstrap)</a:t>
            </a:r>
          </a:p>
          <a:p>
            <a:pPr lvl="1"/>
            <a:r>
              <a:rPr lang="en-US" altLang="ko-KR" sz="1800" dirty="0">
                <a:ea typeface="굴림" pitchFamily="6" charset="-127"/>
              </a:rPr>
              <a:t>Bayesian approach to ML</a:t>
            </a:r>
          </a:p>
          <a:p>
            <a:pPr marL="342900" eaLnBrk="1" hangingPunct="1">
              <a:buFontTx/>
              <a:buNone/>
            </a:pPr>
            <a:endParaRPr lang="en-AU" altLang="ko-KR" sz="2400" b="1" dirty="0">
              <a:solidFill>
                <a:srgbClr val="0000FF"/>
              </a:solidFill>
              <a:ea typeface="굴림" pitchFamily="6" charset="-127"/>
            </a:endParaRPr>
          </a:p>
        </p:txBody>
      </p:sp>
      <p:sp>
        <p:nvSpPr>
          <p:cNvPr id="5123" name="Title 1"/>
          <p:cNvSpPr>
            <a:spLocks noGrp="1" noChangeArrowheads="1"/>
          </p:cNvSpPr>
          <p:nvPr>
            <p:ph type="ctrTitle" idx="4294967295"/>
          </p:nvPr>
        </p:nvSpPr>
        <p:spPr>
          <a:xfrm>
            <a:off x="152400" y="1600200"/>
            <a:ext cx="7772400" cy="754063"/>
          </a:xfrm>
        </p:spPr>
        <p:txBody>
          <a:bodyPr/>
          <a:lstStyle/>
          <a:p>
            <a:pPr marL="0" indent="0"/>
            <a:r>
              <a:rPr lang="en-US" altLang="ko-KR" sz="2800" dirty="0"/>
              <a:t>ITO5201</a:t>
            </a:r>
            <a:r>
              <a:rPr lang="en-US" altLang="ko-KR" sz="2800" dirty="0">
                <a:latin typeface="Arial" panose="020B0604020202020204" pitchFamily="34" charset="0"/>
              </a:rPr>
              <a:t> </a:t>
            </a:r>
            <a:r>
              <a:rPr lang="en-US" altLang="ko-KR" sz="2800" dirty="0"/>
              <a:t>-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idx="4294967295"/>
          </p:nvPr>
        </p:nvSpPr>
        <p:spPr/>
        <p:txBody>
          <a:bodyPr/>
          <a:lstStyle/>
          <a:p>
            <a:r>
              <a:rPr lang="en-US" altLang="ko-KR" dirty="0"/>
              <a:t>Uncertainty in Machine Learning (ML)</a:t>
            </a:r>
          </a:p>
        </p:txBody>
      </p:sp>
      <p:sp>
        <p:nvSpPr>
          <p:cNvPr id="7171" name="TextBox 1"/>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
        <p:nvSpPr>
          <p:cNvPr id="7172" name="TextBox 12"/>
          <p:cNvSpPr>
            <a:spLocks noChangeArrowheads="1"/>
          </p:cNvSpPr>
          <p:nvPr/>
        </p:nvSpPr>
        <p:spPr bwMode="auto">
          <a:xfrm>
            <a:off x="304800" y="1447800"/>
            <a:ext cx="82296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marL="0" indent="0">
              <a:spcBef>
                <a:spcPct val="0"/>
              </a:spcBef>
              <a:buNone/>
            </a:pPr>
            <a:r>
              <a:rPr lang="en-US" altLang="ko-KR" sz="2000" b="1" dirty="0">
                <a:ea typeface="굴림" pitchFamily="6" charset="-127"/>
              </a:rPr>
              <a:t>Intuition: </a:t>
            </a:r>
          </a:p>
          <a:p>
            <a:pPr marL="0" indent="0">
              <a:spcBef>
                <a:spcPct val="0"/>
              </a:spcBef>
              <a:buNone/>
            </a:pPr>
            <a:r>
              <a:rPr lang="en-US" altLang="ko-KR" sz="2000" dirty="0">
                <a:ea typeface="굴림" pitchFamily="6" charset="-127"/>
              </a:rPr>
              <a:t>Cannot base </a:t>
            </a:r>
            <a:r>
              <a:rPr lang="en-US" altLang="ko-KR" sz="2000" dirty="0">
                <a:solidFill>
                  <a:srgbClr val="0070C0"/>
                </a:solidFill>
                <a:ea typeface="굴림" pitchFamily="6" charset="-127"/>
              </a:rPr>
              <a:t>decision</a:t>
            </a:r>
            <a:r>
              <a:rPr lang="en-US" altLang="ko-KR" sz="2000" dirty="0">
                <a:ea typeface="굴림" pitchFamily="6" charset="-127"/>
              </a:rPr>
              <a:t> on prediction without quantifying </a:t>
            </a:r>
            <a:r>
              <a:rPr lang="en-US" altLang="ko-KR" sz="2000" dirty="0">
                <a:solidFill>
                  <a:srgbClr val="0070C0"/>
                </a:solidFill>
                <a:ea typeface="굴림" pitchFamily="6" charset="-127"/>
              </a:rPr>
              <a:t>uncertainty</a:t>
            </a:r>
            <a:r>
              <a:rPr lang="en-US" altLang="ko-KR" sz="2000" dirty="0">
                <a:ea typeface="굴림" pitchFamily="6" charset="-127"/>
              </a:rPr>
              <a:t> </a:t>
            </a:r>
          </a:p>
          <a:p>
            <a:pPr marL="0" indent="0">
              <a:spcBef>
                <a:spcPct val="0"/>
              </a:spcBef>
              <a:buNone/>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a:spcBef>
                <a:spcPct val="0"/>
              </a:spcBef>
            </a:pPr>
            <a:endParaRPr lang="en-US" altLang="ko-KR" sz="2000" dirty="0">
              <a:ea typeface="굴림" pitchFamily="6" charset="-127"/>
            </a:endParaRPr>
          </a:p>
          <a:p>
            <a:pPr marL="0" indent="0">
              <a:spcBef>
                <a:spcPct val="0"/>
              </a:spcBef>
              <a:buNone/>
            </a:pPr>
            <a:endParaRPr lang="en-US" altLang="ko-KR" sz="2000" dirty="0">
              <a:ea typeface="굴림" pitchFamily="6" charset="-127"/>
            </a:endParaRPr>
          </a:p>
          <a:p>
            <a:pPr marL="0" indent="0">
              <a:spcBef>
                <a:spcPct val="0"/>
              </a:spcBef>
              <a:buNone/>
            </a:pPr>
            <a:endParaRPr lang="en-US" altLang="ko-KR" sz="2000" dirty="0">
              <a:ea typeface="굴림" pitchFamily="6" charset="-127"/>
            </a:endParaRPr>
          </a:p>
          <a:p>
            <a:pPr marL="0" indent="0">
              <a:spcBef>
                <a:spcPct val="0"/>
              </a:spcBef>
              <a:buNone/>
            </a:pPr>
            <a:r>
              <a:rPr lang="en-US" altLang="ko-KR" sz="2000" dirty="0">
                <a:ea typeface="굴림" pitchFamily="6" charset="-127"/>
              </a:rPr>
              <a:t>What is uncertainty and where does it come from?</a:t>
            </a:r>
          </a:p>
        </p:txBody>
      </p:sp>
      <p:pic>
        <p:nvPicPr>
          <p:cNvPr id="3" name="Picture 2">
            <a:extLst>
              <a:ext uri="{FF2B5EF4-FFF2-40B4-BE49-F238E27FC236}">
                <a16:creationId xmlns:a16="http://schemas.microsoft.com/office/drawing/2014/main" id="{2AF1A433-05FC-9D05-0FC1-B2C7ADED34C4}"/>
              </a:ext>
            </a:extLst>
          </p:cNvPr>
          <p:cNvPicPr>
            <a:picLocks noChangeAspect="1"/>
          </p:cNvPicPr>
          <p:nvPr/>
        </p:nvPicPr>
        <p:blipFill>
          <a:blip r:embed="rId3"/>
          <a:stretch>
            <a:fillRect/>
          </a:stretch>
        </p:blipFill>
        <p:spPr>
          <a:xfrm>
            <a:off x="3059832" y="2481908"/>
            <a:ext cx="2564904" cy="25649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idx="4294967295"/>
          </p:nvPr>
        </p:nvSpPr>
        <p:spPr/>
        <p:txBody>
          <a:bodyPr/>
          <a:lstStyle/>
          <a:p>
            <a:r>
              <a:rPr lang="en-US" altLang="ko-KR" dirty="0"/>
              <a:t>Uncertainty in Machine Learning (ML)</a:t>
            </a:r>
          </a:p>
        </p:txBody>
      </p:sp>
      <p:sp>
        <p:nvSpPr>
          <p:cNvPr id="7171" name="TextBox 1"/>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dirty="0">
                <a:ea typeface="굴림" pitchFamily="6" charset="-127"/>
              </a:rPr>
              <a:t>Probabilistic Machine Learning</a:t>
            </a:r>
          </a:p>
        </p:txBody>
      </p:sp>
      <p:sp>
        <p:nvSpPr>
          <p:cNvPr id="7172" name="TextBox 12"/>
          <p:cNvSpPr>
            <a:spLocks noChangeArrowheads="1"/>
          </p:cNvSpPr>
          <p:nvPr/>
        </p:nvSpPr>
        <p:spPr bwMode="auto">
          <a:xfrm>
            <a:off x="304800" y="1447800"/>
            <a:ext cx="8371656"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marL="0" indent="0">
              <a:spcBef>
                <a:spcPct val="0"/>
              </a:spcBef>
              <a:buNone/>
            </a:pPr>
            <a:r>
              <a:rPr lang="en-US" altLang="ko-KR" sz="2200" dirty="0">
                <a:ea typeface="굴림" pitchFamily="6" charset="-127"/>
              </a:rPr>
              <a:t>Non-determinism of modelled process (e.g., measurement noise): </a:t>
            </a:r>
            <a:r>
              <a:rPr lang="en-US" altLang="ko-KR" sz="2200" dirty="0">
                <a:solidFill>
                  <a:srgbClr val="0070C0"/>
                </a:solidFill>
                <a:ea typeface="굴림" pitchFamily="6" charset="-127"/>
              </a:rPr>
              <a:t>aleatoric uncertainty</a:t>
            </a:r>
          </a:p>
          <a:p>
            <a:pPr marL="0" indent="0">
              <a:spcBef>
                <a:spcPct val="0"/>
              </a:spcBef>
              <a:buNone/>
            </a:pPr>
            <a:endParaRPr lang="en-US" altLang="ko-KR" sz="2200" dirty="0">
              <a:ea typeface="굴림" pitchFamily="6" charset="-127"/>
            </a:endParaRPr>
          </a:p>
          <a:p>
            <a:pPr marL="0" indent="0">
              <a:spcBef>
                <a:spcPct val="0"/>
              </a:spcBef>
              <a:buNone/>
            </a:pPr>
            <a:r>
              <a:rPr lang="en-US" altLang="ko-KR" sz="2200" dirty="0">
                <a:ea typeface="굴림" pitchFamily="6" charset="-127"/>
              </a:rPr>
              <a:t>Finite size of (random) training data / limited knowledge: </a:t>
            </a:r>
            <a:r>
              <a:rPr lang="en-US" altLang="ko-KR" sz="2200" dirty="0">
                <a:solidFill>
                  <a:srgbClr val="0070C0"/>
                </a:solidFill>
                <a:ea typeface="굴림" pitchFamily="6" charset="-127"/>
              </a:rPr>
              <a:t>epistemic uncertainty</a:t>
            </a:r>
          </a:p>
          <a:p>
            <a:pPr>
              <a:spcBef>
                <a:spcPct val="0"/>
              </a:spcBef>
            </a:pPr>
            <a:endParaRPr lang="en-US" altLang="ko-KR" sz="2000" dirty="0">
              <a:ea typeface="굴림" pitchFamily="6" charset="-127"/>
            </a:endParaRPr>
          </a:p>
        </p:txBody>
      </p:sp>
      <p:sp>
        <p:nvSpPr>
          <p:cNvPr id="7173" name="object 4"/>
          <p:cNvSpPr>
            <a:spLocks noChangeArrowheads="1"/>
          </p:cNvSpPr>
          <p:nvPr/>
        </p:nvSpPr>
        <p:spPr bwMode="auto">
          <a:xfrm>
            <a:off x="800100" y="3429000"/>
            <a:ext cx="7239000" cy="268128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Tahoma" panose="020B0604030504040204" pitchFamily="34" charset="0"/>
                <a:ea typeface="굴림" pitchFamily="6" charset="-127"/>
              </a:defRPr>
            </a:lvl1pPr>
            <a:lvl2pPr marL="742950" indent="-285750">
              <a:defRPr sz="1600">
                <a:solidFill>
                  <a:schemeClr val="tx1"/>
                </a:solidFill>
                <a:latin typeface="Tahoma" panose="020B0604030504040204" pitchFamily="34" charset="0"/>
                <a:ea typeface="굴림" pitchFamily="6" charset="-127"/>
              </a:defRPr>
            </a:lvl2pPr>
            <a:lvl3pPr marL="1143000" indent="-228600">
              <a:defRPr sz="1600">
                <a:solidFill>
                  <a:schemeClr val="tx1"/>
                </a:solidFill>
                <a:latin typeface="Tahoma" panose="020B0604030504040204" pitchFamily="34" charset="0"/>
                <a:ea typeface="굴림" pitchFamily="6" charset="-127"/>
              </a:defRPr>
            </a:lvl3pPr>
            <a:lvl4pPr marL="1600200" indent="-228600">
              <a:defRPr sz="1600">
                <a:solidFill>
                  <a:schemeClr val="tx1"/>
                </a:solidFill>
                <a:latin typeface="Tahoma" panose="020B0604030504040204" pitchFamily="34" charset="0"/>
                <a:ea typeface="굴림" pitchFamily="6" charset="-127"/>
              </a:defRPr>
            </a:lvl4pPr>
            <a:lvl5pPr marL="2057400" indent="-228600">
              <a:defRPr sz="1600">
                <a:solidFill>
                  <a:schemeClr val="tx1"/>
                </a:solidFill>
                <a:latin typeface="Tahoma" panose="020B0604030504040204" pitchFamily="34" charset="0"/>
                <a:ea typeface="굴림" pitchFamily="6" charset="-127"/>
              </a:defRPr>
            </a:lvl5pPr>
            <a:lvl6pPr marL="25146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6pPr>
            <a:lvl7pPr marL="29718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7pPr>
            <a:lvl8pPr marL="34290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8pPr>
            <a:lvl9pPr marL="3886200" indent="-228600" eaLnBrk="0" fontAlgn="base" hangingPunct="0">
              <a:spcBef>
                <a:spcPct val="0"/>
              </a:spcBef>
              <a:spcAft>
                <a:spcPct val="0"/>
              </a:spcAft>
              <a:defRPr sz="1600">
                <a:solidFill>
                  <a:schemeClr val="tx1"/>
                </a:solidFill>
                <a:latin typeface="Tahoma" panose="020B0604030504040204" pitchFamily="34" charset="0"/>
                <a:ea typeface="굴림" pitchFamily="6" charset="-127"/>
              </a:defRPr>
            </a:lvl9pPr>
          </a:lstStyle>
          <a:p>
            <a:endParaRPr lang="en-US" altLang="en-US"/>
          </a:p>
        </p:txBody>
      </p:sp>
    </p:spTree>
    <p:extLst>
      <p:ext uri="{BB962C8B-B14F-4D97-AF65-F5344CB8AC3E}">
        <p14:creationId xmlns:p14="http://schemas.microsoft.com/office/powerpoint/2010/main" val="3862265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idx="4294967295"/>
          </p:nvPr>
        </p:nvSpPr>
        <p:spPr>
          <a:xfrm>
            <a:off x="304800" y="152400"/>
            <a:ext cx="8458200" cy="990600"/>
          </a:xfrm>
        </p:spPr>
        <p:txBody>
          <a:bodyPr/>
          <a:lstStyle/>
          <a:p>
            <a:r>
              <a:rPr lang="en-US" altLang="ko-KR"/>
              <a:t>Probability Theory</a:t>
            </a:r>
          </a:p>
        </p:txBody>
      </p:sp>
      <p:sp>
        <p:nvSpPr>
          <p:cNvPr id="7208" name="Content Placeholder 2"/>
          <p:cNvSpPr>
            <a:spLocks noGrp="1" noChangeArrowheads="1"/>
          </p:cNvSpPr>
          <p:nvPr>
            <p:ph idx="4294967295"/>
          </p:nvPr>
        </p:nvSpPr>
        <p:spPr>
          <a:xfrm>
            <a:off x="228600" y="1412875"/>
            <a:ext cx="8375848" cy="4495800"/>
          </a:xfrm>
        </p:spPr>
        <p:txBody>
          <a:bodyPr/>
          <a:lstStyle/>
          <a:p>
            <a:pPr>
              <a:defRPr/>
            </a:pPr>
            <a:r>
              <a:rPr lang="en-US" altLang="ko-KR" dirty="0">
                <a:ea typeface="굴림" pitchFamily="6" charset="-127"/>
              </a:rPr>
              <a:t>Provides framework for defining and manipulating </a:t>
            </a:r>
            <a:r>
              <a:rPr lang="en-US" altLang="ko-KR" dirty="0">
                <a:latin typeface="Arial" panose="020B0604020202020204" pitchFamily="34" charset="0"/>
                <a:ea typeface="굴림" pitchFamily="6" charset="-127"/>
              </a:rPr>
              <a:t>“</a:t>
            </a:r>
            <a:r>
              <a:rPr lang="en-US" altLang="ko-KR" dirty="0">
                <a:ea typeface="굴림" pitchFamily="6" charset="-127"/>
              </a:rPr>
              <a:t>uncertainty</a:t>
            </a:r>
            <a:r>
              <a:rPr lang="en-US" altLang="en-US" dirty="0">
                <a:latin typeface="Arial" panose="020B0604020202020204" pitchFamily="34" charset="0"/>
                <a:ea typeface="Arial" panose="020B0604020202020204" pitchFamily="34" charset="0"/>
              </a:rPr>
              <a:t>”</a:t>
            </a:r>
            <a:endParaRPr lang="en-US" altLang="ko-KR" dirty="0">
              <a:ea typeface="굴림" pitchFamily="6" charset="-127"/>
            </a:endParaRPr>
          </a:p>
          <a:p>
            <a:pPr marL="620713" lvl="1" indent="0">
              <a:buFont typeface="Wingdings" panose="05000000000000000000" pitchFamily="2" charset="2"/>
              <a:buNone/>
              <a:defRPr/>
            </a:pPr>
            <a:endParaRPr lang="en-US" altLang="ko-KR" dirty="0">
              <a:ea typeface="굴림" pitchFamily="6" charset="-127"/>
            </a:endParaRPr>
          </a:p>
          <a:p>
            <a:pPr>
              <a:defRPr/>
            </a:pPr>
            <a:r>
              <a:rPr lang="en-US" altLang="ko-KR" dirty="0">
                <a:ea typeface="굴림" pitchFamily="6" charset="-127"/>
              </a:rPr>
              <a:t>Used in ML to </a:t>
            </a:r>
          </a:p>
          <a:p>
            <a:pPr lvl="1">
              <a:defRPr/>
            </a:pPr>
            <a:r>
              <a:rPr lang="en-US" altLang="ko-KR" dirty="0">
                <a:solidFill>
                  <a:srgbClr val="0070C0"/>
                </a:solidFill>
                <a:ea typeface="굴림" pitchFamily="6" charset="-127"/>
              </a:rPr>
              <a:t>Define learning task</a:t>
            </a:r>
            <a:r>
              <a:rPr lang="en-US" altLang="ko-KR" dirty="0">
                <a:ea typeface="굴림" pitchFamily="6" charset="-127"/>
              </a:rPr>
              <a:t> in a meaningful way (</a:t>
            </a:r>
            <a:r>
              <a:rPr lang="en-US" altLang="ko-KR" dirty="0" err="1">
                <a:ea typeface="굴림" pitchFamily="6" charset="-127"/>
              </a:rPr>
              <a:t>generalisation</a:t>
            </a:r>
            <a:r>
              <a:rPr lang="en-US" altLang="ko-KR" dirty="0">
                <a:ea typeface="굴림" pitchFamily="6" charset="-127"/>
              </a:rPr>
              <a:t> error, last week)</a:t>
            </a:r>
          </a:p>
          <a:p>
            <a:pPr lvl="1">
              <a:defRPr/>
            </a:pPr>
            <a:r>
              <a:rPr lang="en-US" altLang="ko-KR" dirty="0">
                <a:ea typeface="굴림" pitchFamily="6" charset="-127"/>
              </a:rPr>
              <a:t>Enrich our concept of “model” from predictive to </a:t>
            </a:r>
            <a:r>
              <a:rPr lang="en-US" altLang="ko-KR" dirty="0">
                <a:solidFill>
                  <a:srgbClr val="0070C0"/>
                </a:solidFill>
                <a:ea typeface="굴림" pitchFamily="6" charset="-127"/>
              </a:rPr>
              <a:t>probabilistic</a:t>
            </a:r>
          </a:p>
          <a:p>
            <a:pPr lvl="1">
              <a:defRPr/>
            </a:pPr>
            <a:r>
              <a:rPr lang="en-US" altLang="ko-KR" dirty="0">
                <a:solidFill>
                  <a:srgbClr val="0070C0"/>
                </a:solidFill>
                <a:ea typeface="굴림" pitchFamily="6" charset="-127"/>
              </a:rPr>
              <a:t>Quantify uncertainty </a:t>
            </a:r>
            <a:r>
              <a:rPr lang="en-US" altLang="ko-KR" dirty="0">
                <a:ea typeface="굴림" pitchFamily="6" charset="-127"/>
              </a:rPr>
              <a:t>about learned model parameters and predictions </a:t>
            </a:r>
          </a:p>
          <a:p>
            <a:pPr marL="1493838" lvl="3" indent="0">
              <a:buNone/>
              <a:defRPr/>
            </a:pPr>
            <a:endParaRPr lang="en-US" altLang="ko-KR" dirty="0">
              <a:solidFill>
                <a:srgbClr val="0070C0"/>
              </a:solidFill>
              <a:ea typeface="굴림" pitchFamily="6" charset="-127"/>
            </a:endParaRPr>
          </a:p>
          <a:p>
            <a:pPr marL="98425" indent="0">
              <a:buNone/>
              <a:defRPr/>
            </a:pPr>
            <a:r>
              <a:rPr lang="en-US" altLang="ko-KR" sz="2000" dirty="0">
                <a:ea typeface="굴림" pitchFamily="6" charset="-127"/>
              </a:rPr>
              <a:t>Appendix A in Week 1 / Tutorial Resources / “</a:t>
            </a:r>
            <a:r>
              <a:rPr lang="en-US" altLang="ko-KR" sz="2000" b="1" dirty="0">
                <a:ea typeface="굴림" pitchFamily="6" charset="-127"/>
              </a:rPr>
              <a:t>Module </a:t>
            </a:r>
            <a:r>
              <a:rPr lang="en-US" altLang="ko-KR" sz="2000" b="1" dirty="0" err="1">
                <a:ea typeface="굴림" pitchFamily="6" charset="-127"/>
              </a:rPr>
              <a:t>one.pdf</a:t>
            </a:r>
            <a:r>
              <a:rPr lang="en-US" altLang="ko-KR" sz="2000" dirty="0">
                <a:ea typeface="굴림" pitchFamily="6" charset="-127"/>
              </a:rPr>
              <a:t>”</a:t>
            </a:r>
          </a:p>
          <a:p>
            <a:pPr marL="98425" indent="0">
              <a:buNone/>
              <a:defRPr/>
            </a:pPr>
            <a:endParaRPr lang="en-US" altLang="ko-KR" dirty="0">
              <a:solidFill>
                <a:srgbClr val="0070C0"/>
              </a:solidFill>
              <a:ea typeface="굴림" pitchFamily="6" charset="-127"/>
            </a:endParaRPr>
          </a:p>
        </p:txBody>
      </p:sp>
      <p:sp>
        <p:nvSpPr>
          <p:cNvPr id="9220" name="TextBox 4"/>
          <p:cNvSpPr>
            <a:spLocks noChangeArrowheads="1"/>
          </p:cNvSpPr>
          <p:nvPr/>
        </p:nvSpPr>
        <p:spPr bwMode="auto">
          <a:xfrm>
            <a:off x="228600" y="6465143"/>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dirty="0">
                <a:ea typeface="굴림" pitchFamily="6" charset="-127"/>
              </a:rPr>
              <a:t>Probabilistic Machine Learning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208">
                                            <p:txEl>
                                              <p:pRg st="2" end="2"/>
                                            </p:txEl>
                                          </p:spTgt>
                                        </p:tgtEl>
                                        <p:attrNameLst>
                                          <p:attrName>style.visibility</p:attrName>
                                        </p:attrNameLst>
                                      </p:cBhvr>
                                      <p:to>
                                        <p:strVal val="visible"/>
                                      </p:to>
                                    </p:set>
                                    <p:animEffect transition="in" filter="dissolve">
                                      <p:cBhvr>
                                        <p:cTn id="7" dur="500"/>
                                        <p:tgtEl>
                                          <p:spTgt spid="7208">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208">
                                            <p:txEl>
                                              <p:pRg st="3" end="3"/>
                                            </p:txEl>
                                          </p:spTgt>
                                        </p:tgtEl>
                                        <p:attrNameLst>
                                          <p:attrName>style.visibility</p:attrName>
                                        </p:attrNameLst>
                                      </p:cBhvr>
                                      <p:to>
                                        <p:strVal val="visible"/>
                                      </p:to>
                                    </p:set>
                                    <p:animEffect transition="in" filter="dissolve">
                                      <p:cBhvr>
                                        <p:cTn id="10" dur="500"/>
                                        <p:tgtEl>
                                          <p:spTgt spid="7208">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7208">
                                            <p:txEl>
                                              <p:pRg st="4" end="4"/>
                                            </p:txEl>
                                          </p:spTgt>
                                        </p:tgtEl>
                                        <p:attrNameLst>
                                          <p:attrName>style.visibility</p:attrName>
                                        </p:attrNameLst>
                                      </p:cBhvr>
                                      <p:to>
                                        <p:strVal val="visible"/>
                                      </p:to>
                                    </p:set>
                                    <p:animEffect transition="in" filter="dissolve">
                                      <p:cBhvr>
                                        <p:cTn id="13" dur="500"/>
                                        <p:tgtEl>
                                          <p:spTgt spid="7208">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7208">
                                            <p:txEl>
                                              <p:pRg st="5" end="5"/>
                                            </p:txEl>
                                          </p:spTgt>
                                        </p:tgtEl>
                                        <p:attrNameLst>
                                          <p:attrName>style.visibility</p:attrName>
                                        </p:attrNameLst>
                                      </p:cBhvr>
                                      <p:to>
                                        <p:strVal val="visible"/>
                                      </p:to>
                                    </p:set>
                                    <p:animEffect transition="in" filter="dissolve">
                                      <p:cBhvr>
                                        <p:cTn id="16" dur="500"/>
                                        <p:tgtEl>
                                          <p:spTgt spid="7208">
                                            <p:txEl>
                                              <p:pRg st="5" end="5"/>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7208">
                                            <p:txEl>
                                              <p:pRg st="7" end="7"/>
                                            </p:txEl>
                                          </p:spTgt>
                                        </p:tgtEl>
                                        <p:attrNameLst>
                                          <p:attrName>style.visibility</p:attrName>
                                        </p:attrNameLst>
                                      </p:cBhvr>
                                      <p:to>
                                        <p:strVal val="visible"/>
                                      </p:to>
                                    </p:set>
                                    <p:animEffect transition="in" filter="dissolve">
                                      <p:cBhvr>
                                        <p:cTn id="19" dur="500"/>
                                        <p:tgtEl>
                                          <p:spTgt spid="720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idx="4294967295"/>
          </p:nvPr>
        </p:nvSpPr>
        <p:spPr>
          <a:xfrm>
            <a:off x="304800" y="152400"/>
            <a:ext cx="8458200" cy="990600"/>
          </a:xfrm>
        </p:spPr>
        <p:txBody>
          <a:bodyPr/>
          <a:lstStyle/>
          <a:p>
            <a:r>
              <a:rPr lang="en-US" altLang="ko-KR" dirty="0"/>
              <a:t>Basics of Probability Theory</a:t>
            </a:r>
          </a:p>
        </p:txBody>
      </p:sp>
      <p:pic>
        <p:nvPicPr>
          <p:cNvPr id="1126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67" y="2166144"/>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pic>
        <p:nvPicPr>
          <p:cNvPr id="1028" name="Picture 4">
            <a:extLst>
              <a:ext uri="{FF2B5EF4-FFF2-40B4-BE49-F238E27FC236}">
                <a16:creationId xmlns:a16="http://schemas.microsoft.com/office/drawing/2014/main" id="{F3453166-1358-2608-5272-32275155AD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19" r="10226"/>
          <a:stretch/>
        </p:blipFill>
        <p:spPr bwMode="auto">
          <a:xfrm>
            <a:off x="6212532" y="2166144"/>
            <a:ext cx="2247900" cy="35941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um Dice — Games for Young Minds">
            <a:extLst>
              <a:ext uri="{FF2B5EF4-FFF2-40B4-BE49-F238E27FC236}">
                <a16:creationId xmlns:a16="http://schemas.microsoft.com/office/drawing/2014/main" id="{E84C4A57-7258-100F-1CEE-0162E55669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443" t="15569" r="45757"/>
          <a:stretch/>
        </p:blipFill>
        <p:spPr bwMode="auto">
          <a:xfrm>
            <a:off x="3319500" y="2171700"/>
            <a:ext cx="2273299" cy="35814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C8D0348-F7AD-018D-EA8D-9C0997BFF3EF}"/>
              </a:ext>
            </a:extLst>
          </p:cNvPr>
          <p:cNvSpPr txBox="1"/>
          <p:nvPr/>
        </p:nvSpPr>
        <p:spPr>
          <a:xfrm>
            <a:off x="317500" y="1515547"/>
            <a:ext cx="6490367" cy="369332"/>
          </a:xfrm>
          <a:prstGeom prst="rect">
            <a:avLst/>
          </a:prstGeom>
          <a:noFill/>
        </p:spPr>
        <p:txBody>
          <a:bodyPr wrap="none" rtlCol="0">
            <a:spAutoFit/>
          </a:bodyPr>
          <a:lstStyle/>
          <a:p>
            <a:r>
              <a:rPr lang="en-US" sz="1800" dirty="0"/>
              <a:t>Mathematical model of (repeatable) random experiments like:</a:t>
            </a:r>
          </a:p>
        </p:txBody>
      </p:sp>
      <p:sp>
        <p:nvSpPr>
          <p:cNvPr id="4" name="TextBox 3">
            <a:extLst>
              <a:ext uri="{FF2B5EF4-FFF2-40B4-BE49-F238E27FC236}">
                <a16:creationId xmlns:a16="http://schemas.microsoft.com/office/drawing/2014/main" id="{FDF83AD9-6536-B686-12AD-EA9D924E3246}"/>
              </a:ext>
            </a:extLst>
          </p:cNvPr>
          <p:cNvSpPr txBox="1"/>
          <p:nvPr/>
        </p:nvSpPr>
        <p:spPr>
          <a:xfrm>
            <a:off x="839104" y="5852978"/>
            <a:ext cx="1448025" cy="338554"/>
          </a:xfrm>
          <a:prstGeom prst="rect">
            <a:avLst/>
          </a:prstGeom>
          <a:noFill/>
        </p:spPr>
        <p:txBody>
          <a:bodyPr wrap="none" rtlCol="0">
            <a:spAutoFit/>
          </a:bodyPr>
          <a:lstStyle/>
          <a:p>
            <a:r>
              <a:rPr lang="en-US" dirty="0"/>
              <a:t>flipping a coin</a:t>
            </a:r>
          </a:p>
        </p:txBody>
      </p:sp>
      <p:sp>
        <p:nvSpPr>
          <p:cNvPr id="5" name="TextBox 4">
            <a:extLst>
              <a:ext uri="{FF2B5EF4-FFF2-40B4-BE49-F238E27FC236}">
                <a16:creationId xmlns:a16="http://schemas.microsoft.com/office/drawing/2014/main" id="{EC596A10-2D3E-C5DD-1E0D-3A257398718A}"/>
              </a:ext>
            </a:extLst>
          </p:cNvPr>
          <p:cNvSpPr txBox="1"/>
          <p:nvPr/>
        </p:nvSpPr>
        <p:spPr>
          <a:xfrm>
            <a:off x="3635896" y="5852978"/>
            <a:ext cx="1561389" cy="338554"/>
          </a:xfrm>
          <a:prstGeom prst="rect">
            <a:avLst/>
          </a:prstGeom>
          <a:noFill/>
        </p:spPr>
        <p:txBody>
          <a:bodyPr wrap="none" rtlCol="0">
            <a:spAutoFit/>
          </a:bodyPr>
          <a:lstStyle/>
          <a:p>
            <a:r>
              <a:rPr lang="en-US" dirty="0"/>
              <a:t>rolling two dice</a:t>
            </a:r>
          </a:p>
        </p:txBody>
      </p:sp>
      <p:sp>
        <p:nvSpPr>
          <p:cNvPr id="6" name="TextBox 5">
            <a:extLst>
              <a:ext uri="{FF2B5EF4-FFF2-40B4-BE49-F238E27FC236}">
                <a16:creationId xmlns:a16="http://schemas.microsoft.com/office/drawing/2014/main" id="{BA2F1775-5992-5663-654F-75D2E3F85F90}"/>
              </a:ext>
            </a:extLst>
          </p:cNvPr>
          <p:cNvSpPr txBox="1"/>
          <p:nvPr/>
        </p:nvSpPr>
        <p:spPr>
          <a:xfrm>
            <a:off x="6405971" y="5838556"/>
            <a:ext cx="1861022" cy="584775"/>
          </a:xfrm>
          <a:prstGeom prst="rect">
            <a:avLst/>
          </a:prstGeom>
          <a:noFill/>
        </p:spPr>
        <p:txBody>
          <a:bodyPr wrap="none" rtlCol="0">
            <a:spAutoFit/>
          </a:bodyPr>
          <a:lstStyle/>
          <a:p>
            <a:r>
              <a:rPr lang="en-US" dirty="0"/>
              <a:t>athlete performing</a:t>
            </a:r>
          </a:p>
          <a:p>
            <a:pPr algn="ctr"/>
            <a:r>
              <a:rPr lang="en-US" dirty="0"/>
              <a:t>long jump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idx="4294967295"/>
          </p:nvPr>
        </p:nvSpPr>
        <p:spPr>
          <a:xfrm>
            <a:off x="304800" y="152400"/>
            <a:ext cx="8458200" cy="990600"/>
          </a:xfrm>
        </p:spPr>
        <p:txBody>
          <a:bodyPr/>
          <a:lstStyle/>
          <a:p>
            <a:r>
              <a:rPr lang="en-US" altLang="ko-KR" dirty="0"/>
              <a:t>Random Variables</a:t>
            </a:r>
          </a:p>
        </p:txBody>
      </p:sp>
      <p:pic>
        <p:nvPicPr>
          <p:cNvPr id="1126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67" y="2166144"/>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pic>
        <p:nvPicPr>
          <p:cNvPr id="1028" name="Picture 4">
            <a:extLst>
              <a:ext uri="{FF2B5EF4-FFF2-40B4-BE49-F238E27FC236}">
                <a16:creationId xmlns:a16="http://schemas.microsoft.com/office/drawing/2014/main" id="{F3453166-1358-2608-5272-32275155AD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19" r="10226"/>
          <a:stretch/>
        </p:blipFill>
        <p:spPr bwMode="auto">
          <a:xfrm>
            <a:off x="6212532" y="2166144"/>
            <a:ext cx="2247900" cy="35941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um Dice — Games for Young Minds">
            <a:extLst>
              <a:ext uri="{FF2B5EF4-FFF2-40B4-BE49-F238E27FC236}">
                <a16:creationId xmlns:a16="http://schemas.microsoft.com/office/drawing/2014/main" id="{E84C4A57-7258-100F-1CEE-0162E55669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443" t="15569" r="45757"/>
          <a:stretch/>
        </p:blipFill>
        <p:spPr bwMode="auto">
          <a:xfrm>
            <a:off x="3319500" y="2171700"/>
            <a:ext cx="2273299" cy="35814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C8D0348-F7AD-018D-EA8D-9C0997BFF3EF}"/>
              </a:ext>
            </a:extLst>
          </p:cNvPr>
          <p:cNvSpPr txBox="1"/>
          <p:nvPr/>
        </p:nvSpPr>
        <p:spPr>
          <a:xfrm>
            <a:off x="317500" y="1515547"/>
            <a:ext cx="7700185" cy="369332"/>
          </a:xfrm>
          <a:prstGeom prst="rect">
            <a:avLst/>
          </a:prstGeom>
          <a:noFill/>
        </p:spPr>
        <p:txBody>
          <a:bodyPr wrap="none" rtlCol="0">
            <a:spAutoFit/>
          </a:bodyPr>
          <a:lstStyle/>
          <a:p>
            <a:r>
              <a:rPr lang="en-US" sz="1800" dirty="0"/>
              <a:t>Random variables ”measure” specific aspects of experiment outcome like:</a:t>
            </a:r>
          </a:p>
        </p:txBody>
      </p:sp>
      <p:sp>
        <p:nvSpPr>
          <p:cNvPr id="4" name="TextBox 3">
            <a:extLst>
              <a:ext uri="{FF2B5EF4-FFF2-40B4-BE49-F238E27FC236}">
                <a16:creationId xmlns:a16="http://schemas.microsoft.com/office/drawing/2014/main" id="{FDF83AD9-6536-B686-12AD-EA9D924E3246}"/>
              </a:ext>
            </a:extLst>
          </p:cNvPr>
          <p:cNvSpPr txBox="1"/>
          <p:nvPr/>
        </p:nvSpPr>
        <p:spPr>
          <a:xfrm>
            <a:off x="426467" y="5881082"/>
            <a:ext cx="2321469" cy="338554"/>
          </a:xfrm>
          <a:prstGeom prst="rect">
            <a:avLst/>
          </a:prstGeom>
          <a:noFill/>
        </p:spPr>
        <p:txBody>
          <a:bodyPr wrap="none" rtlCol="0">
            <a:spAutoFit/>
          </a:bodyPr>
          <a:lstStyle/>
          <a:p>
            <a:r>
              <a:rPr lang="en-US" dirty="0"/>
              <a:t>side in which coin lands</a:t>
            </a:r>
          </a:p>
        </p:txBody>
      </p:sp>
      <p:sp>
        <p:nvSpPr>
          <p:cNvPr id="5" name="TextBox 4">
            <a:extLst>
              <a:ext uri="{FF2B5EF4-FFF2-40B4-BE49-F238E27FC236}">
                <a16:creationId xmlns:a16="http://schemas.microsoft.com/office/drawing/2014/main" id="{EC596A10-2D3E-C5DD-1E0D-3A257398718A}"/>
              </a:ext>
            </a:extLst>
          </p:cNvPr>
          <p:cNvSpPr txBox="1"/>
          <p:nvPr/>
        </p:nvSpPr>
        <p:spPr>
          <a:xfrm>
            <a:off x="3536089" y="5852354"/>
            <a:ext cx="1840119" cy="338554"/>
          </a:xfrm>
          <a:prstGeom prst="rect">
            <a:avLst/>
          </a:prstGeom>
          <a:noFill/>
        </p:spPr>
        <p:txBody>
          <a:bodyPr wrap="none" rtlCol="0">
            <a:spAutoFit/>
          </a:bodyPr>
          <a:lstStyle/>
          <a:p>
            <a:r>
              <a:rPr lang="en-US" dirty="0"/>
              <a:t>sum of eyes rolled</a:t>
            </a:r>
          </a:p>
        </p:txBody>
      </p:sp>
      <p:sp>
        <p:nvSpPr>
          <p:cNvPr id="6" name="TextBox 5">
            <a:extLst>
              <a:ext uri="{FF2B5EF4-FFF2-40B4-BE49-F238E27FC236}">
                <a16:creationId xmlns:a16="http://schemas.microsoft.com/office/drawing/2014/main" id="{BA2F1775-5992-5663-654F-75D2E3F85F90}"/>
              </a:ext>
            </a:extLst>
          </p:cNvPr>
          <p:cNvSpPr txBox="1"/>
          <p:nvPr/>
        </p:nvSpPr>
        <p:spPr>
          <a:xfrm>
            <a:off x="6500355" y="5852354"/>
            <a:ext cx="1672253" cy="338554"/>
          </a:xfrm>
          <a:prstGeom prst="rect">
            <a:avLst/>
          </a:prstGeom>
          <a:noFill/>
        </p:spPr>
        <p:txBody>
          <a:bodyPr wrap="none" rtlCol="0">
            <a:spAutoFit/>
          </a:bodyPr>
          <a:lstStyle/>
          <a:p>
            <a:r>
              <a:rPr lang="en-US" dirty="0"/>
              <a:t>distance jumped</a:t>
            </a:r>
          </a:p>
        </p:txBody>
      </p:sp>
    </p:spTree>
    <p:extLst>
      <p:ext uri="{BB962C8B-B14F-4D97-AF65-F5344CB8AC3E}">
        <p14:creationId xmlns:p14="http://schemas.microsoft.com/office/powerpoint/2010/main" val="256643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idx="4294967295"/>
          </p:nvPr>
        </p:nvSpPr>
        <p:spPr>
          <a:xfrm>
            <a:off x="304800" y="152400"/>
            <a:ext cx="8458200" cy="990600"/>
          </a:xfrm>
        </p:spPr>
        <p:txBody>
          <a:bodyPr/>
          <a:lstStyle/>
          <a:p>
            <a:r>
              <a:rPr lang="en-US" altLang="ko-KR" dirty="0"/>
              <a:t>Random Variables</a:t>
            </a:r>
          </a:p>
        </p:txBody>
      </p:sp>
      <p:pic>
        <p:nvPicPr>
          <p:cNvPr id="1126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67" y="2166144"/>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pic>
        <p:nvPicPr>
          <p:cNvPr id="1028" name="Picture 4">
            <a:extLst>
              <a:ext uri="{FF2B5EF4-FFF2-40B4-BE49-F238E27FC236}">
                <a16:creationId xmlns:a16="http://schemas.microsoft.com/office/drawing/2014/main" id="{F3453166-1358-2608-5272-32275155AD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19" r="10226"/>
          <a:stretch/>
        </p:blipFill>
        <p:spPr bwMode="auto">
          <a:xfrm>
            <a:off x="6212532" y="2166144"/>
            <a:ext cx="2247900" cy="35941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um Dice — Games for Young Minds">
            <a:extLst>
              <a:ext uri="{FF2B5EF4-FFF2-40B4-BE49-F238E27FC236}">
                <a16:creationId xmlns:a16="http://schemas.microsoft.com/office/drawing/2014/main" id="{E84C4A57-7258-100F-1CEE-0162E55669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443" t="15569" r="45757"/>
          <a:stretch/>
        </p:blipFill>
        <p:spPr bwMode="auto">
          <a:xfrm>
            <a:off x="3319500" y="2171700"/>
            <a:ext cx="2273299" cy="35814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C8D0348-F7AD-018D-EA8D-9C0997BFF3EF}"/>
              </a:ext>
            </a:extLst>
          </p:cNvPr>
          <p:cNvSpPr txBox="1"/>
          <p:nvPr/>
        </p:nvSpPr>
        <p:spPr>
          <a:xfrm>
            <a:off x="317500" y="1515547"/>
            <a:ext cx="6563015" cy="369332"/>
          </a:xfrm>
          <a:prstGeom prst="rect">
            <a:avLst/>
          </a:prstGeom>
          <a:noFill/>
        </p:spPr>
        <p:txBody>
          <a:bodyPr wrap="none" rtlCol="0">
            <a:spAutoFit/>
          </a:bodyPr>
          <a:lstStyle/>
          <a:p>
            <a:r>
              <a:rPr lang="en-US" sz="1800" dirty="0">
                <a:solidFill>
                  <a:srgbClr val="0070C0"/>
                </a:solidFill>
              </a:rPr>
              <a:t>Domain</a:t>
            </a:r>
            <a:r>
              <a:rPr lang="en-US" sz="1800" dirty="0"/>
              <a:t> of random variable is associated set of possible values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F83AD9-6536-B686-12AD-EA9D924E3246}"/>
                  </a:ext>
                </a:extLst>
              </p:cNvPr>
              <p:cNvSpPr txBox="1"/>
              <p:nvPr/>
            </p:nvSpPr>
            <p:spPr>
              <a:xfrm>
                <a:off x="695359" y="5881082"/>
                <a:ext cx="17940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m:t>
                      </m:r>
                      <m:r>
                        <m:rPr>
                          <m:sty m:val="p"/>
                        </m:rPr>
                        <a:rPr lang="en-US" sz="1800" i="0" dirty="0" smtClean="0">
                          <a:latin typeface="Cambria Math" panose="02040503050406030204" pitchFamily="18" charset="0"/>
                        </a:rPr>
                        <m:t>H</m:t>
                      </m:r>
                      <m:r>
                        <a:rPr lang="en-US" sz="1800" i="0" dirty="0" smtClean="0">
                          <a:latin typeface="Cambria Math" panose="02040503050406030204" pitchFamily="18" charset="0"/>
                        </a:rPr>
                        <m:t>(</m:t>
                      </m:r>
                      <m:r>
                        <m:rPr>
                          <m:sty m:val="p"/>
                        </m:rPr>
                        <a:rPr lang="en-US" sz="1800" i="0" dirty="0" err="1" smtClean="0">
                          <a:latin typeface="Cambria Math" panose="02040503050406030204" pitchFamily="18" charset="0"/>
                        </a:rPr>
                        <m:t>ead</m:t>
                      </m:r>
                      <m:r>
                        <a:rPr lang="en-US" sz="1800" i="0" dirty="0" smtClean="0">
                          <a:latin typeface="Cambria Math" panose="02040503050406030204" pitchFamily="18" charset="0"/>
                        </a:rPr>
                        <m:t>)</m:t>
                      </m:r>
                      <m:r>
                        <a:rPr lang="en-US" sz="1800" i="1" dirty="0" smtClean="0">
                          <a:latin typeface="Cambria Math" panose="02040503050406030204" pitchFamily="18" charset="0"/>
                        </a:rPr>
                        <m:t>, </m:t>
                      </m:r>
                      <m:r>
                        <m:rPr>
                          <m:sty m:val="p"/>
                        </m:rPr>
                        <a:rPr lang="en-US" sz="1800" i="0" dirty="0" smtClean="0">
                          <a:latin typeface="Cambria Math" panose="02040503050406030204" pitchFamily="18" charset="0"/>
                        </a:rPr>
                        <m:t>T</m:t>
                      </m:r>
                      <m:r>
                        <a:rPr lang="en-US" sz="1800" i="0" dirty="0" smtClean="0">
                          <a:latin typeface="Cambria Math" panose="02040503050406030204" pitchFamily="18" charset="0"/>
                        </a:rPr>
                        <m:t>(</m:t>
                      </m:r>
                      <m:r>
                        <m:rPr>
                          <m:sty m:val="p"/>
                        </m:rPr>
                        <a:rPr lang="en-US" sz="1800" i="0" dirty="0" smtClean="0">
                          <a:latin typeface="Cambria Math" panose="02040503050406030204" pitchFamily="18" charset="0"/>
                        </a:rPr>
                        <m:t>ail</m:t>
                      </m:r>
                      <m:r>
                        <a:rPr lang="en-US" sz="1800" i="0" dirty="0" smtClean="0">
                          <a:latin typeface="Cambria Math" panose="02040503050406030204" pitchFamily="18" charset="0"/>
                        </a:rPr>
                        <m:t>)</m:t>
                      </m:r>
                      <m:r>
                        <a:rPr lang="en-US" sz="1800" i="1" dirty="0" smtClean="0">
                          <a:latin typeface="Cambria Math" panose="02040503050406030204" pitchFamily="18" charset="0"/>
                        </a:rPr>
                        <m:t>}</m:t>
                      </m:r>
                    </m:oMath>
                  </m:oMathPara>
                </a14:m>
                <a:endParaRPr lang="en-US" sz="1800" dirty="0"/>
              </a:p>
            </p:txBody>
          </p:sp>
        </mc:Choice>
        <mc:Fallback xmlns="">
          <p:sp>
            <p:nvSpPr>
              <p:cNvPr id="4" name="TextBox 3">
                <a:extLst>
                  <a:ext uri="{FF2B5EF4-FFF2-40B4-BE49-F238E27FC236}">
                    <a16:creationId xmlns:a16="http://schemas.microsoft.com/office/drawing/2014/main" id="{FDF83AD9-6536-B686-12AD-EA9D924E3246}"/>
                  </a:ext>
                </a:extLst>
              </p:cNvPr>
              <p:cNvSpPr txBox="1">
                <a:spLocks noRot="1" noChangeAspect="1" noMove="1" noResize="1" noEditPoints="1" noAdjustHandles="1" noChangeArrowheads="1" noChangeShapeType="1" noTextEdit="1"/>
              </p:cNvSpPr>
              <p:nvPr/>
            </p:nvSpPr>
            <p:spPr>
              <a:xfrm>
                <a:off x="695359" y="5881082"/>
                <a:ext cx="1794081" cy="369332"/>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596A10-2D3E-C5DD-1E0D-3A257398718A}"/>
                  </a:ext>
                </a:extLst>
              </p:cNvPr>
              <p:cNvSpPr txBox="1"/>
              <p:nvPr/>
            </p:nvSpPr>
            <p:spPr>
              <a:xfrm>
                <a:off x="3911000" y="5870645"/>
                <a:ext cx="12057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{1,…,12}</m:t>
                      </m:r>
                    </m:oMath>
                  </m:oMathPara>
                </a14:m>
                <a:endParaRPr lang="en-US" sz="1800" dirty="0"/>
              </a:p>
            </p:txBody>
          </p:sp>
        </mc:Choice>
        <mc:Fallback xmlns="">
          <p:sp>
            <p:nvSpPr>
              <p:cNvPr id="5" name="TextBox 4">
                <a:extLst>
                  <a:ext uri="{FF2B5EF4-FFF2-40B4-BE49-F238E27FC236}">
                    <a16:creationId xmlns:a16="http://schemas.microsoft.com/office/drawing/2014/main" id="{EC596A10-2D3E-C5DD-1E0D-3A257398718A}"/>
                  </a:ext>
                </a:extLst>
              </p:cNvPr>
              <p:cNvSpPr txBox="1">
                <a:spLocks noRot="1" noChangeAspect="1" noMove="1" noResize="1" noEditPoints="1" noAdjustHandles="1" noChangeArrowheads="1" noChangeShapeType="1" noTextEdit="1"/>
              </p:cNvSpPr>
              <p:nvPr/>
            </p:nvSpPr>
            <p:spPr>
              <a:xfrm>
                <a:off x="3911000" y="5870645"/>
                <a:ext cx="1205779" cy="369332"/>
              </a:xfrm>
              <a:prstGeom prst="rect">
                <a:avLst/>
              </a:prstGeom>
              <a:blipFill>
                <a:blip r:embed="rId7"/>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A2F1775-5992-5663-654F-75D2E3F85F90}"/>
                  </a:ext>
                </a:extLst>
              </p:cNvPr>
              <p:cNvSpPr txBox="1"/>
              <p:nvPr/>
            </p:nvSpPr>
            <p:spPr>
              <a:xfrm>
                <a:off x="7077732" y="5852354"/>
                <a:ext cx="5597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sz="1800" b="0" i="1" dirty="0" smtClean="0">
                              <a:latin typeface="Cambria Math" panose="02040503050406030204" pitchFamily="18" charset="0"/>
                              <a:ea typeface="Cambria Math" panose="02040503050406030204" pitchFamily="18" charset="0"/>
                            </a:rPr>
                          </m:ctrlPr>
                        </m:sSubPr>
                        <m:e>
                          <m:r>
                            <a:rPr lang="en-US" sz="1800" i="1" dirty="0" smtClean="0">
                              <a:latin typeface="Cambria Math" panose="02040503050406030204" pitchFamily="18" charset="0"/>
                              <a:ea typeface="Cambria Math" panose="02040503050406030204" pitchFamily="18" charset="0"/>
                            </a:rPr>
                            <m:t>ℝ</m:t>
                          </m:r>
                        </m:e>
                        <m:sub>
                          <m:r>
                            <a:rPr lang="en-AU" sz="1800" b="0" i="1" dirty="0" smtClean="0">
                              <a:latin typeface="Cambria Math" panose="02040503050406030204" pitchFamily="18" charset="0"/>
                              <a:ea typeface="Cambria Math" panose="02040503050406030204" pitchFamily="18" charset="0"/>
                            </a:rPr>
                            <m:t>+</m:t>
                          </m:r>
                        </m:sub>
                      </m:sSub>
                    </m:oMath>
                  </m:oMathPara>
                </a14:m>
                <a:endParaRPr lang="en-US" sz="1800" dirty="0"/>
              </a:p>
            </p:txBody>
          </p:sp>
        </mc:Choice>
        <mc:Fallback xmlns="">
          <p:sp>
            <p:nvSpPr>
              <p:cNvPr id="6" name="TextBox 5">
                <a:extLst>
                  <a:ext uri="{FF2B5EF4-FFF2-40B4-BE49-F238E27FC236}">
                    <a16:creationId xmlns:a16="http://schemas.microsoft.com/office/drawing/2014/main" id="{BA2F1775-5992-5663-654F-75D2E3F85F90}"/>
                  </a:ext>
                </a:extLst>
              </p:cNvPr>
              <p:cNvSpPr txBox="1">
                <a:spLocks noRot="1" noChangeAspect="1" noMove="1" noResize="1" noEditPoints="1" noAdjustHandles="1" noChangeArrowheads="1" noChangeShapeType="1" noTextEdit="1"/>
              </p:cNvSpPr>
              <p:nvPr/>
            </p:nvSpPr>
            <p:spPr>
              <a:xfrm>
                <a:off x="7077732" y="5852354"/>
                <a:ext cx="559704"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74914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3FD68-35A0-6C62-4C92-93C310D72483}"/>
              </a:ext>
            </a:extLst>
          </p:cNvPr>
          <p:cNvSpPr>
            <a:spLocks noGrp="1"/>
          </p:cNvSpPr>
          <p:nvPr>
            <p:ph type="title"/>
          </p:nvPr>
        </p:nvSpPr>
        <p:spPr/>
        <p:txBody>
          <a:bodyPr/>
          <a:lstStyle/>
          <a:p>
            <a:r>
              <a:rPr lang="en-US" dirty="0"/>
              <a:t>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65A48E-1EBA-7887-329A-D8E8DCBAF819}"/>
                  </a:ext>
                </a:extLst>
              </p:cNvPr>
              <p:cNvSpPr>
                <a:spLocks noGrp="1"/>
              </p:cNvSpPr>
              <p:nvPr>
                <p:ph idx="1"/>
              </p:nvPr>
            </p:nvSpPr>
            <p:spPr/>
            <p:txBody>
              <a:bodyPr/>
              <a:lstStyle/>
              <a:p>
                <a:pPr marL="98425" indent="0">
                  <a:buNone/>
                </a:pPr>
                <a:r>
                  <a:rPr lang="en-US" sz="2000" b="1" dirty="0"/>
                  <a:t>Abstract notation</a:t>
                </a:r>
              </a:p>
              <a:p>
                <a:r>
                  <a:rPr lang="en-US" sz="2000" dirty="0">
                    <a:solidFill>
                      <a:srgbClr val="0070C0"/>
                    </a:solidFill>
                  </a:rPr>
                  <a:t>Random variable </a:t>
                </a:r>
                <a14:m>
                  <m:oMath xmlns:m="http://schemas.openxmlformats.org/officeDocument/2006/math">
                    <m:r>
                      <a:rPr lang="en-US" sz="2000" i="1" dirty="0" smtClean="0">
                        <a:latin typeface="Cambria Math" panose="02040503050406030204" pitchFamily="18" charset="0"/>
                      </a:rPr>
                      <m:t>𝑋</m:t>
                    </m:r>
                  </m:oMath>
                </a14:m>
                <a:r>
                  <a:rPr lang="en-US" sz="2000" dirty="0"/>
                  <a:t> (capital letter)</a:t>
                </a:r>
              </a:p>
              <a:p>
                <a:r>
                  <a:rPr lang="en-US" sz="2000" dirty="0">
                    <a:solidFill>
                      <a:srgbClr val="0070C0"/>
                    </a:solidFill>
                  </a:rPr>
                  <a:t>Domain</a:t>
                </a:r>
                <a:r>
                  <a:rPr lang="en-US" sz="2000" dirty="0"/>
                  <a:t> </a:t>
                </a:r>
                <a14:m>
                  <m:oMath xmlns:m="http://schemas.openxmlformats.org/officeDocument/2006/math">
                    <m:sSub>
                      <m:sSubPr>
                        <m:ctrlPr>
                          <a:rPr lang="en-AU" sz="2000" b="0" i="1" dirty="0" smtClean="0">
                            <a:latin typeface="Cambria Math" panose="02040503050406030204" pitchFamily="18" charset="0"/>
                          </a:rPr>
                        </m:ctrlPr>
                      </m:sSubPr>
                      <m:e>
                        <m:r>
                          <a:rPr lang="en-US" sz="2000" i="1" dirty="0" smtClean="0">
                            <a:latin typeface="Cambria Math" panose="02040503050406030204" pitchFamily="18" charset="0"/>
                          </a:rPr>
                          <m:t>𝐷</m:t>
                        </m:r>
                      </m:e>
                      <m:sub>
                        <m:r>
                          <a:rPr lang="en-AU" sz="2000" b="0" i="1" dirty="0" smtClean="0">
                            <a:latin typeface="Cambria Math" panose="02040503050406030204" pitchFamily="18" charset="0"/>
                          </a:rPr>
                          <m:t>𝑋</m:t>
                        </m:r>
                      </m:sub>
                    </m:sSub>
                  </m:oMath>
                </a14:m>
                <a:endParaRPr lang="en-US" sz="2000" dirty="0"/>
              </a:p>
              <a:p>
                <a:r>
                  <a:rPr lang="en-US" sz="2000" dirty="0"/>
                  <a:t>Concrete </a:t>
                </a:r>
                <a:r>
                  <a:rPr lang="en-US" sz="2000" dirty="0">
                    <a:solidFill>
                      <a:srgbClr val="0070C0"/>
                    </a:solidFill>
                  </a:rPr>
                  <a:t>value</a:t>
                </a:r>
                <a:r>
                  <a:rPr lang="en-US" sz="2000" dirty="0"/>
                  <a:t> </a:t>
                </a:r>
                <a14:m>
                  <m:oMath xmlns:m="http://schemas.openxmlformats.org/officeDocument/2006/math">
                    <m:sSub>
                      <m:sSubPr>
                        <m:ctrlPr>
                          <a:rPr lang="en-AU" sz="2000" b="0" i="1" dirty="0" smtClean="0">
                            <a:latin typeface="Cambria Math" panose="02040503050406030204" pitchFamily="18" charset="0"/>
                          </a:rPr>
                        </m:ctrlPr>
                      </m:sSubPr>
                      <m:e>
                        <m:r>
                          <a:rPr lang="en-AU" sz="2000" b="0" i="1" dirty="0" smtClean="0">
                            <a:latin typeface="Cambria Math" panose="02040503050406030204" pitchFamily="18" charset="0"/>
                          </a:rPr>
                          <m:t>𝑥</m:t>
                        </m:r>
                        <m:r>
                          <a:rPr lang="en-AU" sz="2000" b="0" i="1" dirty="0" smtClean="0">
                            <a:latin typeface="Cambria Math" panose="02040503050406030204" pitchFamily="18" charset="0"/>
                          </a:rPr>
                          <m:t>∈</m:t>
                        </m:r>
                        <m:r>
                          <a:rPr lang="en-US" sz="2000" i="1" dirty="0" smtClean="0">
                            <a:latin typeface="Cambria Math" panose="02040503050406030204" pitchFamily="18" charset="0"/>
                          </a:rPr>
                          <m:t>𝐷</m:t>
                        </m:r>
                      </m:e>
                      <m:sub>
                        <m:r>
                          <a:rPr lang="en-AU" sz="2000" b="0" i="1" dirty="0" smtClean="0">
                            <a:latin typeface="Cambria Math" panose="02040503050406030204" pitchFamily="18" charset="0"/>
                          </a:rPr>
                          <m:t>𝑋</m:t>
                        </m:r>
                      </m:sub>
                    </m:sSub>
                  </m:oMath>
                </a14:m>
                <a:r>
                  <a:rPr lang="en-US" sz="2000" dirty="0"/>
                  <a:t> (non-capital letter)</a:t>
                </a:r>
              </a:p>
              <a:p>
                <a:r>
                  <a:rPr lang="en-US" sz="2000" dirty="0">
                    <a:solidFill>
                      <a:srgbClr val="0070C0"/>
                    </a:solidFill>
                  </a:rPr>
                  <a:t>Event</a:t>
                </a:r>
                <a:r>
                  <a:rPr lang="en-US" sz="2000" dirty="0"/>
                  <a:t> is subset </a:t>
                </a:r>
                <a14:m>
                  <m:oMath xmlns:m="http://schemas.openxmlformats.org/officeDocument/2006/math">
                    <m:r>
                      <a:rPr lang="en-AU" sz="2000" i="1">
                        <a:latin typeface="Cambria Math" panose="02040503050406030204" pitchFamily="18" charset="0"/>
                        <a:ea typeface="Cambria Math" panose="02040503050406030204" pitchFamily="18" charset="0"/>
                      </a:rPr>
                      <m:t>𝒳</m:t>
                    </m:r>
                    <m:r>
                      <a:rPr lang="en-AU" sz="2000" b="0" i="1" smtClean="0">
                        <a:latin typeface="Cambria Math" panose="02040503050406030204" pitchFamily="18" charset="0"/>
                        <a:ea typeface="Cambria Math" panose="02040503050406030204" pitchFamily="18" charset="0"/>
                      </a:rPr>
                      <m:t>⊆</m:t>
                    </m:r>
                    <m:sSub>
                      <m:sSubPr>
                        <m:ctrlPr>
                          <a:rPr lang="en-AU" sz="2000" b="0" i="1" dirty="0" smtClean="0">
                            <a:latin typeface="Cambria Math" panose="02040503050406030204" pitchFamily="18" charset="0"/>
                          </a:rPr>
                        </m:ctrlPr>
                      </m:sSubPr>
                      <m:e>
                        <m:r>
                          <a:rPr lang="en-US" sz="2000" i="1" dirty="0" smtClean="0">
                            <a:latin typeface="Cambria Math" panose="02040503050406030204" pitchFamily="18" charset="0"/>
                          </a:rPr>
                          <m:t>𝐷</m:t>
                        </m:r>
                      </m:e>
                      <m:sub>
                        <m:r>
                          <a:rPr lang="en-AU" sz="2000" b="0" i="1" dirty="0" smtClean="0">
                            <a:latin typeface="Cambria Math" panose="02040503050406030204" pitchFamily="18" charset="0"/>
                          </a:rPr>
                          <m:t>𝑋</m:t>
                        </m:r>
                      </m:sub>
                    </m:sSub>
                  </m:oMath>
                </a14:m>
                <a:r>
                  <a:rPr lang="en-US" sz="2000" dirty="0"/>
                  <a:t> (e.g., even dice sum: </a:t>
                </a:r>
                <a14:m>
                  <m:oMath xmlns:m="http://schemas.openxmlformats.org/officeDocument/2006/math">
                    <m:r>
                      <a:rPr lang="en-AU" sz="2000" i="1">
                        <a:latin typeface="Cambria Math" panose="02040503050406030204" pitchFamily="18" charset="0"/>
                        <a:ea typeface="Cambria Math" panose="02040503050406030204" pitchFamily="18" charset="0"/>
                      </a:rPr>
                      <m:t>𝒳</m:t>
                    </m:r>
                    <m:r>
                      <a:rPr lang="en-AU" sz="2000" b="0" i="1" smtClean="0">
                        <a:latin typeface="Cambria Math" panose="02040503050406030204" pitchFamily="18" charset="0"/>
                        <a:ea typeface="Cambria Math" panose="02040503050406030204" pitchFamily="18" charset="0"/>
                      </a:rPr>
                      <m:t>={2, 4, …,10, 12}</m:t>
                    </m:r>
                  </m:oMath>
                </a14:m>
                <a:r>
                  <a:rPr lang="en-US" sz="2000" dirty="0"/>
                  <a:t>)</a:t>
                </a:r>
              </a:p>
              <a:p>
                <a:pPr marL="98425" indent="0">
                  <a:buNone/>
                </a:pPr>
                <a:endParaRPr lang="en-US" sz="2000" dirty="0"/>
              </a:p>
              <a:p>
                <a:pPr marL="98425" indent="0">
                  <a:buNone/>
                </a:pPr>
                <a:r>
                  <a:rPr lang="en-US" sz="2000" b="1" dirty="0"/>
                  <a:t>Probability distributions </a:t>
                </a:r>
              </a:p>
              <a:p>
                <a:pPr marL="98425" indent="0">
                  <a:buNone/>
                </a:pPr>
                <a:r>
                  <a:rPr lang="en-US" sz="2000" dirty="0"/>
                  <a:t>In limit of total number of trials (𝑛) to infinity, can define the probability of an </a:t>
                </a:r>
                <a:r>
                  <a:rPr lang="en-US" sz="2000" dirty="0">
                    <a:solidFill>
                      <a:srgbClr val="0070C0"/>
                    </a:solidFill>
                  </a:rPr>
                  <a:t>event</a:t>
                </a:r>
                <a:r>
                  <a:rPr lang="en-US" sz="2000" dirty="0"/>
                  <a:t> as limit of fraction:</a:t>
                </a:r>
              </a:p>
              <a:p>
                <a:pPr marL="98425" indent="0">
                  <a:buNone/>
                </a:pPr>
                <a:r>
                  <a:rPr lang="en-US" sz="2000" dirty="0"/>
                  <a:t> </a:t>
                </a:r>
              </a:p>
              <a:p>
                <a:pPr marL="98425" indent="0">
                  <a:buNone/>
                </a:pPr>
                <a14:m>
                  <m:oMathPara xmlns:m="http://schemas.openxmlformats.org/officeDocument/2006/math">
                    <m:oMathParaPr>
                      <m:jc m:val="centerGroup"/>
                    </m:oMathParaPr>
                    <m:oMath xmlns:m="http://schemas.openxmlformats.org/officeDocument/2006/math">
                      <m:r>
                        <m:rPr>
                          <m:sty m:val="p"/>
                        </m:rPr>
                        <a:rPr lang="en-AU" sz="2000" b="0" i="0" smtClean="0">
                          <a:latin typeface="Cambria Math" panose="02040503050406030204" pitchFamily="18" charset="0"/>
                        </a:rPr>
                        <m:t>P</m:t>
                      </m:r>
                      <m:d>
                        <m:dPr>
                          <m:ctrlPr>
                            <a:rPr lang="en-AU" sz="2000" b="0" i="1" smtClean="0">
                              <a:latin typeface="Cambria Math" panose="02040503050406030204" pitchFamily="18" charset="0"/>
                            </a:rPr>
                          </m:ctrlPr>
                        </m:dPr>
                        <m:e>
                          <m:r>
                            <a:rPr lang="en-AU" sz="2000" b="0" i="1" smtClean="0">
                              <a:latin typeface="Cambria Math" panose="02040503050406030204" pitchFamily="18" charset="0"/>
                            </a:rPr>
                            <m:t>𝑋</m:t>
                          </m:r>
                          <m:r>
                            <a:rPr lang="en-AU" sz="2000" b="0" i="1" smtClean="0">
                              <a:latin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𝒳</m:t>
                          </m:r>
                        </m:e>
                      </m:d>
                      <m:r>
                        <a:rPr lang="en-AU" sz="2000" b="0" i="1" smtClean="0">
                          <a:latin typeface="Cambria Math" panose="02040503050406030204" pitchFamily="18" charset="0"/>
                        </a:rPr>
                        <m:t>=</m:t>
                      </m:r>
                      <m:limLow>
                        <m:limLowPr>
                          <m:ctrlPr>
                            <a:rPr lang="en-AU" sz="2000" b="0" i="1" smtClean="0">
                              <a:latin typeface="Cambria Math" panose="02040503050406030204" pitchFamily="18" charset="0"/>
                            </a:rPr>
                          </m:ctrlPr>
                        </m:limLowPr>
                        <m:e>
                          <m:r>
                            <m:rPr>
                              <m:sty m:val="p"/>
                            </m:rPr>
                            <a:rPr lang="en-AU" sz="2000" b="0" i="0" smtClean="0">
                              <a:latin typeface="Cambria Math" panose="02040503050406030204" pitchFamily="18" charset="0"/>
                            </a:rPr>
                            <m:t>lim</m:t>
                          </m:r>
                        </m:e>
                        <m:lim>
                          <m:r>
                            <a:rPr lang="en-AU" sz="2000" b="0" i="1" smtClean="0">
                              <a:latin typeface="Cambria Math" panose="02040503050406030204" pitchFamily="18" charset="0"/>
                            </a:rPr>
                            <m:t>𝑛</m:t>
                          </m:r>
                          <m:r>
                            <a:rPr lang="en-AU" sz="2000" b="0" i="1" smtClean="0">
                              <a:latin typeface="Cambria Math" panose="02040503050406030204" pitchFamily="18" charset="0"/>
                            </a:rPr>
                            <m:t>→∞</m:t>
                          </m:r>
                        </m:lim>
                      </m:limLow>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m:rPr>
                              <m:nor/>
                            </m:rPr>
                            <a:rPr lang="en-AU" sz="2000" b="0" i="0" dirty="0" smtClean="0">
                              <a:solidFill>
                                <a:srgbClr val="0070C0"/>
                              </a:solidFill>
                            </a:rPr>
                            <m:t>#</m:t>
                          </m:r>
                          <m:r>
                            <m:rPr>
                              <m:nor/>
                            </m:rPr>
                            <a:rPr lang="en-AU" sz="2000" b="0" i="0" dirty="0" smtClean="0">
                              <a:solidFill>
                                <a:srgbClr val="0070C0"/>
                              </a:solidFill>
                            </a:rPr>
                            <m:t>trials</m:t>
                          </m:r>
                          <m:r>
                            <m:rPr>
                              <m:nor/>
                            </m:rPr>
                            <a:rPr lang="en-AU" sz="2000" b="0" i="0" dirty="0" smtClean="0">
                              <a:solidFill>
                                <a:srgbClr val="0070C0"/>
                              </a:solidFill>
                            </a:rPr>
                            <m:t> </m:t>
                          </m:r>
                          <m:r>
                            <m:rPr>
                              <m:nor/>
                            </m:rPr>
                            <a:rPr lang="en-AU" sz="2000" b="0" i="0" dirty="0" smtClean="0">
                              <a:solidFill>
                                <a:srgbClr val="0070C0"/>
                              </a:solidFill>
                            </a:rPr>
                            <m:t>with</m:t>
                          </m:r>
                          <m:r>
                            <m:rPr>
                              <m:nor/>
                            </m:rPr>
                            <a:rPr lang="en-AU" sz="2000" b="0" i="0" dirty="0" smtClean="0">
                              <a:solidFill>
                                <a:srgbClr val="0070C0"/>
                              </a:solidFill>
                            </a:rPr>
                            <m:t> </m:t>
                          </m:r>
                          <m:r>
                            <a:rPr lang="en-AU" sz="2000" b="0" i="1" dirty="0" smtClean="0">
                              <a:solidFill>
                                <a:srgbClr val="0070C0"/>
                              </a:solidFill>
                              <a:latin typeface="Cambria Math" panose="02040503050406030204" pitchFamily="18" charset="0"/>
                            </a:rPr>
                            <m:t>𝑋</m:t>
                          </m:r>
                          <m:r>
                            <a:rPr lang="en-AU" sz="2000" i="1" smtClean="0">
                              <a:solidFill>
                                <a:srgbClr val="0070C0"/>
                              </a:solidFill>
                              <a:latin typeface="Cambria Math" panose="02040503050406030204" pitchFamily="18" charset="0"/>
                            </a:rPr>
                            <m:t>∈</m:t>
                          </m:r>
                          <m:r>
                            <a:rPr lang="en-AU" sz="2000" i="1">
                              <a:solidFill>
                                <a:srgbClr val="0070C0"/>
                              </a:solidFill>
                              <a:latin typeface="Cambria Math" panose="02040503050406030204" pitchFamily="18" charset="0"/>
                              <a:ea typeface="Cambria Math" panose="02040503050406030204" pitchFamily="18" charset="0"/>
                            </a:rPr>
                            <m:t>𝒳</m:t>
                          </m:r>
                        </m:num>
                        <m:den>
                          <m:r>
                            <m:rPr>
                              <m:nor/>
                            </m:rPr>
                            <a:rPr lang="en-AU" sz="2000" b="0" i="1" dirty="0" smtClean="0">
                              <a:solidFill>
                                <a:srgbClr val="0070C0"/>
                              </a:solidFill>
                              <a:latin typeface="Cambria Math" panose="02040503050406030204" pitchFamily="18" charset="0"/>
                              <a:ea typeface="Cambria Math" panose="02040503050406030204" pitchFamily="18" charset="0"/>
                            </a:rPr>
                            <m:t>n</m:t>
                          </m:r>
                        </m:den>
                      </m:f>
                    </m:oMath>
                  </m:oMathPara>
                </a14:m>
                <a:endParaRPr lang="en-US" sz="2000" dirty="0"/>
              </a:p>
              <a:p>
                <a:pPr marL="98425" indent="0">
                  <a:buNone/>
                </a:pPr>
                <a:endParaRPr lang="en-US" sz="2000" dirty="0"/>
              </a:p>
              <a:p>
                <a:pPr marL="98425" indent="0">
                  <a:buNone/>
                </a:pPr>
                <a:r>
                  <a:rPr lang="en-US" sz="2000" dirty="0"/>
                  <a:t>Set of all those probabilities is called the </a:t>
                </a:r>
                <a:r>
                  <a:rPr lang="en-US" sz="2000" dirty="0">
                    <a:solidFill>
                      <a:srgbClr val="0070C0"/>
                    </a:solidFill>
                  </a:rPr>
                  <a:t>probability distribution </a:t>
                </a:r>
                <a:r>
                  <a:rPr lang="en-US" sz="2000" dirty="0"/>
                  <a:t>of </a:t>
                </a:r>
                <a14:m>
                  <m:oMath xmlns:m="http://schemas.openxmlformats.org/officeDocument/2006/math">
                    <m:r>
                      <a:rPr lang="en-AU" sz="2000" b="0" i="1" smtClean="0">
                        <a:latin typeface="Cambria Math" panose="02040503050406030204" pitchFamily="18" charset="0"/>
                      </a:rPr>
                      <m:t>𝑋</m:t>
                    </m:r>
                  </m:oMath>
                </a14:m>
                <a:r>
                  <a:rPr lang="en-US" sz="2000" dirty="0"/>
                  <a:t>.</a:t>
                </a:r>
              </a:p>
            </p:txBody>
          </p:sp>
        </mc:Choice>
        <mc:Fallback xmlns="">
          <p:sp>
            <p:nvSpPr>
              <p:cNvPr id="3" name="Content Placeholder 2">
                <a:extLst>
                  <a:ext uri="{FF2B5EF4-FFF2-40B4-BE49-F238E27FC236}">
                    <a16:creationId xmlns:a16="http://schemas.microsoft.com/office/drawing/2014/main" id="{F565A48E-1EBA-7887-329A-D8E8DCBAF819}"/>
                  </a:ext>
                </a:extLst>
              </p:cNvPr>
              <p:cNvSpPr>
                <a:spLocks noGrp="1" noRot="1" noChangeAspect="1" noMove="1" noResize="1" noEditPoints="1" noAdjustHandles="1" noChangeArrowheads="1" noChangeShapeType="1" noTextEdit="1"/>
              </p:cNvSpPr>
              <p:nvPr>
                <p:ph idx="1"/>
              </p:nvPr>
            </p:nvSpPr>
            <p:spPr>
              <a:blipFill>
                <a:blip r:embed="rId2"/>
                <a:stretch>
                  <a:fillRect t="-845" b="-12113"/>
                </a:stretch>
              </a:blipFill>
            </p:spPr>
            <p:txBody>
              <a:bodyPr/>
              <a:lstStyle/>
              <a:p>
                <a:r>
                  <a:rPr lang="en-US">
                    <a:noFill/>
                  </a:rPr>
                  <a:t> </a:t>
                </a:r>
              </a:p>
            </p:txBody>
          </p:sp>
        </mc:Fallback>
      </mc:AlternateContent>
    </p:spTree>
    <p:extLst>
      <p:ext uri="{BB962C8B-B14F-4D97-AF65-F5344CB8AC3E}">
        <p14:creationId xmlns:p14="http://schemas.microsoft.com/office/powerpoint/2010/main" val="358147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idx="4294967295"/>
          </p:nvPr>
        </p:nvSpPr>
        <p:spPr>
          <a:xfrm>
            <a:off x="304800" y="152400"/>
            <a:ext cx="8458200" cy="990600"/>
          </a:xfrm>
        </p:spPr>
        <p:txBody>
          <a:bodyPr/>
          <a:lstStyle/>
          <a:p>
            <a:r>
              <a:rPr lang="en-US" altLang="ko-KR" dirty="0"/>
              <a:t>Discrete Random Variables</a:t>
            </a:r>
          </a:p>
        </p:txBody>
      </p:sp>
      <mc:AlternateContent xmlns:mc="http://schemas.openxmlformats.org/markup-compatibility/2006" xmlns:a14="http://schemas.microsoft.com/office/drawing/2010/main">
        <mc:Choice Requires="a14">
          <p:sp>
            <p:nvSpPr>
              <p:cNvPr id="13315" name="Content Placeholder 2"/>
              <p:cNvSpPr>
                <a:spLocks noGrp="1" noChangeArrowheads="1"/>
              </p:cNvSpPr>
              <p:nvPr>
                <p:ph idx="4294967295"/>
              </p:nvPr>
            </p:nvSpPr>
            <p:spPr>
              <a:xfrm>
                <a:off x="176769" y="1500187"/>
                <a:ext cx="8312150" cy="1424757"/>
              </a:xfrm>
            </p:spPr>
            <p:txBody>
              <a:bodyPr/>
              <a:lstStyle/>
              <a:p>
                <a:pPr marL="0" lvl="0" indent="0">
                  <a:spcBef>
                    <a:spcPct val="0"/>
                  </a:spcBef>
                  <a:buNone/>
                  <a:defRPr/>
                </a:pPr>
                <a:r>
                  <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RV is called discrete if there is </a:t>
                </a:r>
                <a:r>
                  <a:rPr kumimoji="0" lang="en-US" sz="180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rPr>
                  <a:t>probability mass function </a:t>
                </a:r>
                <a14:m>
                  <m:oMath xmlns:m="http://schemas.openxmlformats.org/officeDocument/2006/math">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𝑝</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d>
                      <m:d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𝑥</m:t>
                        </m:r>
                      </m:e>
                    </m:d>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𝐷</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ℝ</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sub>
                    </m:sSub>
                  </m:oMath>
                </a14:m>
                <a:r>
                  <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a:t>
                </a:r>
                <a:r>
                  <a:rPr lang="en-US" sz="1800" kern="1200" dirty="0">
                    <a:solidFill>
                      <a:srgbClr val="000000"/>
                    </a:solidFill>
                    <a:latin typeface="Tahoma" panose="020B0604030504040204" pitchFamily="34" charset="0"/>
                    <a:ea typeface="굴림" pitchFamily="6" charset="-127"/>
                    <a:cs typeface="Arial"/>
                  </a:rPr>
                  <a:t>such that for all events </a:t>
                </a:r>
                <a14:m>
                  <m:oMath xmlns:m="http://schemas.openxmlformats.org/officeDocument/2006/math">
                    <m:r>
                      <a:rPr lang="en-AU" sz="1800" i="1">
                        <a:latin typeface="Cambria Math" panose="02040503050406030204" pitchFamily="18" charset="0"/>
                        <a:ea typeface="Cambria Math" panose="02040503050406030204" pitchFamily="18" charset="0"/>
                      </a:rPr>
                      <m:t>𝒳</m:t>
                    </m:r>
                    <m:r>
                      <a:rPr lang="en-AU" sz="1800" i="1">
                        <a:latin typeface="Cambria Math" panose="02040503050406030204" pitchFamily="18" charset="0"/>
                        <a:ea typeface="Cambria Math" panose="02040503050406030204" pitchFamily="18" charset="0"/>
                      </a:rPr>
                      <m:t>⊆</m:t>
                    </m:r>
                    <m:sSub>
                      <m:sSubPr>
                        <m:ctrlPr>
                          <a:rPr lang="en-AU" sz="1800" i="1" dirty="0">
                            <a:latin typeface="Cambria Math" panose="02040503050406030204" pitchFamily="18" charset="0"/>
                          </a:rPr>
                        </m:ctrlPr>
                      </m:sSubPr>
                      <m:e>
                        <m:r>
                          <a:rPr lang="en-US" sz="1800" i="1" dirty="0">
                            <a:latin typeface="Cambria Math" panose="02040503050406030204" pitchFamily="18" charset="0"/>
                          </a:rPr>
                          <m:t>𝐷</m:t>
                        </m:r>
                      </m:e>
                      <m:sub>
                        <m:r>
                          <a:rPr lang="en-AU" sz="1800" i="1" dirty="0">
                            <a:latin typeface="Cambria Math" panose="02040503050406030204" pitchFamily="18" charset="0"/>
                          </a:rPr>
                          <m:t>𝑋</m:t>
                        </m:r>
                      </m:sub>
                    </m:sSub>
                  </m:oMath>
                </a14:m>
                <a:endPar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0" lvl="0" indent="0">
                  <a:spcBef>
                    <a:spcPct val="0"/>
                  </a:spcBef>
                  <a:buNone/>
                  <a:defRPr/>
                </a:pPr>
                <a14:m>
                  <m:oMathPara xmlns:m="http://schemas.openxmlformats.org/officeDocument/2006/math">
                    <m:oMathParaPr>
                      <m:jc m:val="centerGroup"/>
                    </m:oMathParaPr>
                    <m:oMath xmlns:m="http://schemas.openxmlformats.org/officeDocument/2006/math">
                      <m:r>
                        <m:rPr>
                          <m:sty m:val="p"/>
                        </m:rPr>
                        <a:rPr lang="en-AU" sz="1800" b="0" i="0" smtClean="0">
                          <a:latin typeface="Cambria Math" panose="02040503050406030204" pitchFamily="18" charset="0"/>
                        </a:rPr>
                        <m:t>P</m:t>
                      </m:r>
                      <m:d>
                        <m:dPr>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r>
                            <a:rPr lang="en-AU" sz="1800" b="0" i="1" smtClean="0">
                              <a:latin typeface="Cambria Math" panose="02040503050406030204" pitchFamily="18" charset="0"/>
                            </a:rPr>
                            <m:t>∈</m:t>
                          </m:r>
                          <m:r>
                            <a:rPr lang="en-AU" sz="1800" b="0" i="1" smtClean="0">
                              <a:latin typeface="Cambria Math" panose="02040503050406030204" pitchFamily="18" charset="0"/>
                              <a:ea typeface="Cambria Math" panose="02040503050406030204" pitchFamily="18" charset="0"/>
                            </a:rPr>
                            <m:t>𝒳</m:t>
                          </m:r>
                        </m:e>
                      </m:d>
                      <m:r>
                        <a:rPr lang="en-AU" sz="1800" b="0" i="1" smtClean="0">
                          <a:latin typeface="Cambria Math" panose="02040503050406030204" pitchFamily="18" charset="0"/>
                        </a:rPr>
                        <m:t>=</m:t>
                      </m:r>
                      <m:nary>
                        <m:naryPr>
                          <m:chr m:val="∑"/>
                          <m:supHide m:val="on"/>
                          <m:ctrlPr>
                            <a:rPr lang="en-AU" sz="1800" b="0" i="1" smtClean="0">
                              <a:latin typeface="Cambria Math" panose="02040503050406030204" pitchFamily="18" charset="0"/>
                            </a:rPr>
                          </m:ctrlPr>
                        </m:naryPr>
                        <m:sub>
                          <m:r>
                            <a:rPr lang="en-AU" sz="1800" b="0" i="1" smtClean="0">
                              <a:latin typeface="Cambria Math" panose="02040503050406030204" pitchFamily="18" charset="0"/>
                            </a:rPr>
                            <m:t>𝑥</m:t>
                          </m:r>
                          <m:r>
                            <a:rPr lang="en-AU" sz="1800" b="0" i="1" smtClean="0">
                              <a:latin typeface="Cambria Math" panose="02040503050406030204" pitchFamily="18" charset="0"/>
                            </a:rPr>
                            <m:t>∈</m:t>
                          </m:r>
                          <m:r>
                            <a:rPr lang="en-AU" sz="1800" i="1">
                              <a:latin typeface="Cambria Math" panose="02040503050406030204" pitchFamily="18" charset="0"/>
                              <a:ea typeface="Cambria Math" panose="02040503050406030204" pitchFamily="18" charset="0"/>
                            </a:rPr>
                            <m:t>𝒳</m:t>
                          </m:r>
                        </m:sub>
                        <m:sup/>
                        <m:e>
                          <m:sSub>
                            <m:sSubPr>
                              <m:ctrlPr>
                                <a:rPr lang="en-AU" sz="1800" b="0" i="1" smtClean="0">
                                  <a:latin typeface="Cambria Math" panose="02040503050406030204" pitchFamily="18" charset="0"/>
                                </a:rPr>
                              </m:ctrlPr>
                            </m:sSubPr>
                            <m:e>
                              <m:r>
                                <a:rPr lang="en-AU" sz="1800" b="0" i="1" smtClean="0">
                                  <a:latin typeface="Cambria Math" panose="02040503050406030204" pitchFamily="18" charset="0"/>
                                </a:rPr>
                                <m:t>𝑝</m:t>
                              </m:r>
                            </m:e>
                            <m:sub>
                              <m:r>
                                <a:rPr lang="en-AU" sz="1800" b="0" i="1" smtClean="0">
                                  <a:latin typeface="Cambria Math" panose="02040503050406030204" pitchFamily="18" charset="0"/>
                                </a:rPr>
                                <m:t>𝑋</m:t>
                              </m:r>
                            </m:sub>
                          </m:sSub>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oMath>
                  </m:oMathPara>
                </a14:m>
                <a:endPar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sz="1800" b="1" kern="1200" dirty="0">
                  <a:solidFill>
                    <a:srgbClr val="000000"/>
                  </a:solidFill>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p:txBody>
          </p:sp>
        </mc:Choice>
        <mc:Fallback xmlns="">
          <p:sp>
            <p:nvSpPr>
              <p:cNvPr id="13315" name="Content Placeholder 2"/>
              <p:cNvSpPr>
                <a:spLocks noGrp="1" noRot="1" noChangeAspect="1" noMove="1" noResize="1" noEditPoints="1" noAdjustHandles="1" noChangeArrowheads="1" noChangeShapeType="1" noTextEdit="1"/>
              </p:cNvSpPr>
              <p:nvPr>
                <p:ph idx="4294967295"/>
              </p:nvPr>
            </p:nvSpPr>
            <p:spPr>
              <a:xfrm>
                <a:off x="176769" y="1500187"/>
                <a:ext cx="8312150" cy="1424757"/>
              </a:xfrm>
              <a:blipFill>
                <a:blip r:embed="rId3"/>
                <a:stretch>
                  <a:fillRect l="-457" t="-27434" b="-84071"/>
                </a:stretch>
              </a:blipFill>
            </p:spPr>
            <p:txBody>
              <a:bodyPr/>
              <a:lstStyle/>
              <a:p>
                <a:r>
                  <a:rPr lang="en-US">
                    <a:noFill/>
                  </a:rPr>
                  <a:t> </a:t>
                </a:r>
              </a:p>
            </p:txBody>
          </p:sp>
        </mc:Fallback>
      </mc:AlternateContent>
      <p:sp>
        <p:nvSpPr>
          <p:cNvPr id="13318" name="TextBox 9"/>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pic>
        <p:nvPicPr>
          <p:cNvPr id="2" name="Picture 8" descr="Sum Dice — Games for Young Minds">
            <a:extLst>
              <a:ext uri="{FF2B5EF4-FFF2-40B4-BE49-F238E27FC236}">
                <a16:creationId xmlns:a16="http://schemas.microsoft.com/office/drawing/2014/main" id="{2EB20A54-A673-944C-8AB6-96F9EB5278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443" t="28400" r="45757"/>
          <a:stretch/>
        </p:blipFill>
        <p:spPr bwMode="auto">
          <a:xfrm>
            <a:off x="295074" y="3188316"/>
            <a:ext cx="2273299" cy="30371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6883B011-F90C-DC91-0092-457D3839F54D}"/>
                  </a:ext>
                </a:extLst>
              </p:cNvPr>
              <p:cNvGraphicFramePr>
                <a:graphicFrameLocks noGrp="1"/>
              </p:cNvGraphicFramePr>
              <p:nvPr>
                <p:extLst>
                  <p:ext uri="{D42A27DB-BD31-4B8C-83A1-F6EECF244321}">
                    <p14:modId xmlns:p14="http://schemas.microsoft.com/office/powerpoint/2010/main" val="1441540842"/>
                  </p:ext>
                </p:extLst>
              </p:nvPr>
            </p:nvGraphicFramePr>
            <p:xfrm>
              <a:off x="2771800" y="2972073"/>
              <a:ext cx="1105513" cy="36576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AU" sz="1400" b="0" i="1" smtClean="0">
                                    <a:solidFill>
                                      <a:schemeClr val="tx1"/>
                                    </a:solidFill>
                                    <a:latin typeface="Cambria Math" panose="02040503050406030204" pitchFamily="18" charset="0"/>
                                  </a:rPr>
                                  <m:t>𝑋</m:t>
                                </m:r>
                              </m:oMath>
                            </m:oMathPara>
                          </a14:m>
                          <a:endParaRPr lang="en-US" sz="1400" b="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i="0" smtClean="0">
                                    <a:latin typeface="Cambria Math" panose="02040503050406030204" pitchFamily="18" charset="0"/>
                                  </a:rPr>
                                  <m:t>2</m:t>
                                </m:r>
                              </m:oMath>
                            </m:oMathPara>
                          </a14:m>
                          <a:endParaRPr lang="en-US" sz="1400" i="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3</m:t>
                                </m:r>
                              </m:oMath>
                            </m:oMathPara>
                          </a14:m>
                          <a:endParaRPr lang="en-US" sz="1400" i="1"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4156083343"/>
                      </a:ext>
                    </a:extLst>
                  </a:tr>
                  <a:tr h="170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4</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3/</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11581698"/>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5</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265967394"/>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6</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5/</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627018415"/>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7</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6/</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4217420441"/>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8</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5/</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2112627574"/>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9</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805601294"/>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10</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3/</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1661313039"/>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11</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1488443185"/>
                      </a:ext>
                    </a:extLst>
                  </a:tr>
                  <a:tr h="170316">
                    <a:tc>
                      <a:txBody>
                        <a:bodyPr/>
                        <a:lstStyle/>
                        <a:p>
                          <a:pPr/>
                          <a14:m>
                            <m:oMathPara xmlns:m="http://schemas.openxmlformats.org/officeDocument/2006/math">
                              <m:oMathParaPr>
                                <m:jc m:val="centerGroup"/>
                              </m:oMathParaPr>
                              <m:oMath xmlns:m="http://schemas.openxmlformats.org/officeDocument/2006/math">
                                <m:r>
                                  <a:rPr lang="en-AU" sz="1400" b="0" i="1" smtClean="0">
                                    <a:latin typeface="Cambria Math" panose="02040503050406030204" pitchFamily="18" charset="0"/>
                                  </a:rPr>
                                  <m:t>12</m:t>
                                </m:r>
                              </m:oMath>
                            </m:oMathPara>
                          </a14:m>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r>
                                  <a:rPr lang="en-AU" sz="1400" b="0" i="0" smtClean="0">
                                    <a:latin typeface="Cambria Math" panose="02040503050406030204" pitchFamily="18" charset="0"/>
                                  </a:rPr>
                                  <m:t>36</m:t>
                                </m:r>
                              </m:oMath>
                            </m:oMathPara>
                          </a14:m>
                          <a:endParaRPr lang="en-US" sz="1400" dirty="0"/>
                        </a:p>
                      </a:txBody>
                      <a:tcPr/>
                    </a:tc>
                    <a:extLst>
                      <a:ext uri="{0D108BD9-81ED-4DB2-BD59-A6C34878D82A}">
                        <a16:rowId xmlns:a16="http://schemas.microsoft.com/office/drawing/2014/main" val="2167845737"/>
                      </a:ext>
                    </a:extLst>
                  </a:tr>
                </a:tbl>
              </a:graphicData>
            </a:graphic>
          </p:graphicFrame>
        </mc:Choice>
        <mc:Fallback xmlns="">
          <p:graphicFrame>
            <p:nvGraphicFramePr>
              <p:cNvPr id="3" name="Table 3">
                <a:extLst>
                  <a:ext uri="{FF2B5EF4-FFF2-40B4-BE49-F238E27FC236}">
                    <a16:creationId xmlns:a16="http://schemas.microsoft.com/office/drawing/2014/main" id="{6883B011-F90C-DC91-0092-457D3839F54D}"/>
                  </a:ext>
                </a:extLst>
              </p:cNvPr>
              <p:cNvGraphicFramePr>
                <a:graphicFrameLocks noGrp="1"/>
              </p:cNvGraphicFramePr>
              <p:nvPr>
                <p:extLst>
                  <p:ext uri="{D42A27DB-BD31-4B8C-83A1-F6EECF244321}">
                    <p14:modId xmlns:p14="http://schemas.microsoft.com/office/powerpoint/2010/main" val="1441540842"/>
                  </p:ext>
                </p:extLst>
              </p:nvPr>
            </p:nvGraphicFramePr>
            <p:xfrm>
              <a:off x="2771800" y="2972073"/>
              <a:ext cx="1105513" cy="36576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5"/>
                          <a:stretch>
                            <a:fillRect l="-3571" t="-8333" r="-217857" b="-1116667"/>
                          </a:stretch>
                        </a:blipFill>
                      </a:tcPr>
                    </a:tc>
                    <a:tc>
                      <a:txBody>
                        <a:bodyPr/>
                        <a:lstStyle/>
                        <a:p>
                          <a:endParaRPr lang="en-US"/>
                        </a:p>
                      </a:txBody>
                      <a:tcPr>
                        <a:blipFill>
                          <a:blip r:embed="rId5"/>
                          <a:stretch>
                            <a:fillRect l="-48333" t="-8333" r="-1667" b="-1116667"/>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5"/>
                          <a:stretch>
                            <a:fillRect l="-3571" t="-108333" r="-217857" b="-1016667"/>
                          </a:stretch>
                        </a:blipFill>
                      </a:tcPr>
                    </a:tc>
                    <a:tc>
                      <a:txBody>
                        <a:bodyPr/>
                        <a:lstStyle/>
                        <a:p>
                          <a:endParaRPr lang="en-US"/>
                        </a:p>
                      </a:txBody>
                      <a:tcPr>
                        <a:blipFill>
                          <a:blip r:embed="rId5"/>
                          <a:stretch>
                            <a:fillRect l="-48333" t="-108333" r="-1667" b="-1016667"/>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5"/>
                          <a:stretch>
                            <a:fillRect l="-3571" t="-208333" r="-217857" b="-916667"/>
                          </a:stretch>
                        </a:blipFill>
                      </a:tcPr>
                    </a:tc>
                    <a:tc>
                      <a:txBody>
                        <a:bodyPr/>
                        <a:lstStyle/>
                        <a:p>
                          <a:endParaRPr lang="en-US"/>
                        </a:p>
                      </a:txBody>
                      <a:tcPr>
                        <a:blipFill>
                          <a:blip r:embed="rId5"/>
                          <a:stretch>
                            <a:fillRect l="-48333" t="-208333" r="-1667" b="-916667"/>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5"/>
                          <a:stretch>
                            <a:fillRect l="-3571" t="-308333" r="-217857" b="-816667"/>
                          </a:stretch>
                        </a:blipFill>
                      </a:tcPr>
                    </a:tc>
                    <a:tc>
                      <a:txBody>
                        <a:bodyPr/>
                        <a:lstStyle/>
                        <a:p>
                          <a:endParaRPr lang="en-US"/>
                        </a:p>
                      </a:txBody>
                      <a:tcPr>
                        <a:blipFill>
                          <a:blip r:embed="rId5"/>
                          <a:stretch>
                            <a:fillRect l="-48333" t="-308333" r="-1667" b="-816667"/>
                          </a:stretch>
                        </a:blipFill>
                      </a:tcPr>
                    </a:tc>
                    <a:extLst>
                      <a:ext uri="{0D108BD9-81ED-4DB2-BD59-A6C34878D82A}">
                        <a16:rowId xmlns:a16="http://schemas.microsoft.com/office/drawing/2014/main" val="11581698"/>
                      </a:ext>
                    </a:extLst>
                  </a:tr>
                  <a:tr h="304800">
                    <a:tc>
                      <a:txBody>
                        <a:bodyPr/>
                        <a:lstStyle/>
                        <a:p>
                          <a:endParaRPr lang="en-US"/>
                        </a:p>
                      </a:txBody>
                      <a:tcPr>
                        <a:blipFill>
                          <a:blip r:embed="rId5"/>
                          <a:stretch>
                            <a:fillRect l="-3571" t="-408333" r="-217857" b="-716667"/>
                          </a:stretch>
                        </a:blipFill>
                      </a:tcPr>
                    </a:tc>
                    <a:tc>
                      <a:txBody>
                        <a:bodyPr/>
                        <a:lstStyle/>
                        <a:p>
                          <a:endParaRPr lang="en-US"/>
                        </a:p>
                      </a:txBody>
                      <a:tcPr>
                        <a:blipFill>
                          <a:blip r:embed="rId5"/>
                          <a:stretch>
                            <a:fillRect l="-48333" t="-408333" r="-1667" b="-716667"/>
                          </a:stretch>
                        </a:blipFill>
                      </a:tcPr>
                    </a:tc>
                    <a:extLst>
                      <a:ext uri="{0D108BD9-81ED-4DB2-BD59-A6C34878D82A}">
                        <a16:rowId xmlns:a16="http://schemas.microsoft.com/office/drawing/2014/main" val="265967394"/>
                      </a:ext>
                    </a:extLst>
                  </a:tr>
                  <a:tr h="304800">
                    <a:tc>
                      <a:txBody>
                        <a:bodyPr/>
                        <a:lstStyle/>
                        <a:p>
                          <a:endParaRPr lang="en-US"/>
                        </a:p>
                      </a:txBody>
                      <a:tcPr>
                        <a:blipFill>
                          <a:blip r:embed="rId5"/>
                          <a:stretch>
                            <a:fillRect l="-3571" t="-488000" r="-217857" b="-588000"/>
                          </a:stretch>
                        </a:blipFill>
                      </a:tcPr>
                    </a:tc>
                    <a:tc>
                      <a:txBody>
                        <a:bodyPr/>
                        <a:lstStyle/>
                        <a:p>
                          <a:endParaRPr lang="en-US"/>
                        </a:p>
                      </a:txBody>
                      <a:tcPr>
                        <a:blipFill>
                          <a:blip r:embed="rId5"/>
                          <a:stretch>
                            <a:fillRect l="-48333" t="-488000" r="-1667" b="-588000"/>
                          </a:stretch>
                        </a:blipFill>
                      </a:tcPr>
                    </a:tc>
                    <a:extLst>
                      <a:ext uri="{0D108BD9-81ED-4DB2-BD59-A6C34878D82A}">
                        <a16:rowId xmlns:a16="http://schemas.microsoft.com/office/drawing/2014/main" val="627018415"/>
                      </a:ext>
                    </a:extLst>
                  </a:tr>
                  <a:tr h="304800">
                    <a:tc>
                      <a:txBody>
                        <a:bodyPr/>
                        <a:lstStyle/>
                        <a:p>
                          <a:endParaRPr lang="en-US"/>
                        </a:p>
                      </a:txBody>
                      <a:tcPr>
                        <a:blipFill>
                          <a:blip r:embed="rId5"/>
                          <a:stretch>
                            <a:fillRect l="-3571" t="-612500" r="-217857" b="-512500"/>
                          </a:stretch>
                        </a:blipFill>
                      </a:tcPr>
                    </a:tc>
                    <a:tc>
                      <a:txBody>
                        <a:bodyPr/>
                        <a:lstStyle/>
                        <a:p>
                          <a:endParaRPr lang="en-US"/>
                        </a:p>
                      </a:txBody>
                      <a:tcPr>
                        <a:blipFill>
                          <a:blip r:embed="rId5"/>
                          <a:stretch>
                            <a:fillRect l="-48333" t="-612500" r="-1667" b="-512500"/>
                          </a:stretch>
                        </a:blipFill>
                      </a:tcPr>
                    </a:tc>
                    <a:extLst>
                      <a:ext uri="{0D108BD9-81ED-4DB2-BD59-A6C34878D82A}">
                        <a16:rowId xmlns:a16="http://schemas.microsoft.com/office/drawing/2014/main" val="4217420441"/>
                      </a:ext>
                    </a:extLst>
                  </a:tr>
                  <a:tr h="304800">
                    <a:tc>
                      <a:txBody>
                        <a:bodyPr/>
                        <a:lstStyle/>
                        <a:p>
                          <a:endParaRPr lang="en-US"/>
                        </a:p>
                      </a:txBody>
                      <a:tcPr>
                        <a:blipFill>
                          <a:blip r:embed="rId5"/>
                          <a:stretch>
                            <a:fillRect l="-3571" t="-712500" r="-217857" b="-412500"/>
                          </a:stretch>
                        </a:blipFill>
                      </a:tcPr>
                    </a:tc>
                    <a:tc>
                      <a:txBody>
                        <a:bodyPr/>
                        <a:lstStyle/>
                        <a:p>
                          <a:endParaRPr lang="en-US"/>
                        </a:p>
                      </a:txBody>
                      <a:tcPr>
                        <a:blipFill>
                          <a:blip r:embed="rId5"/>
                          <a:stretch>
                            <a:fillRect l="-48333" t="-712500" r="-1667" b="-412500"/>
                          </a:stretch>
                        </a:blipFill>
                      </a:tcPr>
                    </a:tc>
                    <a:extLst>
                      <a:ext uri="{0D108BD9-81ED-4DB2-BD59-A6C34878D82A}">
                        <a16:rowId xmlns:a16="http://schemas.microsoft.com/office/drawing/2014/main" val="2112627574"/>
                      </a:ext>
                    </a:extLst>
                  </a:tr>
                  <a:tr h="304800">
                    <a:tc>
                      <a:txBody>
                        <a:bodyPr/>
                        <a:lstStyle/>
                        <a:p>
                          <a:endParaRPr lang="en-US"/>
                        </a:p>
                      </a:txBody>
                      <a:tcPr>
                        <a:blipFill>
                          <a:blip r:embed="rId5"/>
                          <a:stretch>
                            <a:fillRect l="-3571" t="-812500" r="-217857" b="-312500"/>
                          </a:stretch>
                        </a:blipFill>
                      </a:tcPr>
                    </a:tc>
                    <a:tc>
                      <a:txBody>
                        <a:bodyPr/>
                        <a:lstStyle/>
                        <a:p>
                          <a:endParaRPr lang="en-US"/>
                        </a:p>
                      </a:txBody>
                      <a:tcPr>
                        <a:blipFill>
                          <a:blip r:embed="rId5"/>
                          <a:stretch>
                            <a:fillRect l="-48333" t="-812500" r="-1667" b="-312500"/>
                          </a:stretch>
                        </a:blipFill>
                      </a:tcPr>
                    </a:tc>
                    <a:extLst>
                      <a:ext uri="{0D108BD9-81ED-4DB2-BD59-A6C34878D82A}">
                        <a16:rowId xmlns:a16="http://schemas.microsoft.com/office/drawing/2014/main" val="805601294"/>
                      </a:ext>
                    </a:extLst>
                  </a:tr>
                  <a:tr h="304800">
                    <a:tc>
                      <a:txBody>
                        <a:bodyPr/>
                        <a:lstStyle/>
                        <a:p>
                          <a:endParaRPr lang="en-US"/>
                        </a:p>
                      </a:txBody>
                      <a:tcPr>
                        <a:blipFill>
                          <a:blip r:embed="rId5"/>
                          <a:stretch>
                            <a:fillRect l="-3571" t="-912500" r="-217857" b="-212500"/>
                          </a:stretch>
                        </a:blipFill>
                      </a:tcPr>
                    </a:tc>
                    <a:tc>
                      <a:txBody>
                        <a:bodyPr/>
                        <a:lstStyle/>
                        <a:p>
                          <a:endParaRPr lang="en-US"/>
                        </a:p>
                      </a:txBody>
                      <a:tcPr>
                        <a:blipFill>
                          <a:blip r:embed="rId5"/>
                          <a:stretch>
                            <a:fillRect l="-48333" t="-912500" r="-1667" b="-212500"/>
                          </a:stretch>
                        </a:blipFill>
                      </a:tcPr>
                    </a:tc>
                    <a:extLst>
                      <a:ext uri="{0D108BD9-81ED-4DB2-BD59-A6C34878D82A}">
                        <a16:rowId xmlns:a16="http://schemas.microsoft.com/office/drawing/2014/main" val="1661313039"/>
                      </a:ext>
                    </a:extLst>
                  </a:tr>
                  <a:tr h="304800">
                    <a:tc>
                      <a:txBody>
                        <a:bodyPr/>
                        <a:lstStyle/>
                        <a:p>
                          <a:endParaRPr lang="en-US"/>
                        </a:p>
                      </a:txBody>
                      <a:tcPr>
                        <a:blipFill>
                          <a:blip r:embed="rId5"/>
                          <a:stretch>
                            <a:fillRect l="-3571" t="-1012500" r="-217857" b="-112500"/>
                          </a:stretch>
                        </a:blipFill>
                      </a:tcPr>
                    </a:tc>
                    <a:tc>
                      <a:txBody>
                        <a:bodyPr/>
                        <a:lstStyle/>
                        <a:p>
                          <a:endParaRPr lang="en-US"/>
                        </a:p>
                      </a:txBody>
                      <a:tcPr>
                        <a:blipFill>
                          <a:blip r:embed="rId5"/>
                          <a:stretch>
                            <a:fillRect l="-48333" t="-1012500" r="-1667" b="-112500"/>
                          </a:stretch>
                        </a:blipFill>
                      </a:tcPr>
                    </a:tc>
                    <a:extLst>
                      <a:ext uri="{0D108BD9-81ED-4DB2-BD59-A6C34878D82A}">
                        <a16:rowId xmlns:a16="http://schemas.microsoft.com/office/drawing/2014/main" val="1488443185"/>
                      </a:ext>
                    </a:extLst>
                  </a:tr>
                  <a:tr h="304800">
                    <a:tc>
                      <a:txBody>
                        <a:bodyPr/>
                        <a:lstStyle/>
                        <a:p>
                          <a:endParaRPr lang="en-US"/>
                        </a:p>
                      </a:txBody>
                      <a:tcPr>
                        <a:blipFill>
                          <a:blip r:embed="rId5"/>
                          <a:stretch>
                            <a:fillRect l="-3571" t="-1112500" r="-217857" b="-12500"/>
                          </a:stretch>
                        </a:blipFill>
                      </a:tcPr>
                    </a:tc>
                    <a:tc>
                      <a:txBody>
                        <a:bodyPr/>
                        <a:lstStyle/>
                        <a:p>
                          <a:endParaRPr lang="en-US"/>
                        </a:p>
                      </a:txBody>
                      <a:tcPr>
                        <a:blipFill>
                          <a:blip r:embed="rId5"/>
                          <a:stretch>
                            <a:fillRect l="-48333" t="-1112500" r="-1667" b="-12500"/>
                          </a:stretch>
                        </a:blipFill>
                      </a:tcPr>
                    </a:tc>
                    <a:extLst>
                      <a:ext uri="{0D108BD9-81ED-4DB2-BD59-A6C34878D82A}">
                        <a16:rowId xmlns:a16="http://schemas.microsoft.com/office/drawing/2014/main" val="2167845737"/>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8B84ECE-A9D9-5909-62CE-43A68402BE28}"/>
                  </a:ext>
                </a:extLst>
              </p:cNvPr>
              <p:cNvSpPr txBox="1"/>
              <p:nvPr/>
            </p:nvSpPr>
            <p:spPr>
              <a:xfrm>
                <a:off x="3539973" y="3933057"/>
                <a:ext cx="560402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1600" b="0" i="0" smtClean="0">
                          <a:latin typeface="Cambria Math" panose="02040503050406030204" pitchFamily="18" charset="0"/>
                        </a:rPr>
                        <m:t>P</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𝑋</m:t>
                          </m:r>
                          <m:r>
                            <a:rPr lang="en-AU" sz="1600" b="0" i="1" smtClean="0">
                              <a:latin typeface="Cambria Math" panose="02040503050406030204" pitchFamily="18" charset="0"/>
                            </a:rPr>
                            <m:t>∈{2,4,…,12}</m:t>
                          </m:r>
                        </m:e>
                      </m:d>
                      <m:r>
                        <a:rPr lang="en-AU" sz="1600" b="0" i="1" smtClean="0">
                          <a:latin typeface="Cambria Math" panose="02040503050406030204" pitchFamily="18" charset="0"/>
                          <a:ea typeface="Cambria Math" panose="02040503050406030204" pitchFamily="18" charset="0"/>
                        </a:rPr>
                        <m:t>=</m:t>
                      </m:r>
                      <m:sSub>
                        <m:sSubPr>
                          <m:ctrlPr>
                            <a:rPr lang="en-AU" sz="1600" b="0" i="1" smtClean="0">
                              <a:latin typeface="Cambria Math" panose="02040503050406030204" pitchFamily="18" charset="0"/>
                              <a:ea typeface="Cambria Math" panose="02040503050406030204" pitchFamily="18" charset="0"/>
                            </a:rPr>
                          </m:ctrlPr>
                        </m:sSubPr>
                        <m:e>
                          <m:r>
                            <a:rPr lang="en-AU" sz="1600" b="0" i="1" smtClean="0">
                              <a:latin typeface="Cambria Math" panose="02040503050406030204" pitchFamily="18" charset="0"/>
                              <a:ea typeface="Cambria Math" panose="02040503050406030204" pitchFamily="18" charset="0"/>
                            </a:rPr>
                            <m:t>𝑝</m:t>
                          </m:r>
                        </m:e>
                        <m:sub>
                          <m:r>
                            <a:rPr lang="en-AU" sz="1600" b="0" i="1" smtClean="0">
                              <a:latin typeface="Cambria Math" panose="02040503050406030204" pitchFamily="18" charset="0"/>
                              <a:ea typeface="Cambria Math" panose="02040503050406030204" pitchFamily="18" charset="0"/>
                            </a:rPr>
                            <m:t>𝑋</m:t>
                          </m:r>
                        </m:sub>
                      </m:sSub>
                      <m:d>
                        <m:dPr>
                          <m:ctrlPr>
                            <a:rPr lang="en-AU" sz="1600" b="0" i="1" smtClean="0">
                              <a:latin typeface="Cambria Math" panose="02040503050406030204" pitchFamily="18" charset="0"/>
                              <a:ea typeface="Cambria Math" panose="02040503050406030204" pitchFamily="18" charset="0"/>
                            </a:rPr>
                          </m:ctrlPr>
                        </m:dPr>
                        <m:e>
                          <m:r>
                            <a:rPr lang="en-AU" sz="1600" b="0" i="1" smtClean="0">
                              <a:latin typeface="Cambria Math" panose="02040503050406030204" pitchFamily="18" charset="0"/>
                              <a:ea typeface="Cambria Math" panose="02040503050406030204" pitchFamily="18" charset="0"/>
                            </a:rPr>
                            <m:t>2</m:t>
                          </m:r>
                        </m:e>
                      </m:d>
                      <m:r>
                        <a:rPr lang="en-AU" sz="1600" b="0" i="1" smtClean="0">
                          <a:latin typeface="Cambria Math" panose="02040503050406030204" pitchFamily="18" charset="0"/>
                          <a:ea typeface="Cambria Math" panose="02040503050406030204" pitchFamily="18" charset="0"/>
                        </a:rPr>
                        <m:t>+</m:t>
                      </m:r>
                      <m:sSub>
                        <m:sSubPr>
                          <m:ctrlPr>
                            <a:rPr lang="en-AU" sz="1600" b="0" i="1" smtClean="0">
                              <a:latin typeface="Cambria Math" panose="02040503050406030204" pitchFamily="18" charset="0"/>
                              <a:ea typeface="Cambria Math" panose="02040503050406030204" pitchFamily="18" charset="0"/>
                            </a:rPr>
                          </m:ctrlPr>
                        </m:sSubPr>
                        <m:e>
                          <m:r>
                            <a:rPr lang="en-AU" sz="1600" b="0" i="1" smtClean="0">
                              <a:latin typeface="Cambria Math" panose="02040503050406030204" pitchFamily="18" charset="0"/>
                              <a:ea typeface="Cambria Math" panose="02040503050406030204" pitchFamily="18" charset="0"/>
                            </a:rPr>
                            <m:t>𝑝</m:t>
                          </m:r>
                        </m:e>
                        <m:sub>
                          <m:r>
                            <a:rPr lang="en-AU" sz="1600" b="0" i="1" smtClean="0">
                              <a:latin typeface="Cambria Math" panose="02040503050406030204" pitchFamily="18" charset="0"/>
                              <a:ea typeface="Cambria Math" panose="02040503050406030204" pitchFamily="18" charset="0"/>
                            </a:rPr>
                            <m:t>𝑋</m:t>
                          </m:r>
                        </m:sub>
                      </m:sSub>
                      <m:d>
                        <m:dPr>
                          <m:ctrlPr>
                            <a:rPr lang="en-AU" sz="1600" b="0" i="1" smtClean="0">
                              <a:latin typeface="Cambria Math" panose="02040503050406030204" pitchFamily="18" charset="0"/>
                              <a:ea typeface="Cambria Math" panose="02040503050406030204" pitchFamily="18" charset="0"/>
                            </a:rPr>
                          </m:ctrlPr>
                        </m:dPr>
                        <m:e>
                          <m:r>
                            <a:rPr lang="en-AU" sz="1600" b="0" i="1" smtClean="0">
                              <a:latin typeface="Cambria Math" panose="02040503050406030204" pitchFamily="18" charset="0"/>
                              <a:ea typeface="Cambria Math" panose="02040503050406030204" pitchFamily="18" charset="0"/>
                            </a:rPr>
                            <m:t>4</m:t>
                          </m:r>
                        </m:e>
                      </m:d>
                      <m:r>
                        <a:rPr lang="en-AU" sz="1600" b="0" i="1" smtClean="0">
                          <a:latin typeface="Cambria Math" panose="02040503050406030204" pitchFamily="18" charset="0"/>
                          <a:ea typeface="Cambria Math" panose="02040503050406030204" pitchFamily="18" charset="0"/>
                        </a:rPr>
                        <m:t>+…+</m:t>
                      </m:r>
                      <m:sSub>
                        <m:sSubPr>
                          <m:ctrlPr>
                            <a:rPr lang="en-AU" sz="1600" b="0" i="1" smtClean="0">
                              <a:latin typeface="Cambria Math" panose="02040503050406030204" pitchFamily="18" charset="0"/>
                              <a:ea typeface="Cambria Math" panose="02040503050406030204" pitchFamily="18" charset="0"/>
                            </a:rPr>
                          </m:ctrlPr>
                        </m:sSubPr>
                        <m:e>
                          <m:r>
                            <a:rPr lang="en-AU" sz="1600" b="0" i="1" smtClean="0">
                              <a:latin typeface="Cambria Math" panose="02040503050406030204" pitchFamily="18" charset="0"/>
                              <a:ea typeface="Cambria Math" panose="02040503050406030204" pitchFamily="18" charset="0"/>
                            </a:rPr>
                            <m:t>𝑝</m:t>
                          </m:r>
                        </m:e>
                        <m:sub>
                          <m:r>
                            <a:rPr lang="en-AU" sz="1600" b="0" i="1" smtClean="0">
                              <a:latin typeface="Cambria Math" panose="02040503050406030204" pitchFamily="18" charset="0"/>
                              <a:ea typeface="Cambria Math" panose="02040503050406030204" pitchFamily="18" charset="0"/>
                            </a:rPr>
                            <m:t>𝑋</m:t>
                          </m:r>
                        </m:sub>
                      </m:sSub>
                      <m:r>
                        <a:rPr lang="en-AU" sz="1600"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5" name="TextBox 4">
                <a:extLst>
                  <a:ext uri="{FF2B5EF4-FFF2-40B4-BE49-F238E27FC236}">
                    <a16:creationId xmlns:a16="http://schemas.microsoft.com/office/drawing/2014/main" id="{58B84ECE-A9D9-5909-62CE-43A68402BE28}"/>
                  </a:ext>
                </a:extLst>
              </p:cNvPr>
              <p:cNvSpPr txBox="1">
                <a:spLocks noRot="1" noChangeAspect="1" noMove="1" noResize="1" noEditPoints="1" noAdjustHandles="1" noChangeArrowheads="1" noChangeShapeType="1" noTextEdit="1"/>
              </p:cNvSpPr>
              <p:nvPr/>
            </p:nvSpPr>
            <p:spPr>
              <a:xfrm>
                <a:off x="3539973" y="3933057"/>
                <a:ext cx="5604027" cy="338554"/>
              </a:xfrm>
              <a:prstGeom prst="rect">
                <a:avLst/>
              </a:prstGeom>
              <a:blipFill>
                <a:blip r:embed="rId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74E875-15C6-36DF-48D8-14208F2F2C15}"/>
                  </a:ext>
                </a:extLst>
              </p:cNvPr>
              <p:cNvSpPr txBox="1"/>
              <p:nvPr/>
            </p:nvSpPr>
            <p:spPr>
              <a:xfrm>
                <a:off x="4932040" y="4324070"/>
                <a:ext cx="4572000" cy="5549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1</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3</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5</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5</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3</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1</m:t>
                          </m:r>
                        </m:num>
                        <m:den>
                          <m:r>
                            <a:rPr lang="en-AU" sz="1600" b="0" i="1" smtClean="0">
                              <a:latin typeface="Cambria Math" panose="02040503050406030204" pitchFamily="18" charset="0"/>
                              <a:ea typeface="Cambria Math" panose="02040503050406030204" pitchFamily="18" charset="0"/>
                            </a:rPr>
                            <m:t>36</m:t>
                          </m:r>
                        </m:den>
                      </m:f>
                    </m:oMath>
                  </m:oMathPara>
                </a14:m>
                <a:endParaRPr lang="en-US" dirty="0"/>
              </a:p>
            </p:txBody>
          </p:sp>
        </mc:Choice>
        <mc:Fallback xmlns="">
          <p:sp>
            <p:nvSpPr>
              <p:cNvPr id="7" name="TextBox 6">
                <a:extLst>
                  <a:ext uri="{FF2B5EF4-FFF2-40B4-BE49-F238E27FC236}">
                    <a16:creationId xmlns:a16="http://schemas.microsoft.com/office/drawing/2014/main" id="{AC74E875-15C6-36DF-48D8-14208F2F2C15}"/>
                  </a:ext>
                </a:extLst>
              </p:cNvPr>
              <p:cNvSpPr txBox="1">
                <a:spLocks noRot="1" noChangeAspect="1" noMove="1" noResize="1" noEditPoints="1" noAdjustHandles="1" noChangeArrowheads="1" noChangeShapeType="1" noTextEdit="1"/>
              </p:cNvSpPr>
              <p:nvPr/>
            </p:nvSpPr>
            <p:spPr>
              <a:xfrm>
                <a:off x="4932040" y="4324070"/>
                <a:ext cx="4572000" cy="554960"/>
              </a:xfrm>
              <a:prstGeom prst="rect">
                <a:avLst/>
              </a:prstGeom>
              <a:blipFill>
                <a:blip r:embed="rId7"/>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972F90-679E-BE2A-77FB-A6E24B2EDBC4}"/>
                  </a:ext>
                </a:extLst>
              </p:cNvPr>
              <p:cNvSpPr txBox="1"/>
              <p:nvPr/>
            </p:nvSpPr>
            <p:spPr>
              <a:xfrm>
                <a:off x="3975569" y="4968559"/>
                <a:ext cx="4572000" cy="5549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18</m:t>
                          </m:r>
                        </m:num>
                        <m:den>
                          <m:r>
                            <a:rPr lang="en-AU" sz="1600" b="0" i="1" smtClean="0">
                              <a:latin typeface="Cambria Math" panose="02040503050406030204" pitchFamily="18" charset="0"/>
                              <a:ea typeface="Cambria Math" panose="02040503050406030204" pitchFamily="18" charset="0"/>
                            </a:rPr>
                            <m:t>36</m:t>
                          </m:r>
                        </m:den>
                      </m:f>
                      <m:r>
                        <a:rPr lang="en-AU" sz="1600" b="0" i="1" smtClean="0">
                          <a:latin typeface="Cambria Math" panose="02040503050406030204" pitchFamily="18" charset="0"/>
                          <a:ea typeface="Cambria Math" panose="02040503050406030204" pitchFamily="18" charset="0"/>
                        </a:rPr>
                        <m:t>=</m:t>
                      </m:r>
                      <m:f>
                        <m:fPr>
                          <m:ctrlPr>
                            <a:rPr lang="en-AU" sz="1600" b="0" i="1" smtClean="0">
                              <a:latin typeface="Cambria Math" panose="02040503050406030204" pitchFamily="18" charset="0"/>
                              <a:ea typeface="Cambria Math" panose="02040503050406030204" pitchFamily="18" charset="0"/>
                            </a:rPr>
                          </m:ctrlPr>
                        </m:fPr>
                        <m:num>
                          <m:r>
                            <a:rPr lang="en-AU" sz="1600" b="0" i="1" smtClean="0">
                              <a:latin typeface="Cambria Math" panose="02040503050406030204" pitchFamily="18" charset="0"/>
                              <a:ea typeface="Cambria Math" panose="02040503050406030204" pitchFamily="18" charset="0"/>
                            </a:rPr>
                            <m:t>1</m:t>
                          </m:r>
                        </m:num>
                        <m:den>
                          <m:r>
                            <a:rPr lang="en-AU" sz="1600" b="0" i="1" smtClean="0">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8" name="TextBox 7">
                <a:extLst>
                  <a:ext uri="{FF2B5EF4-FFF2-40B4-BE49-F238E27FC236}">
                    <a16:creationId xmlns:a16="http://schemas.microsoft.com/office/drawing/2014/main" id="{9D972F90-679E-BE2A-77FB-A6E24B2EDBC4}"/>
                  </a:ext>
                </a:extLst>
              </p:cNvPr>
              <p:cNvSpPr txBox="1">
                <a:spLocks noRot="1" noChangeAspect="1" noMove="1" noResize="1" noEditPoints="1" noAdjustHandles="1" noChangeArrowheads="1" noChangeShapeType="1" noTextEdit="1"/>
              </p:cNvSpPr>
              <p:nvPr/>
            </p:nvSpPr>
            <p:spPr>
              <a:xfrm>
                <a:off x="3975569" y="4968559"/>
                <a:ext cx="4572000" cy="554960"/>
              </a:xfrm>
              <a:prstGeom prst="rect">
                <a:avLst/>
              </a:prstGeom>
              <a:blipFill>
                <a:blip r:embed="rId8"/>
                <a:stretch>
                  <a:fillRect b="-227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5F5E060-022B-4C47-4E86-677C891ECAF4}"/>
              </a:ext>
            </a:extLst>
          </p:cNvPr>
          <p:cNvSpPr txBox="1"/>
          <p:nvPr/>
        </p:nvSpPr>
        <p:spPr>
          <a:xfrm>
            <a:off x="149324" y="2785904"/>
            <a:ext cx="2529860" cy="338554"/>
          </a:xfrm>
          <a:prstGeom prst="rect">
            <a:avLst/>
          </a:prstGeom>
          <a:noFill/>
        </p:spPr>
        <p:txBody>
          <a:bodyPr wrap="none" rtlCol="0">
            <a:spAutoFit/>
          </a:bodyPr>
          <a:lstStyle/>
          <a:p>
            <a:r>
              <a:rPr lang="en-US" dirty="0"/>
              <a:t>Example: sum of two dice</a:t>
            </a:r>
          </a:p>
        </p:txBody>
      </p:sp>
    </p:spTree>
    <p:extLst>
      <p:ext uri="{BB962C8B-B14F-4D97-AF65-F5344CB8AC3E}">
        <p14:creationId xmlns:p14="http://schemas.microsoft.com/office/powerpoint/2010/main" val="374271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idx="4294967295"/>
          </p:nvPr>
        </p:nvSpPr>
        <p:spPr>
          <a:xfrm>
            <a:off x="304800" y="152400"/>
            <a:ext cx="8458200" cy="990600"/>
          </a:xfrm>
        </p:spPr>
        <p:txBody>
          <a:bodyPr/>
          <a:lstStyle/>
          <a:p>
            <a:r>
              <a:rPr lang="en-US" altLang="ko-KR" dirty="0"/>
              <a:t>Discrete Random Variables</a:t>
            </a:r>
          </a:p>
        </p:txBody>
      </p:sp>
      <mc:AlternateContent xmlns:mc="http://schemas.openxmlformats.org/markup-compatibility/2006" xmlns:a14="http://schemas.microsoft.com/office/drawing/2010/main">
        <mc:Choice Requires="a14">
          <p:sp>
            <p:nvSpPr>
              <p:cNvPr id="13315" name="Content Placeholder 2"/>
              <p:cNvSpPr>
                <a:spLocks noGrp="1" noChangeArrowheads="1"/>
              </p:cNvSpPr>
              <p:nvPr>
                <p:ph idx="4294967295"/>
              </p:nvPr>
            </p:nvSpPr>
            <p:spPr>
              <a:xfrm>
                <a:off x="176769" y="1500187"/>
                <a:ext cx="8312150" cy="4495800"/>
              </a:xfrm>
            </p:spPr>
            <p:txBody>
              <a:bodyPr/>
              <a:lstStyle/>
              <a:p>
                <a:pPr marL="0" lvl="0" indent="0">
                  <a:spcBef>
                    <a:spcPct val="0"/>
                  </a:spcBef>
                  <a:buNone/>
                  <a:defRPr/>
                </a:pPr>
                <a:r>
                  <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RV is called discrete if there is </a:t>
                </a:r>
                <a:r>
                  <a:rPr kumimoji="0" lang="en-US" sz="180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rPr>
                  <a:t>probability mass function </a:t>
                </a:r>
                <a14:m>
                  <m:oMath xmlns:m="http://schemas.openxmlformats.org/officeDocument/2006/math">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𝑝</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d>
                      <m:d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𝑥</m:t>
                        </m:r>
                      </m:e>
                    </m:d>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𝐷</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ℝ</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sub>
                    </m:sSub>
                  </m:oMath>
                </a14:m>
                <a:r>
                  <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a:t>
                </a:r>
                <a:r>
                  <a:rPr lang="en-US" sz="1800" kern="1200" dirty="0">
                    <a:solidFill>
                      <a:srgbClr val="000000"/>
                    </a:solidFill>
                    <a:latin typeface="Tahoma" panose="020B0604030504040204" pitchFamily="34" charset="0"/>
                    <a:ea typeface="굴림" pitchFamily="6" charset="-127"/>
                    <a:cs typeface="Arial"/>
                  </a:rPr>
                  <a:t>such that for all events </a:t>
                </a:r>
                <a14:m>
                  <m:oMath xmlns:m="http://schemas.openxmlformats.org/officeDocument/2006/math">
                    <m:r>
                      <a:rPr lang="en-AU" sz="1800" i="1">
                        <a:latin typeface="Cambria Math" panose="02040503050406030204" pitchFamily="18" charset="0"/>
                        <a:ea typeface="Cambria Math" panose="02040503050406030204" pitchFamily="18" charset="0"/>
                      </a:rPr>
                      <m:t>𝒳</m:t>
                    </m:r>
                    <m:r>
                      <a:rPr lang="en-AU" sz="1800" i="1">
                        <a:latin typeface="Cambria Math" panose="02040503050406030204" pitchFamily="18" charset="0"/>
                        <a:ea typeface="Cambria Math" panose="02040503050406030204" pitchFamily="18" charset="0"/>
                      </a:rPr>
                      <m:t>⊆</m:t>
                    </m:r>
                    <m:sSub>
                      <m:sSubPr>
                        <m:ctrlPr>
                          <a:rPr lang="en-AU" sz="1800" i="1" dirty="0">
                            <a:latin typeface="Cambria Math" panose="02040503050406030204" pitchFamily="18" charset="0"/>
                          </a:rPr>
                        </m:ctrlPr>
                      </m:sSubPr>
                      <m:e>
                        <m:r>
                          <a:rPr lang="en-US" sz="1800" i="1" dirty="0">
                            <a:latin typeface="Cambria Math" panose="02040503050406030204" pitchFamily="18" charset="0"/>
                          </a:rPr>
                          <m:t>𝐷</m:t>
                        </m:r>
                      </m:e>
                      <m:sub>
                        <m:r>
                          <a:rPr lang="en-AU" sz="1800" i="1" dirty="0">
                            <a:latin typeface="Cambria Math" panose="02040503050406030204" pitchFamily="18" charset="0"/>
                          </a:rPr>
                          <m:t>𝑋</m:t>
                        </m:r>
                      </m:sub>
                    </m:sSub>
                  </m:oMath>
                </a14:m>
                <a:endPar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0" lvl="0" indent="0">
                  <a:spcBef>
                    <a:spcPct val="0"/>
                  </a:spcBef>
                  <a:buNone/>
                  <a:defRPr/>
                </a:pPr>
                <a14:m>
                  <m:oMathPara xmlns:m="http://schemas.openxmlformats.org/officeDocument/2006/math">
                    <m:oMathParaPr>
                      <m:jc m:val="centerGroup"/>
                    </m:oMathParaPr>
                    <m:oMath xmlns:m="http://schemas.openxmlformats.org/officeDocument/2006/math">
                      <m:r>
                        <m:rPr>
                          <m:sty m:val="p"/>
                        </m:rPr>
                        <a:rPr lang="en-AU" sz="1800" b="0" i="0" smtClean="0">
                          <a:latin typeface="Cambria Math" panose="02040503050406030204" pitchFamily="18" charset="0"/>
                        </a:rPr>
                        <m:t>P</m:t>
                      </m:r>
                      <m:d>
                        <m:dPr>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r>
                            <a:rPr lang="en-AU" sz="1800" b="0" i="1" smtClean="0">
                              <a:latin typeface="Cambria Math" panose="02040503050406030204" pitchFamily="18" charset="0"/>
                            </a:rPr>
                            <m:t>∈</m:t>
                          </m:r>
                          <m:r>
                            <a:rPr lang="en-AU" sz="1800" b="0" i="1" smtClean="0">
                              <a:latin typeface="Cambria Math" panose="02040503050406030204" pitchFamily="18" charset="0"/>
                              <a:ea typeface="Cambria Math" panose="02040503050406030204" pitchFamily="18" charset="0"/>
                            </a:rPr>
                            <m:t>𝒳</m:t>
                          </m:r>
                        </m:e>
                      </m:d>
                      <m:r>
                        <a:rPr lang="en-AU" sz="1800" b="0" i="1" smtClean="0">
                          <a:latin typeface="Cambria Math" panose="02040503050406030204" pitchFamily="18" charset="0"/>
                        </a:rPr>
                        <m:t>=</m:t>
                      </m:r>
                      <m:nary>
                        <m:naryPr>
                          <m:chr m:val="∑"/>
                          <m:supHide m:val="on"/>
                          <m:ctrlPr>
                            <a:rPr lang="en-AU" sz="1800" b="0" i="1" smtClean="0">
                              <a:latin typeface="Cambria Math" panose="02040503050406030204" pitchFamily="18" charset="0"/>
                            </a:rPr>
                          </m:ctrlPr>
                        </m:naryPr>
                        <m:sub>
                          <m:r>
                            <a:rPr lang="en-AU" sz="1800" b="0" i="1" smtClean="0">
                              <a:latin typeface="Cambria Math" panose="02040503050406030204" pitchFamily="18" charset="0"/>
                            </a:rPr>
                            <m:t>𝑥</m:t>
                          </m:r>
                          <m:r>
                            <a:rPr lang="en-AU" sz="1800" b="0" i="1" smtClean="0">
                              <a:latin typeface="Cambria Math" panose="02040503050406030204" pitchFamily="18" charset="0"/>
                            </a:rPr>
                            <m:t>∈</m:t>
                          </m:r>
                          <m:r>
                            <a:rPr lang="en-AU" sz="1800" i="1">
                              <a:latin typeface="Cambria Math" panose="02040503050406030204" pitchFamily="18" charset="0"/>
                              <a:ea typeface="Cambria Math" panose="02040503050406030204" pitchFamily="18" charset="0"/>
                            </a:rPr>
                            <m:t>𝒳</m:t>
                          </m:r>
                        </m:sub>
                        <m:sup/>
                        <m:e>
                          <m:sSub>
                            <m:sSubPr>
                              <m:ctrlPr>
                                <a:rPr lang="en-AU" sz="1800" b="0" i="1" smtClean="0">
                                  <a:latin typeface="Cambria Math" panose="02040503050406030204" pitchFamily="18" charset="0"/>
                                </a:rPr>
                              </m:ctrlPr>
                            </m:sSubPr>
                            <m:e>
                              <m:r>
                                <a:rPr lang="en-AU" sz="1800" b="0" i="1" smtClean="0">
                                  <a:latin typeface="Cambria Math" panose="02040503050406030204" pitchFamily="18" charset="0"/>
                                </a:rPr>
                                <m:t>𝑝</m:t>
                              </m:r>
                            </m:e>
                            <m:sub>
                              <m:r>
                                <a:rPr lang="en-AU" sz="1800" b="0" i="1" smtClean="0">
                                  <a:latin typeface="Cambria Math" panose="02040503050406030204" pitchFamily="18" charset="0"/>
                                </a:rPr>
                                <m:t>𝑋</m:t>
                              </m:r>
                            </m:sub>
                          </m:sSub>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oMath>
                  </m:oMathPara>
                </a14:m>
                <a:endParaRPr kumimoji="0" lang="en-US" sz="180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sz="1800" b="1" kern="1200" dirty="0">
                  <a:solidFill>
                    <a:srgbClr val="000000"/>
                  </a:solidFill>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Observations / axioms:</a:t>
                </a:r>
                <a:endPar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Probabilities are </a:t>
                </a:r>
                <a:r>
                  <a:rPr kumimoji="0" lang="en-US" sz="18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rPr>
                  <a:t>bounded</a:t>
                </a:r>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i.e., for all </a:t>
                </a:r>
                <a14:m>
                  <m:oMath xmlns:m="http://schemas.openxmlformats.org/officeDocument/2006/math">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𝑥</m:t>
                    </m:r>
                  </m:oMath>
                </a14:m>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in </a:t>
                </a:r>
                <a14:m>
                  <m:oMath xmlns:m="http://schemas.openxmlformats.org/officeDocument/2006/math">
                    <m:sSub>
                      <m:sSub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𝐷</m:t>
                        </m:r>
                      </m:e>
                      <m:sub>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𝑋</m:t>
                        </m:r>
                      </m:sub>
                    </m:sSub>
                  </m:oMath>
                </a14:m>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a:t>
                </a:r>
                <a14:m>
                  <m:oMath xmlns:m="http://schemas.openxmlformats.org/officeDocument/2006/math">
                    <m:sSub>
                      <m:sSubPr>
                        <m:ctrlPr>
                          <a:rPr kumimoji="0" lang="en-AU" sz="1800" b="0" i="1" u="none" strike="noStrike" kern="1200" cap="none" spc="0" normalizeH="0" baseline="0" noProof="0" dirty="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𝑝</m:t>
                        </m:r>
                      </m:e>
                      <m:sub>
                        <m:r>
                          <a:rPr kumimoji="0" lang="en-AU" sz="1800" b="0" i="1" u="none" strike="noStrike" kern="1200" cap="none" spc="0" normalizeH="0" baseline="0" noProof="0" dirty="0" smtClean="0">
                            <a:ln>
                              <a:noFill/>
                            </a:ln>
                            <a:solidFill>
                              <a:srgbClr val="000000"/>
                            </a:solidFill>
                            <a:effectLst/>
                            <a:uLnTx/>
                            <a:uFillTx/>
                            <a:latin typeface="Cambria Math" panose="02040503050406030204" pitchFamily="18" charset="0"/>
                          </a:rPr>
                          <m:t>𝑋</m:t>
                        </m:r>
                      </m:sub>
                    </m:sSub>
                    <m:d>
                      <m:d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ctrlPr>
                      </m:dPr>
                      <m:e>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𝑥</m:t>
                        </m:r>
                      </m:e>
                    </m:d>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∈[0, 1]</m:t>
                    </m:r>
                  </m:oMath>
                </a14:m>
                <a:endPar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Probabilities </a:t>
                </a:r>
                <a:r>
                  <a:rPr kumimoji="0" lang="en-US" sz="18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rPr>
                  <a:t>sum</a:t>
                </a:r>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to 1, i.e.,</a:t>
                </a:r>
              </a:p>
              <a:p>
                <a:pPr marL="0" marR="0" lvl="0" indent="0" algn="l" defTabSz="914400" rtl="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naryPr>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𝑥</m:t>
                          </m:r>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𝐷</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sub>
                        <m:sup/>
                        <m:e>
                          <m:sSub>
                            <m:sSub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𝑝</m:t>
                              </m:r>
                            </m:e>
                            <m:sub>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𝑋</m:t>
                              </m:r>
                            </m:sub>
                          </m:sSub>
                          <m:d>
                            <m:dPr>
                              <m:ctrlP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𝑥</m:t>
                              </m:r>
                            </m:e>
                          </m:d>
                          <m:r>
                            <a:rPr kumimoji="0" lang="en-AU" sz="1800" b="0" i="1" u="none" strike="noStrike" kern="1200" cap="none" spc="0" normalizeH="0" baseline="0" noProof="0" smtClean="0">
                              <a:ln>
                                <a:noFill/>
                              </a:ln>
                              <a:solidFill>
                                <a:srgbClr val="000000"/>
                              </a:solidFill>
                              <a:effectLst/>
                              <a:uLnTx/>
                              <a:uFillTx/>
                              <a:latin typeface="Cambria Math" panose="02040503050406030204" pitchFamily="18" charset="0"/>
                            </a:rPr>
                            <m:t>=1</m:t>
                          </m:r>
                        </m:e>
                      </m:nary>
                    </m:oMath>
                  </m:oMathPara>
                </a14:m>
                <a:endParaRPr kumimoji="0" lang="en-US" sz="18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Convention:</a:t>
                </a:r>
                <a:endPar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We sometimes drop subscript </a:t>
                </a:r>
                <a14:m>
                  <m:oMath xmlns:m="http://schemas.openxmlformats.org/officeDocument/2006/math">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𝑋</m:t>
                    </m:r>
                  </m:oMath>
                </a14:m>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from </a:t>
                </a:r>
                <a14:m>
                  <m:oMath xmlns:m="http://schemas.openxmlformats.org/officeDocument/2006/math">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rPr>
                      <m:t>𝑝</m:t>
                    </m:r>
                  </m:oMath>
                </a14:m>
                <a:r>
                  <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 and domain from sums </a:t>
                </a:r>
                <a:r>
                  <a:rPr kumimoji="0" lang="en-US" sz="1800" b="0" i="1" u="none" strike="noStrike" kern="1200" cap="none" spc="0" normalizeH="0" baseline="0" noProof="0" dirty="0">
                    <a:ln>
                      <a:noFill/>
                    </a:ln>
                    <a:solidFill>
                      <a:srgbClr val="000000"/>
                    </a:solidFill>
                    <a:effectLst/>
                    <a:uLnTx/>
                    <a:uFillTx/>
                    <a:latin typeface="Tahoma" panose="020B0604030504040204" pitchFamily="34" charset="0"/>
                    <a:ea typeface="굴림" pitchFamily="6" charset="-127"/>
                    <a:cs typeface="Arial"/>
                  </a:rPr>
                  <a:t>when clear from context, e.g.,</a:t>
                </a:r>
              </a:p>
              <a:p>
                <a:pPr marL="0" marR="0" lvl="0" indent="0" algn="l" defTabSz="914400" rtl="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ctrlPr>
                        </m:naryPr>
                        <m:sub>
                          <m: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t>𝑥</m:t>
                          </m:r>
                        </m:sub>
                        <m:sup/>
                        <m:e>
                          <m: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t>𝑝</m:t>
                          </m:r>
                          <m:d>
                            <m:dPr>
                              <m:ctrlP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ctrlPr>
                            </m:dPr>
                            <m:e>
                              <m: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t>𝑥</m:t>
                              </m:r>
                            </m:e>
                          </m:d>
                          <m:r>
                            <a:rPr kumimoji="0" lang="en-AU" sz="1800" b="0" i="1" u="none" strike="noStrike" kern="1200" cap="none" spc="0" normalizeH="0" baseline="0" noProof="0">
                              <a:ln>
                                <a:noFill/>
                              </a:ln>
                              <a:solidFill>
                                <a:srgbClr val="000000"/>
                              </a:solidFill>
                              <a:effectLst/>
                              <a:uLnTx/>
                              <a:uFillTx/>
                              <a:latin typeface="Cambria Math" panose="02040503050406030204" pitchFamily="18" charset="0"/>
                            </a:rPr>
                            <m:t>=1</m:t>
                          </m:r>
                        </m:e>
                      </m:nary>
                    </m:oMath>
                  </m:oMathPara>
                </a14:m>
                <a:endParaRPr kumimoji="0" lang="en-US" sz="16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0C0"/>
                  </a:solidFill>
                  <a:effectLst/>
                  <a:uLnTx/>
                  <a:uFillTx/>
                  <a:latin typeface="Tahoma" panose="020B0604030504040204" pitchFamily="34" charset="0"/>
                  <a:ea typeface="굴림" pitchFamily="6" charset="-127"/>
                  <a:cs typeface="Arial"/>
                </a:endParaRPr>
              </a:p>
            </p:txBody>
          </p:sp>
        </mc:Choice>
        <mc:Fallback xmlns="">
          <p:sp>
            <p:nvSpPr>
              <p:cNvPr id="13315" name="Content Placeholder 2"/>
              <p:cNvSpPr>
                <a:spLocks noGrp="1" noRot="1" noChangeAspect="1" noMove="1" noResize="1" noEditPoints="1" noAdjustHandles="1" noChangeArrowheads="1" noChangeShapeType="1" noTextEdit="1"/>
              </p:cNvSpPr>
              <p:nvPr>
                <p:ph idx="4294967295"/>
              </p:nvPr>
            </p:nvSpPr>
            <p:spPr>
              <a:xfrm>
                <a:off x="176769" y="1500187"/>
                <a:ext cx="8312150" cy="4495800"/>
              </a:xfrm>
              <a:blipFill>
                <a:blip r:embed="rId3"/>
                <a:stretch>
                  <a:fillRect l="-457" t="-8732" r="-457" b="-37465"/>
                </a:stretch>
              </a:blipFill>
            </p:spPr>
            <p:txBody>
              <a:bodyPr/>
              <a:lstStyle/>
              <a:p>
                <a:r>
                  <a:rPr lang="en-US">
                    <a:noFill/>
                  </a:rPr>
                  <a:t> </a:t>
                </a:r>
              </a:p>
            </p:txBody>
          </p:sp>
        </mc:Fallback>
      </mc:AlternateContent>
      <p:sp>
        <p:nvSpPr>
          <p:cNvPr id="13318" name="TextBox 9"/>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extLst>
      <p:ext uri="{BB962C8B-B14F-4D97-AF65-F5344CB8AC3E}">
        <p14:creationId xmlns:p14="http://schemas.microsoft.com/office/powerpoint/2010/main" val="27757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idx="4294967295"/>
          </p:nvPr>
        </p:nvSpPr>
        <p:spPr>
          <a:xfrm>
            <a:off x="304800" y="152400"/>
            <a:ext cx="8458200" cy="990600"/>
          </a:xfrm>
        </p:spPr>
        <p:txBody>
          <a:bodyPr/>
          <a:lstStyle/>
          <a:p>
            <a:r>
              <a:rPr lang="en-US" altLang="ko-KR" dirty="0"/>
              <a:t>Two or More Variables: Joint and Marginal Probabilities</a:t>
            </a:r>
          </a:p>
        </p:txBody>
      </p:sp>
      <p:sp>
        <p:nvSpPr>
          <p:cNvPr id="19459" name="Content Placeholder 2"/>
          <p:cNvSpPr>
            <a:spLocks noGrp="1" noChangeArrowheads="1"/>
          </p:cNvSpPr>
          <p:nvPr>
            <p:ph idx="4294967295"/>
          </p:nvPr>
        </p:nvSpPr>
        <p:spPr/>
        <p:txBody>
          <a:bodyPr/>
          <a:lstStyle/>
          <a:p>
            <a:pPr marL="98425" indent="0">
              <a:buNone/>
            </a:pPr>
            <a:r>
              <a:rPr lang="en-US" altLang="ko-KR" sz="2000" dirty="0"/>
              <a:t>Example 2: Tossing two coins</a:t>
            </a:r>
          </a:p>
          <a:p>
            <a:pPr lvl="1"/>
            <a:endParaRPr lang="en-US" altLang="ko-KR" sz="2000" dirty="0">
              <a:ea typeface="Arial" panose="020B0604020202020204" pitchFamily="34" charset="0"/>
            </a:endParaRPr>
          </a:p>
        </p:txBody>
      </p:sp>
      <p:pic>
        <p:nvPicPr>
          <p:cNvPr id="1946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57400"/>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Box 9"/>
          <p:cNvSpPr>
            <a:spLocks noChangeArrowheads="1"/>
          </p:cNvSpPr>
          <p:nvPr/>
        </p:nvSpPr>
        <p:spPr bwMode="auto">
          <a:xfrm>
            <a:off x="146050" y="2030413"/>
            <a:ext cx="13779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800" dirty="0">
                <a:solidFill>
                  <a:srgbClr val="FF0000"/>
                </a:solidFill>
                <a:ea typeface="굴림" pitchFamily="6" charset="-127"/>
              </a:rPr>
              <a:t>Random Variables: </a:t>
            </a:r>
          </a:p>
          <a:p>
            <a:pPr>
              <a:spcBef>
                <a:spcPct val="0"/>
              </a:spcBef>
              <a:buFontTx/>
              <a:buNone/>
            </a:pPr>
            <a:r>
              <a:rPr lang="en-AU" altLang="ko-KR" sz="1800" dirty="0">
                <a:solidFill>
                  <a:srgbClr val="FF0000"/>
                </a:solidFill>
                <a:ea typeface="굴림" pitchFamily="6" charset="-127"/>
              </a:rPr>
              <a:t>X, Y, Z</a:t>
            </a:r>
          </a:p>
        </p:txBody>
      </p:sp>
      <p:sp>
        <p:nvSpPr>
          <p:cNvPr id="19463"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2" name="TextBox 1"/>
              <p:cNvSpPr txBox="1"/>
              <p:nvPr/>
            </p:nvSpPr>
            <p:spPr>
              <a:xfrm>
                <a:off x="2783188" y="2030413"/>
                <a:ext cx="5688632" cy="1815882"/>
              </a:xfrm>
              <a:prstGeom prst="rect">
                <a:avLst/>
              </a:prstGeom>
              <a:noFill/>
            </p:spPr>
            <p:txBody>
              <a:bodyPr wrap="square" rtlCol="0">
                <a:spAutoFit/>
              </a:bodyPr>
              <a:lstStyle/>
              <a:p>
                <a:r>
                  <a:rPr lang="en-US" dirty="0"/>
                  <a:t>Define three random variables</a:t>
                </a:r>
              </a:p>
              <a:p>
                <a:r>
                  <a:rPr lang="en-US" dirty="0"/>
                  <a:t>      </a:t>
                </a:r>
                <a:r>
                  <a:rPr lang="en-US" dirty="0">
                    <a:solidFill>
                      <a:srgbClr val="0070C0"/>
                    </a:solidFill>
                  </a:rPr>
                  <a:t>X</a:t>
                </a:r>
                <a:r>
                  <a:rPr lang="en-US" dirty="0"/>
                  <a:t>: tossing the coin for the first time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𝐷</m:t>
                        </m:r>
                      </m:e>
                      <m:sub>
                        <m:r>
                          <a:rPr lang="en-US" b="0" i="1" smtClean="0">
                            <a:solidFill>
                              <a:srgbClr val="0070C0"/>
                            </a:solidFill>
                            <a:latin typeface="Cambria Math" panose="02040503050406030204" pitchFamily="18" charset="0"/>
                          </a:rPr>
                          <m:t>𝑋</m:t>
                        </m:r>
                      </m:sub>
                    </m:sSub>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𝐻</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r>
                      <a:rPr lang="en-US" b="0" i="1" smtClean="0">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t>      </a:t>
                </a:r>
                <a:r>
                  <a:rPr lang="en-US" dirty="0">
                    <a:solidFill>
                      <a:srgbClr val="0070C0"/>
                    </a:solidFill>
                  </a:rPr>
                  <a:t>Y</a:t>
                </a:r>
                <a:r>
                  <a:rPr lang="en-US" dirty="0"/>
                  <a:t>: tossing the coin for second time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b="0" i="1" smtClean="0">
                            <a:solidFill>
                              <a:srgbClr val="0070C0"/>
                            </a:solidFill>
                            <a:latin typeface="Cambria Math" panose="02040503050406030204" pitchFamily="18" charset="0"/>
                          </a:rPr>
                          <m:t>𝑌</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solidFill>
                      <a:srgbClr val="0070C0"/>
                    </a:solidFill>
                  </a:rPr>
                  <a:t>      Z</a:t>
                </a:r>
                <a:r>
                  <a:rPr lang="en-US" dirty="0"/>
                  <a:t>: number of head outcomes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𝑍</m:t>
                        </m:r>
                      </m:sub>
                    </m:sSub>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0</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1</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2</m:t>
                    </m:r>
                    <m:r>
                      <a:rPr lang="en-US" i="1">
                        <a:solidFill>
                          <a:srgbClr val="0070C0"/>
                        </a:solidFill>
                        <a:latin typeface="Cambria Math" panose="02040503050406030204" pitchFamily="18" charset="0"/>
                      </a:rPr>
                      <m:t>}</m:t>
                    </m:r>
                  </m:oMath>
                </a14:m>
                <a:r>
                  <a:rPr lang="en-US" dirty="0">
                    <a:solidFill>
                      <a:srgbClr val="0070C0"/>
                    </a:solidFill>
                  </a:rPr>
                  <a:t>)</a:t>
                </a:r>
              </a:p>
              <a:p>
                <a:endParaRPr lang="en-US" dirty="0"/>
              </a:p>
              <a:p>
                <a:r>
                  <a:rPr lang="en-US" dirty="0">
                    <a:solidFill>
                      <a:srgbClr val="0070C0"/>
                    </a:solidFill>
                  </a:rPr>
                  <a:t>Joint probability </a:t>
                </a:r>
                <a:r>
                  <a:rPr lang="en-US" dirty="0"/>
                  <a:t>(mass function) </a:t>
                </a:r>
                <a14:m>
                  <m:oMath xmlns:m="http://schemas.openxmlformats.org/officeDocument/2006/math">
                    <m:r>
                      <a:rPr lang="en-US" i="1" dirty="0" smtClean="0">
                        <a:solidFill>
                          <a:srgbClr val="0070C0"/>
                        </a:solidFill>
                        <a:latin typeface="Cambria Math" panose="02040503050406030204" pitchFamily="18" charset="0"/>
                      </a:rPr>
                      <m:t>𝑝</m:t>
                    </m:r>
                    <m:r>
                      <a:rPr lang="en-US" i="1" dirty="0" smtClean="0">
                        <a:solidFill>
                          <a:srgbClr val="0070C0"/>
                        </a:solidFill>
                        <a:latin typeface="Cambria Math" panose="02040503050406030204" pitchFamily="18" charset="0"/>
                      </a:rPr>
                      <m:t>(⋅, ⋅,⋅)</m:t>
                    </m:r>
                  </m:oMath>
                </a14:m>
                <a:r>
                  <a:rPr lang="en-US" dirty="0"/>
                  <a:t> gives probability of possible combination of values:</a:t>
                </a:r>
              </a:p>
            </p:txBody>
          </p:sp>
        </mc:Choice>
        <mc:Fallback xmlns="">
          <p:sp>
            <p:nvSpPr>
              <p:cNvPr id="2" name="TextBox 1"/>
              <p:cNvSpPr txBox="1">
                <a:spLocks noRot="1" noChangeAspect="1" noMove="1" noResize="1" noEditPoints="1" noAdjustHandles="1" noChangeArrowheads="1" noChangeShapeType="1" noTextEdit="1"/>
              </p:cNvSpPr>
              <p:nvPr/>
            </p:nvSpPr>
            <p:spPr>
              <a:xfrm>
                <a:off x="2783188" y="2030413"/>
                <a:ext cx="5688632" cy="1815882"/>
              </a:xfrm>
              <a:prstGeom prst="rect">
                <a:avLst/>
              </a:prstGeom>
              <a:blipFill>
                <a:blip r:embed="rId4"/>
                <a:stretch>
                  <a:fillRect l="-668" t="-694" b="-34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09757507-A6DC-9098-C133-723D836F540F}"/>
                  </a:ext>
                </a:extLst>
              </p:cNvPr>
              <p:cNvGraphicFramePr>
                <a:graphicFrameLocks noGrp="1"/>
              </p:cNvGraphicFramePr>
              <p:nvPr/>
            </p:nvGraphicFramePr>
            <p:xfrm>
              <a:off x="2890520" y="4032789"/>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𝑋</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𝑌</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𝑍</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0</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4156083343"/>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2044965008"/>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1/9</m:t>
                                </m:r>
                              </m:oMath>
                            </m:oMathPara>
                          </a14:m>
                          <a:endParaRPr lang="en-US" sz="1400" dirty="0"/>
                        </a:p>
                      </a:txBody>
                      <a:tcPr/>
                    </a:tc>
                    <a:extLst>
                      <a:ext uri="{0D108BD9-81ED-4DB2-BD59-A6C34878D82A}">
                        <a16:rowId xmlns:a16="http://schemas.microsoft.com/office/drawing/2014/main" val="706057352"/>
                      </a:ext>
                    </a:extLst>
                  </a:tr>
                </a:tbl>
              </a:graphicData>
            </a:graphic>
          </p:graphicFrame>
        </mc:Choice>
        <mc:Fallback xmlns="">
          <p:graphicFrame>
            <p:nvGraphicFramePr>
              <p:cNvPr id="3" name="Table 3">
                <a:extLst>
                  <a:ext uri="{FF2B5EF4-FFF2-40B4-BE49-F238E27FC236}">
                    <a16:creationId xmlns:a16="http://schemas.microsoft.com/office/drawing/2014/main" id="{09757507-A6DC-9098-C133-723D836F540F}"/>
                  </a:ext>
                </a:extLst>
              </p:cNvPr>
              <p:cNvGraphicFramePr>
                <a:graphicFrameLocks noGrp="1"/>
              </p:cNvGraphicFramePr>
              <p:nvPr/>
            </p:nvGraphicFramePr>
            <p:xfrm>
              <a:off x="2890520" y="4032789"/>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5"/>
                          <a:stretch>
                            <a:fillRect t="-4167" r="-491304" b="-420833"/>
                          </a:stretch>
                        </a:blipFill>
                      </a:tcPr>
                    </a:tc>
                    <a:tc>
                      <a:txBody>
                        <a:bodyPr/>
                        <a:lstStyle/>
                        <a:p>
                          <a:endParaRPr lang="en-US"/>
                        </a:p>
                      </a:txBody>
                      <a:tcPr>
                        <a:blipFill>
                          <a:blip r:embed="rId5"/>
                          <a:stretch>
                            <a:fillRect l="-95833" t="-4167" r="-370833" b="-420833"/>
                          </a:stretch>
                        </a:blipFill>
                      </a:tcPr>
                    </a:tc>
                    <a:tc>
                      <a:txBody>
                        <a:bodyPr/>
                        <a:lstStyle/>
                        <a:p>
                          <a:endParaRPr lang="en-US"/>
                        </a:p>
                      </a:txBody>
                      <a:tcPr>
                        <a:blipFill>
                          <a:blip r:embed="rId5"/>
                          <a:stretch>
                            <a:fillRect l="-167857" t="-4167" r="-217857" b="-420833"/>
                          </a:stretch>
                        </a:blipFill>
                      </a:tcPr>
                    </a:tc>
                    <a:tc>
                      <a:txBody>
                        <a:bodyPr/>
                        <a:lstStyle/>
                        <a:p>
                          <a:endParaRPr lang="en-US"/>
                        </a:p>
                      </a:txBody>
                      <a:tcPr>
                        <a:blipFill>
                          <a:blip r:embed="rId5"/>
                          <a:stretch>
                            <a:fillRect l="-125000" t="-4167" r="-1667" b="-420833"/>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5"/>
                          <a:stretch>
                            <a:fillRect t="-104167" r="-491304" b="-320833"/>
                          </a:stretch>
                        </a:blipFill>
                      </a:tcPr>
                    </a:tc>
                    <a:tc>
                      <a:txBody>
                        <a:bodyPr/>
                        <a:lstStyle/>
                        <a:p>
                          <a:endParaRPr lang="en-US"/>
                        </a:p>
                      </a:txBody>
                      <a:tcPr>
                        <a:blipFill>
                          <a:blip r:embed="rId5"/>
                          <a:stretch>
                            <a:fillRect l="-95833" t="-104167" r="-370833" b="-320833"/>
                          </a:stretch>
                        </a:blipFill>
                      </a:tcPr>
                    </a:tc>
                    <a:tc>
                      <a:txBody>
                        <a:bodyPr/>
                        <a:lstStyle/>
                        <a:p>
                          <a:endParaRPr lang="en-US"/>
                        </a:p>
                      </a:txBody>
                      <a:tcPr>
                        <a:blipFill>
                          <a:blip r:embed="rId5"/>
                          <a:stretch>
                            <a:fillRect l="-167857" t="-104167" r="-217857" b="-320833"/>
                          </a:stretch>
                        </a:blipFill>
                      </a:tcPr>
                    </a:tc>
                    <a:tc>
                      <a:txBody>
                        <a:bodyPr/>
                        <a:lstStyle/>
                        <a:p>
                          <a:endParaRPr lang="en-US"/>
                        </a:p>
                      </a:txBody>
                      <a:tcPr>
                        <a:blipFill>
                          <a:blip r:embed="rId5"/>
                          <a:stretch>
                            <a:fillRect l="-125000" t="-104167" r="-1667" b="-320833"/>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5"/>
                          <a:stretch>
                            <a:fillRect t="-196000" r="-491304" b="-208000"/>
                          </a:stretch>
                        </a:blipFill>
                      </a:tcPr>
                    </a:tc>
                    <a:tc>
                      <a:txBody>
                        <a:bodyPr/>
                        <a:lstStyle/>
                        <a:p>
                          <a:endParaRPr lang="en-US"/>
                        </a:p>
                      </a:txBody>
                      <a:tcPr>
                        <a:blipFill>
                          <a:blip r:embed="rId5"/>
                          <a:stretch>
                            <a:fillRect l="-95833" t="-196000" r="-370833" b="-208000"/>
                          </a:stretch>
                        </a:blipFill>
                      </a:tcPr>
                    </a:tc>
                    <a:tc>
                      <a:txBody>
                        <a:bodyPr/>
                        <a:lstStyle/>
                        <a:p>
                          <a:endParaRPr lang="en-US"/>
                        </a:p>
                      </a:txBody>
                      <a:tcPr>
                        <a:blipFill>
                          <a:blip r:embed="rId5"/>
                          <a:stretch>
                            <a:fillRect l="-167857" t="-196000" r="-217857" b="-208000"/>
                          </a:stretch>
                        </a:blipFill>
                      </a:tcPr>
                    </a:tc>
                    <a:tc>
                      <a:txBody>
                        <a:bodyPr/>
                        <a:lstStyle/>
                        <a:p>
                          <a:endParaRPr lang="en-US"/>
                        </a:p>
                      </a:txBody>
                      <a:tcPr>
                        <a:blipFill>
                          <a:blip r:embed="rId5"/>
                          <a:stretch>
                            <a:fillRect l="-125000" t="-196000" r="-1667" b="-208000"/>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5"/>
                          <a:stretch>
                            <a:fillRect t="-308333" r="-491304" b="-116667"/>
                          </a:stretch>
                        </a:blipFill>
                      </a:tcPr>
                    </a:tc>
                    <a:tc>
                      <a:txBody>
                        <a:bodyPr/>
                        <a:lstStyle/>
                        <a:p>
                          <a:endParaRPr lang="en-US"/>
                        </a:p>
                      </a:txBody>
                      <a:tcPr>
                        <a:blipFill>
                          <a:blip r:embed="rId5"/>
                          <a:stretch>
                            <a:fillRect l="-95833" t="-308333" r="-370833" b="-116667"/>
                          </a:stretch>
                        </a:blipFill>
                      </a:tcPr>
                    </a:tc>
                    <a:tc>
                      <a:txBody>
                        <a:bodyPr/>
                        <a:lstStyle/>
                        <a:p>
                          <a:endParaRPr lang="en-US"/>
                        </a:p>
                      </a:txBody>
                      <a:tcPr>
                        <a:blipFill>
                          <a:blip r:embed="rId5"/>
                          <a:stretch>
                            <a:fillRect l="-167857" t="-308333" r="-217857" b="-116667"/>
                          </a:stretch>
                        </a:blipFill>
                      </a:tcPr>
                    </a:tc>
                    <a:tc>
                      <a:txBody>
                        <a:bodyPr/>
                        <a:lstStyle/>
                        <a:p>
                          <a:endParaRPr lang="en-US"/>
                        </a:p>
                      </a:txBody>
                      <a:tcPr>
                        <a:blipFill>
                          <a:blip r:embed="rId5"/>
                          <a:stretch>
                            <a:fillRect l="-125000" t="-308333" r="-1667" b="-116667"/>
                          </a:stretch>
                        </a:blipFill>
                      </a:tcPr>
                    </a:tc>
                    <a:extLst>
                      <a:ext uri="{0D108BD9-81ED-4DB2-BD59-A6C34878D82A}">
                        <a16:rowId xmlns:a16="http://schemas.microsoft.com/office/drawing/2014/main" val="2044965008"/>
                      </a:ext>
                    </a:extLst>
                  </a:tr>
                  <a:tr h="304800">
                    <a:tc>
                      <a:txBody>
                        <a:bodyPr/>
                        <a:lstStyle/>
                        <a:p>
                          <a:endParaRPr lang="en-US"/>
                        </a:p>
                      </a:txBody>
                      <a:tcPr>
                        <a:blipFill>
                          <a:blip r:embed="rId5"/>
                          <a:stretch>
                            <a:fillRect t="-408333" r="-491304" b="-16667"/>
                          </a:stretch>
                        </a:blipFill>
                      </a:tcPr>
                    </a:tc>
                    <a:tc>
                      <a:txBody>
                        <a:bodyPr/>
                        <a:lstStyle/>
                        <a:p>
                          <a:endParaRPr lang="en-US"/>
                        </a:p>
                      </a:txBody>
                      <a:tcPr>
                        <a:blipFill>
                          <a:blip r:embed="rId5"/>
                          <a:stretch>
                            <a:fillRect l="-95833" t="-408333" r="-370833" b="-16667"/>
                          </a:stretch>
                        </a:blipFill>
                      </a:tcPr>
                    </a:tc>
                    <a:tc>
                      <a:txBody>
                        <a:bodyPr/>
                        <a:lstStyle/>
                        <a:p>
                          <a:endParaRPr lang="en-US"/>
                        </a:p>
                      </a:txBody>
                      <a:tcPr>
                        <a:blipFill>
                          <a:blip r:embed="rId5"/>
                          <a:stretch>
                            <a:fillRect l="-167857" t="-408333" r="-217857" b="-16667"/>
                          </a:stretch>
                        </a:blipFill>
                      </a:tcPr>
                    </a:tc>
                    <a:tc>
                      <a:txBody>
                        <a:bodyPr/>
                        <a:lstStyle/>
                        <a:p>
                          <a:endParaRPr lang="en-US"/>
                        </a:p>
                      </a:txBody>
                      <a:tcPr>
                        <a:blipFill>
                          <a:blip r:embed="rId5"/>
                          <a:stretch>
                            <a:fillRect l="-125000" t="-408333" r="-1667" b="-16667"/>
                          </a:stretch>
                        </a:blipFill>
                      </a:tcPr>
                    </a:tc>
                    <a:extLst>
                      <a:ext uri="{0D108BD9-81ED-4DB2-BD59-A6C34878D82A}">
                        <a16:rowId xmlns:a16="http://schemas.microsoft.com/office/drawing/2014/main" val="706057352"/>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B9CDCFD-7D21-2D63-E6A9-03096D148985}"/>
                  </a:ext>
                </a:extLst>
              </p:cNvPr>
              <p:cNvSpPr txBox="1"/>
              <p:nvPr/>
            </p:nvSpPr>
            <p:spPr>
              <a:xfrm>
                <a:off x="4665036" y="4794789"/>
                <a:ext cx="2520280" cy="717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0" i="1" smtClean="0">
                              <a:latin typeface="Cambria Math" panose="02040503050406030204" pitchFamily="18" charset="0"/>
                            </a:rPr>
                          </m:ctrlPr>
                        </m:sSubPr>
                        <m:e>
                          <m:r>
                            <a:rPr lang="en-AU" sz="1600" b="0" i="1" smtClean="0">
                              <a:latin typeface="Cambria Math" panose="02040503050406030204" pitchFamily="18" charset="0"/>
                            </a:rPr>
                            <m:t>𝑝</m:t>
                          </m:r>
                        </m:e>
                        <m:sub>
                          <m:r>
                            <a:rPr lang="en-AU" sz="1600" b="0" i="1" smtClean="0">
                              <a:latin typeface="Cambria Math" panose="02040503050406030204" pitchFamily="18" charset="0"/>
                            </a:rPr>
                            <m:t>𝑋</m:t>
                          </m:r>
                        </m:sub>
                      </m:sSub>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d>
                      <m:r>
                        <a:rPr lang="en-AU" sz="1600" b="0" i="1" smtClean="0">
                          <a:latin typeface="Cambria Math" panose="02040503050406030204" pitchFamily="18" charset="0"/>
                        </a:rPr>
                        <m:t>=</m:t>
                      </m:r>
                      <m:nary>
                        <m:naryPr>
                          <m:chr m:val="∑"/>
                          <m:supHide m:val="on"/>
                          <m:ctrlPr>
                            <a:rPr lang="en-AU" sz="1600" b="0" i="1" smtClean="0">
                              <a:latin typeface="Cambria Math" panose="02040503050406030204" pitchFamily="18" charset="0"/>
                            </a:rPr>
                          </m:ctrlPr>
                        </m:naryPr>
                        <m:sub>
                          <m:r>
                            <m:rPr>
                              <m:brk m:alnAt="7"/>
                            </m:rP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sub>
                        <m:sup/>
                        <m:e>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r>
                            <a:rPr lang="en-AU" sz="1600" b="0" i="1" smtClean="0">
                              <a:latin typeface="Cambria Math" panose="02040503050406030204" pitchFamily="18" charset="0"/>
                            </a:rPr>
                            <m:t>)</m:t>
                          </m:r>
                        </m:e>
                      </m:nary>
                    </m:oMath>
                  </m:oMathPara>
                </a14:m>
                <a:endParaRPr lang="en-US" dirty="0"/>
              </a:p>
            </p:txBody>
          </p:sp>
        </mc:Choice>
        <mc:Fallback xmlns="">
          <p:sp>
            <p:nvSpPr>
              <p:cNvPr id="5" name="TextBox 4">
                <a:extLst>
                  <a:ext uri="{FF2B5EF4-FFF2-40B4-BE49-F238E27FC236}">
                    <a16:creationId xmlns:a16="http://schemas.microsoft.com/office/drawing/2014/main" id="{1B9CDCFD-7D21-2D63-E6A9-03096D148985}"/>
                  </a:ext>
                </a:extLst>
              </p:cNvPr>
              <p:cNvSpPr txBox="1">
                <a:spLocks noRot="1" noChangeAspect="1" noMove="1" noResize="1" noEditPoints="1" noAdjustHandles="1" noChangeArrowheads="1" noChangeShapeType="1" noTextEdit="1"/>
              </p:cNvSpPr>
              <p:nvPr/>
            </p:nvSpPr>
            <p:spPr>
              <a:xfrm>
                <a:off x="4665036" y="4794789"/>
                <a:ext cx="2520280" cy="717312"/>
              </a:xfrm>
              <a:prstGeom prst="rect">
                <a:avLst/>
              </a:prstGeom>
              <a:blipFill>
                <a:blip r:embed="rId6"/>
                <a:stretch>
                  <a:fillRect t="-117544" b="-16491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29C2BC3-FA8F-BE73-7723-12764B64D4D8}"/>
              </a:ext>
            </a:extLst>
          </p:cNvPr>
          <p:cNvCxnSpPr>
            <a:cxnSpLocks/>
          </p:cNvCxnSpPr>
          <p:nvPr/>
        </p:nvCxnSpPr>
        <p:spPr>
          <a:xfrm>
            <a:off x="4688067" y="4794789"/>
            <a:ext cx="2497249"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9EC51F-9485-01BF-D32C-E6C4594A2543}"/>
                  </a:ext>
                </a:extLst>
              </p:cNvPr>
              <p:cNvSpPr txBox="1"/>
              <p:nvPr/>
            </p:nvSpPr>
            <p:spPr>
              <a:xfrm>
                <a:off x="2735734" y="5627451"/>
                <a:ext cx="1955600" cy="276999"/>
              </a:xfrm>
              <a:prstGeom prst="rect">
                <a:avLst/>
              </a:prstGeom>
              <a:noFill/>
            </p:spPr>
            <p:txBody>
              <a:bodyPr wrap="none" rtlCol="0">
                <a:spAutoFit/>
              </a:bodyPr>
              <a:lstStyle/>
              <a:p>
                <a:r>
                  <a:rPr lang="en-US" sz="1200" dirty="0">
                    <a:solidFill>
                      <a:srgbClr val="FF0000"/>
                    </a:solidFill>
                  </a:rPr>
                  <a:t>(omitted entries w. </a:t>
                </a:r>
                <a14:m>
                  <m:oMath xmlns:m="http://schemas.openxmlformats.org/officeDocument/2006/math">
                    <m:r>
                      <a:rPr lang="en-US" sz="1200" i="1" dirty="0" smtClean="0">
                        <a:solidFill>
                          <a:srgbClr val="FF0000"/>
                        </a:solidFill>
                        <a:latin typeface="Cambria Math" panose="02040503050406030204" pitchFamily="18" charset="0"/>
                      </a:rPr>
                      <m:t>𝑝</m:t>
                    </m:r>
                    <m:r>
                      <a:rPr lang="en-US" sz="1200" i="1" dirty="0" smtClean="0">
                        <a:solidFill>
                          <a:srgbClr val="FF0000"/>
                        </a:solidFill>
                        <a:latin typeface="Cambria Math" panose="02040503050406030204" pitchFamily="18" charset="0"/>
                      </a:rPr>
                      <m:t>=0</m:t>
                    </m:r>
                  </m:oMath>
                </a14:m>
                <a:r>
                  <a:rPr lang="en-US" sz="1200" dirty="0">
                    <a:solidFill>
                      <a:srgbClr val="FF0000"/>
                    </a:solidFill>
                  </a:rPr>
                  <a:t>)</a:t>
                </a:r>
              </a:p>
            </p:txBody>
          </p:sp>
        </mc:Choice>
        <mc:Fallback xmlns="">
          <p:sp>
            <p:nvSpPr>
              <p:cNvPr id="9" name="TextBox 8">
                <a:extLst>
                  <a:ext uri="{FF2B5EF4-FFF2-40B4-BE49-F238E27FC236}">
                    <a16:creationId xmlns:a16="http://schemas.microsoft.com/office/drawing/2014/main" id="{449EC51F-9485-01BF-D32C-E6C4594A2543}"/>
                  </a:ext>
                </a:extLst>
              </p:cNvPr>
              <p:cNvSpPr txBox="1">
                <a:spLocks noRot="1" noChangeAspect="1" noMove="1" noResize="1" noEditPoints="1" noAdjustHandles="1" noChangeArrowheads="1" noChangeShapeType="1" noTextEdit="1"/>
              </p:cNvSpPr>
              <p:nvPr/>
            </p:nvSpPr>
            <p:spPr>
              <a:xfrm>
                <a:off x="2735734" y="5627451"/>
                <a:ext cx="1955600" cy="276999"/>
              </a:xfrm>
              <a:prstGeom prst="rect">
                <a:avLst/>
              </a:prstGeom>
              <a:blipFill>
                <a:blip r:embed="rId7"/>
                <a:stretch>
                  <a:fillRect b="-1304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968E6EE4-AB73-AA13-3010-C160CB68B640}"/>
              </a:ext>
            </a:extLst>
          </p:cNvPr>
          <p:cNvSpPr txBox="1"/>
          <p:nvPr/>
        </p:nvSpPr>
        <p:spPr>
          <a:xfrm>
            <a:off x="4953976" y="4425216"/>
            <a:ext cx="1973554" cy="338554"/>
          </a:xfrm>
          <a:prstGeom prst="rect">
            <a:avLst/>
          </a:prstGeom>
          <a:noFill/>
        </p:spPr>
        <p:txBody>
          <a:bodyPr wrap="none" rtlCol="0">
            <a:spAutoFit/>
          </a:bodyPr>
          <a:lstStyle/>
          <a:p>
            <a:r>
              <a:rPr lang="en-US" dirty="0">
                <a:solidFill>
                  <a:srgbClr val="0070C0"/>
                </a:solidFill>
              </a:rPr>
              <a:t>marginal</a:t>
            </a:r>
            <a:r>
              <a:rPr lang="en-US" dirty="0"/>
              <a:t> </a:t>
            </a:r>
            <a:r>
              <a:rPr lang="en-US" dirty="0">
                <a:solidFill>
                  <a:srgbClr val="0070C0"/>
                </a:solidFill>
              </a:rPr>
              <a:t>probability</a:t>
            </a:r>
          </a:p>
        </p:txBody>
      </p:sp>
      <p:sp>
        <p:nvSpPr>
          <p:cNvPr id="15" name="TextBox 14">
            <a:extLst>
              <a:ext uri="{FF2B5EF4-FFF2-40B4-BE49-F238E27FC236}">
                <a16:creationId xmlns:a16="http://schemas.microsoft.com/office/drawing/2014/main" id="{56417710-5F2E-CCDD-FF18-DE66EB8431F7}"/>
              </a:ext>
            </a:extLst>
          </p:cNvPr>
          <p:cNvSpPr txBox="1"/>
          <p:nvPr/>
        </p:nvSpPr>
        <p:spPr>
          <a:xfrm>
            <a:off x="2737346" y="6122041"/>
            <a:ext cx="3169778" cy="338554"/>
          </a:xfrm>
          <a:prstGeom prst="rect">
            <a:avLst/>
          </a:prstGeom>
          <a:noFill/>
        </p:spPr>
        <p:txBody>
          <a:bodyPr wrap="none" rtlCol="0">
            <a:spAutoFit/>
          </a:bodyPr>
          <a:lstStyle/>
          <a:p>
            <a:r>
              <a:rPr lang="en-US" dirty="0"/>
              <a:t>Again, all probabilities sum to 1: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4C9C8FC-158D-776A-B1FB-2412ECA83AE9}"/>
                  </a:ext>
                </a:extLst>
              </p:cNvPr>
              <p:cNvSpPr txBox="1"/>
              <p:nvPr/>
            </p:nvSpPr>
            <p:spPr>
              <a:xfrm>
                <a:off x="5328013" y="5971112"/>
                <a:ext cx="2520280" cy="717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AU" sz="1600" b="0" i="1" smtClean="0">
                              <a:latin typeface="Cambria Math" panose="02040503050406030204" pitchFamily="18" charset="0"/>
                            </a:rPr>
                          </m:ctrlPr>
                        </m:naryPr>
                        <m:sub>
                          <m:r>
                            <m:rPr>
                              <m:brk m:alnAt="7"/>
                            </m:rP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sub>
                        <m:sup/>
                        <m:e>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r>
                            <a:rPr lang="en-AU" sz="1600" b="0" i="1" smtClean="0">
                              <a:latin typeface="Cambria Math" panose="02040503050406030204" pitchFamily="18" charset="0"/>
                            </a:rPr>
                            <m:t>)</m:t>
                          </m:r>
                        </m:e>
                      </m:nary>
                      <m:r>
                        <a:rPr lang="en-AU" sz="1600" b="0" i="1" smtClean="0">
                          <a:latin typeface="Cambria Math" panose="02040503050406030204" pitchFamily="18" charset="0"/>
                        </a:rPr>
                        <m:t>=1</m:t>
                      </m:r>
                    </m:oMath>
                  </m:oMathPara>
                </a14:m>
                <a:endParaRPr lang="en-US" dirty="0"/>
              </a:p>
            </p:txBody>
          </p:sp>
        </mc:Choice>
        <mc:Fallback xmlns="">
          <p:sp>
            <p:nvSpPr>
              <p:cNvPr id="16" name="TextBox 15">
                <a:extLst>
                  <a:ext uri="{FF2B5EF4-FFF2-40B4-BE49-F238E27FC236}">
                    <a16:creationId xmlns:a16="http://schemas.microsoft.com/office/drawing/2014/main" id="{C4C9C8FC-158D-776A-B1FB-2412ECA83AE9}"/>
                  </a:ext>
                </a:extLst>
              </p:cNvPr>
              <p:cNvSpPr txBox="1">
                <a:spLocks noRot="1" noChangeAspect="1" noMove="1" noResize="1" noEditPoints="1" noAdjustHandles="1" noChangeArrowheads="1" noChangeShapeType="1" noTextEdit="1"/>
              </p:cNvSpPr>
              <p:nvPr/>
            </p:nvSpPr>
            <p:spPr>
              <a:xfrm>
                <a:off x="5328013" y="5971112"/>
                <a:ext cx="2520280" cy="717312"/>
              </a:xfrm>
              <a:prstGeom prst="rect">
                <a:avLst/>
              </a:prstGeom>
              <a:blipFill>
                <a:blip r:embed="rId8"/>
                <a:stretch>
                  <a:fillRect l="-10050" t="-119298" b="-1649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38509F2-7CB2-DCFD-B188-E24EEC7F3C86}"/>
                  </a:ext>
                </a:extLst>
              </p:cNvPr>
              <p:cNvGraphicFramePr>
                <a:graphicFrameLocks noGrp="1"/>
              </p:cNvGraphicFramePr>
              <p:nvPr>
                <p:extLst>
                  <p:ext uri="{D42A27DB-BD31-4B8C-83A1-F6EECF244321}">
                    <p14:modId xmlns:p14="http://schemas.microsoft.com/office/powerpoint/2010/main" val="2635843117"/>
                  </p:ext>
                </p:extLst>
              </p:nvPr>
            </p:nvGraphicFramePr>
            <p:xfrm>
              <a:off x="7231805" y="4271221"/>
              <a:ext cx="1105513" cy="9144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AU" sz="1400" b="0" i="1" smtClean="0">
                                    <a:solidFill>
                                      <a:schemeClr val="tx1"/>
                                    </a:solidFill>
                                    <a:latin typeface="Cambria Math" panose="02040503050406030204" pitchFamily="18" charset="0"/>
                                  </a:rPr>
                                  <m:t>𝑋</m:t>
                                </m:r>
                              </m:oMath>
                            </m:oMathPara>
                          </a14:m>
                          <a:endParaRPr lang="en-US" sz="1400" b="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m:rPr>
                                    <m:sty m:val="p"/>
                                  </m:rPr>
                                  <a:rPr lang="en-AU" sz="1400" b="0" i="0" smtClean="0">
                                    <a:latin typeface="Cambria Math" panose="02040503050406030204" pitchFamily="18" charset="0"/>
                                  </a:rPr>
                                  <m:t>H</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r>
                                  <a:rPr lang="en-AU" sz="1400" b="0" i="0" smtClean="0">
                                    <a:latin typeface="Cambria Math" panose="02040503050406030204" pitchFamily="18" charset="0"/>
                                  </a:rPr>
                                  <m:t>3</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m:rPr>
                                    <m:sty m:val="p"/>
                                  </m:rPr>
                                  <a:rPr lang="en-AU" sz="1400" b="0" i="0" smtClean="0">
                                    <a:latin typeface="Cambria Math" panose="02040503050406030204" pitchFamily="18" charset="0"/>
                                  </a:rPr>
                                  <m:t>T</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r>
                                  <a:rPr lang="en-AU" sz="1400" b="0" i="0" smtClean="0">
                                    <a:latin typeface="Cambria Math" panose="02040503050406030204" pitchFamily="18" charset="0"/>
                                  </a:rPr>
                                  <m:t>3</m:t>
                                </m:r>
                              </m:oMath>
                            </m:oMathPara>
                          </a14:m>
                          <a:endParaRPr lang="en-US" sz="1400" dirty="0"/>
                        </a:p>
                      </a:txBody>
                      <a:tcPr/>
                    </a:tc>
                    <a:extLst>
                      <a:ext uri="{0D108BD9-81ED-4DB2-BD59-A6C34878D82A}">
                        <a16:rowId xmlns:a16="http://schemas.microsoft.com/office/drawing/2014/main" val="4156083343"/>
                      </a:ext>
                    </a:extLst>
                  </a:tr>
                </a:tbl>
              </a:graphicData>
            </a:graphic>
          </p:graphicFrame>
        </mc:Choice>
        <mc:Fallback xmlns="">
          <p:graphicFrame>
            <p:nvGraphicFramePr>
              <p:cNvPr id="4" name="Table 3">
                <a:extLst>
                  <a:ext uri="{FF2B5EF4-FFF2-40B4-BE49-F238E27FC236}">
                    <a16:creationId xmlns:a16="http://schemas.microsoft.com/office/drawing/2014/main" id="{438509F2-7CB2-DCFD-B188-E24EEC7F3C86}"/>
                  </a:ext>
                </a:extLst>
              </p:cNvPr>
              <p:cNvGraphicFramePr>
                <a:graphicFrameLocks noGrp="1"/>
              </p:cNvGraphicFramePr>
              <p:nvPr>
                <p:extLst>
                  <p:ext uri="{D42A27DB-BD31-4B8C-83A1-F6EECF244321}">
                    <p14:modId xmlns:p14="http://schemas.microsoft.com/office/powerpoint/2010/main" val="2635843117"/>
                  </p:ext>
                </p:extLst>
              </p:nvPr>
            </p:nvGraphicFramePr>
            <p:xfrm>
              <a:off x="7231805" y="4271221"/>
              <a:ext cx="1105513" cy="9144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9"/>
                          <a:stretch>
                            <a:fillRect t="-4167" r="-217857" b="-216667"/>
                          </a:stretch>
                        </a:blipFill>
                      </a:tcPr>
                    </a:tc>
                    <a:tc>
                      <a:txBody>
                        <a:bodyPr/>
                        <a:lstStyle/>
                        <a:p>
                          <a:endParaRPr lang="en-US"/>
                        </a:p>
                      </a:txBody>
                      <a:tcPr>
                        <a:blipFill>
                          <a:blip r:embed="rId9"/>
                          <a:stretch>
                            <a:fillRect l="-46667" t="-4167" r="-1667" b="-216667"/>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9"/>
                          <a:stretch>
                            <a:fillRect t="-100000" r="-217857" b="-108000"/>
                          </a:stretch>
                        </a:blipFill>
                      </a:tcPr>
                    </a:tc>
                    <a:tc>
                      <a:txBody>
                        <a:bodyPr/>
                        <a:lstStyle/>
                        <a:p>
                          <a:endParaRPr lang="en-US"/>
                        </a:p>
                      </a:txBody>
                      <a:tcPr>
                        <a:blipFill>
                          <a:blip r:embed="rId9"/>
                          <a:stretch>
                            <a:fillRect l="-46667" t="-100000" r="-1667" b="-108000"/>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9"/>
                          <a:stretch>
                            <a:fillRect t="-208333" r="-217857" b="-12500"/>
                          </a:stretch>
                        </a:blipFill>
                      </a:tcPr>
                    </a:tc>
                    <a:tc>
                      <a:txBody>
                        <a:bodyPr/>
                        <a:lstStyle/>
                        <a:p>
                          <a:endParaRPr lang="en-US"/>
                        </a:p>
                      </a:txBody>
                      <a:tcPr>
                        <a:blipFill>
                          <a:blip r:embed="rId9"/>
                          <a:stretch>
                            <a:fillRect l="-46667" t="-208333" r="-1667" b="-12500"/>
                          </a:stretch>
                        </a:blipFill>
                      </a:tcPr>
                    </a:tc>
                    <a:extLst>
                      <a:ext uri="{0D108BD9-81ED-4DB2-BD59-A6C34878D82A}">
                        <a16:rowId xmlns:a16="http://schemas.microsoft.com/office/drawing/2014/main" val="4156083343"/>
                      </a:ext>
                    </a:extLst>
                  </a:tr>
                </a:tbl>
              </a:graphicData>
            </a:graphic>
          </p:graphicFrame>
        </mc:Fallback>
      </mc:AlternateContent>
    </p:spTree>
    <p:extLst>
      <p:ext uri="{BB962C8B-B14F-4D97-AF65-F5344CB8AC3E}">
        <p14:creationId xmlns:p14="http://schemas.microsoft.com/office/powerpoint/2010/main" val="197052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4" grpId="0"/>
      <p:bldP spid="15"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idx="4294967295"/>
          </p:nvPr>
        </p:nvSpPr>
        <p:spPr>
          <a:xfrm>
            <a:off x="304800" y="152400"/>
            <a:ext cx="8458200" cy="990600"/>
          </a:xfrm>
        </p:spPr>
        <p:txBody>
          <a:bodyPr/>
          <a:lstStyle/>
          <a:p>
            <a:r>
              <a:rPr lang="en-US" altLang="ko-KR" dirty="0"/>
              <a:t>Two or More Variables: Joint and Marginal Probabilities</a:t>
            </a:r>
          </a:p>
        </p:txBody>
      </p:sp>
      <p:sp>
        <p:nvSpPr>
          <p:cNvPr id="19459" name="Content Placeholder 2"/>
          <p:cNvSpPr>
            <a:spLocks noGrp="1" noChangeArrowheads="1"/>
          </p:cNvSpPr>
          <p:nvPr>
            <p:ph idx="4294967295"/>
          </p:nvPr>
        </p:nvSpPr>
        <p:spPr/>
        <p:txBody>
          <a:bodyPr/>
          <a:lstStyle/>
          <a:p>
            <a:pPr marL="98425" indent="0">
              <a:buNone/>
            </a:pPr>
            <a:r>
              <a:rPr lang="en-US" altLang="ko-KR" sz="2000" dirty="0"/>
              <a:t>Example 2: Tossing two coins</a:t>
            </a:r>
          </a:p>
          <a:p>
            <a:pPr lvl="1"/>
            <a:endParaRPr lang="en-US" altLang="ko-KR" sz="2000" dirty="0">
              <a:ea typeface="Arial" panose="020B0604020202020204" pitchFamily="34" charset="0"/>
            </a:endParaRPr>
          </a:p>
        </p:txBody>
      </p:sp>
      <p:pic>
        <p:nvPicPr>
          <p:cNvPr id="1946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57400"/>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Box 9"/>
          <p:cNvSpPr>
            <a:spLocks noChangeArrowheads="1"/>
          </p:cNvSpPr>
          <p:nvPr/>
        </p:nvSpPr>
        <p:spPr bwMode="auto">
          <a:xfrm>
            <a:off x="146050" y="2030413"/>
            <a:ext cx="13779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800" dirty="0">
                <a:solidFill>
                  <a:srgbClr val="FF0000"/>
                </a:solidFill>
                <a:ea typeface="굴림" pitchFamily="6" charset="-127"/>
              </a:rPr>
              <a:t>Random Variables: </a:t>
            </a:r>
          </a:p>
          <a:p>
            <a:pPr>
              <a:spcBef>
                <a:spcPct val="0"/>
              </a:spcBef>
              <a:buFontTx/>
              <a:buNone/>
            </a:pPr>
            <a:r>
              <a:rPr lang="en-AU" altLang="ko-KR" sz="1800" dirty="0">
                <a:solidFill>
                  <a:srgbClr val="FF0000"/>
                </a:solidFill>
                <a:ea typeface="굴림" pitchFamily="6" charset="-127"/>
              </a:rPr>
              <a:t>X, Y, Z</a:t>
            </a:r>
          </a:p>
        </p:txBody>
      </p:sp>
      <p:sp>
        <p:nvSpPr>
          <p:cNvPr id="19463"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2" name="TextBox 1"/>
              <p:cNvSpPr txBox="1"/>
              <p:nvPr/>
            </p:nvSpPr>
            <p:spPr>
              <a:xfrm>
                <a:off x="2783188" y="2030413"/>
                <a:ext cx="5688632" cy="1815882"/>
              </a:xfrm>
              <a:prstGeom prst="rect">
                <a:avLst/>
              </a:prstGeom>
              <a:noFill/>
            </p:spPr>
            <p:txBody>
              <a:bodyPr wrap="square" rtlCol="0">
                <a:spAutoFit/>
              </a:bodyPr>
              <a:lstStyle/>
              <a:p>
                <a:r>
                  <a:rPr lang="en-US" dirty="0"/>
                  <a:t>Define three random variables</a:t>
                </a:r>
              </a:p>
              <a:p>
                <a:r>
                  <a:rPr lang="en-US" dirty="0"/>
                  <a:t>      </a:t>
                </a:r>
                <a:r>
                  <a:rPr lang="en-US" dirty="0">
                    <a:solidFill>
                      <a:srgbClr val="0070C0"/>
                    </a:solidFill>
                  </a:rPr>
                  <a:t>X</a:t>
                </a:r>
                <a:r>
                  <a:rPr lang="en-US" dirty="0"/>
                  <a:t>: tossing the coin for the first time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𝐷</m:t>
                        </m:r>
                      </m:e>
                      <m:sub>
                        <m:r>
                          <a:rPr lang="en-US" b="0" i="1" smtClean="0">
                            <a:solidFill>
                              <a:srgbClr val="0070C0"/>
                            </a:solidFill>
                            <a:latin typeface="Cambria Math" panose="02040503050406030204" pitchFamily="18" charset="0"/>
                          </a:rPr>
                          <m:t>𝑋</m:t>
                        </m:r>
                      </m:sub>
                    </m:sSub>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𝐻</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r>
                      <a:rPr lang="en-US" b="0" i="1" smtClean="0">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t>      </a:t>
                </a:r>
                <a:r>
                  <a:rPr lang="en-US" dirty="0">
                    <a:solidFill>
                      <a:srgbClr val="0070C0"/>
                    </a:solidFill>
                  </a:rPr>
                  <a:t>Y</a:t>
                </a:r>
                <a:r>
                  <a:rPr lang="en-US" dirty="0"/>
                  <a:t>: tossing the coin for second time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b="0" i="1" smtClean="0">
                            <a:solidFill>
                              <a:srgbClr val="0070C0"/>
                            </a:solidFill>
                            <a:latin typeface="Cambria Math" panose="02040503050406030204" pitchFamily="18" charset="0"/>
                          </a:rPr>
                          <m:t>𝑌</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solidFill>
                      <a:srgbClr val="0070C0"/>
                    </a:solidFill>
                  </a:rPr>
                  <a:t>      Z</a:t>
                </a:r>
                <a:r>
                  <a:rPr lang="en-US" dirty="0"/>
                  <a:t>: number of head outcomes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𝑍</m:t>
                        </m:r>
                      </m:sub>
                    </m:sSub>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0</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1</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2</m:t>
                    </m:r>
                    <m:r>
                      <a:rPr lang="en-US" i="1">
                        <a:solidFill>
                          <a:srgbClr val="0070C0"/>
                        </a:solidFill>
                        <a:latin typeface="Cambria Math" panose="02040503050406030204" pitchFamily="18" charset="0"/>
                      </a:rPr>
                      <m:t>}</m:t>
                    </m:r>
                  </m:oMath>
                </a14:m>
                <a:r>
                  <a:rPr lang="en-US" dirty="0">
                    <a:solidFill>
                      <a:srgbClr val="0070C0"/>
                    </a:solidFill>
                  </a:rPr>
                  <a:t>)</a:t>
                </a:r>
              </a:p>
              <a:p>
                <a:endParaRPr lang="en-US" dirty="0"/>
              </a:p>
              <a:p>
                <a:r>
                  <a:rPr lang="en-US" dirty="0">
                    <a:solidFill>
                      <a:srgbClr val="0070C0"/>
                    </a:solidFill>
                  </a:rPr>
                  <a:t>Joint probability </a:t>
                </a:r>
                <a:r>
                  <a:rPr lang="en-US" dirty="0"/>
                  <a:t>(mass function) </a:t>
                </a:r>
                <a14:m>
                  <m:oMath xmlns:m="http://schemas.openxmlformats.org/officeDocument/2006/math">
                    <m:r>
                      <a:rPr lang="en-US" i="1" dirty="0" smtClean="0">
                        <a:solidFill>
                          <a:srgbClr val="0070C0"/>
                        </a:solidFill>
                        <a:latin typeface="Cambria Math" panose="02040503050406030204" pitchFamily="18" charset="0"/>
                      </a:rPr>
                      <m:t>𝑝</m:t>
                    </m:r>
                    <m:r>
                      <a:rPr lang="en-US" i="1" dirty="0" smtClean="0">
                        <a:solidFill>
                          <a:srgbClr val="0070C0"/>
                        </a:solidFill>
                        <a:latin typeface="Cambria Math" panose="02040503050406030204" pitchFamily="18" charset="0"/>
                      </a:rPr>
                      <m:t>(⋅, ⋅,⋅)</m:t>
                    </m:r>
                  </m:oMath>
                </a14:m>
                <a:r>
                  <a:rPr lang="en-US" dirty="0"/>
                  <a:t> gives probability of possible combination of values:</a:t>
                </a:r>
              </a:p>
            </p:txBody>
          </p:sp>
        </mc:Choice>
        <mc:Fallback xmlns="">
          <p:sp>
            <p:nvSpPr>
              <p:cNvPr id="2" name="TextBox 1"/>
              <p:cNvSpPr txBox="1">
                <a:spLocks noRot="1" noChangeAspect="1" noMove="1" noResize="1" noEditPoints="1" noAdjustHandles="1" noChangeArrowheads="1" noChangeShapeType="1" noTextEdit="1"/>
              </p:cNvSpPr>
              <p:nvPr/>
            </p:nvSpPr>
            <p:spPr>
              <a:xfrm>
                <a:off x="2783188" y="2030413"/>
                <a:ext cx="5688632" cy="1815882"/>
              </a:xfrm>
              <a:prstGeom prst="rect">
                <a:avLst/>
              </a:prstGeom>
              <a:blipFill>
                <a:blip r:embed="rId4"/>
                <a:stretch>
                  <a:fillRect l="-668" t="-694" b="-34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09757507-A6DC-9098-C133-723D836F540F}"/>
                  </a:ext>
                </a:extLst>
              </p:cNvPr>
              <p:cNvGraphicFramePr>
                <a:graphicFrameLocks noGrp="1"/>
              </p:cNvGraphicFramePr>
              <p:nvPr>
                <p:extLst>
                  <p:ext uri="{D42A27DB-BD31-4B8C-83A1-F6EECF244321}">
                    <p14:modId xmlns:p14="http://schemas.microsoft.com/office/powerpoint/2010/main" val="1240879866"/>
                  </p:ext>
                </p:extLst>
              </p:nvPr>
            </p:nvGraphicFramePr>
            <p:xfrm>
              <a:off x="2890520" y="4032789"/>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𝑋</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𝑌</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𝑍</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0</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4156083343"/>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2044965008"/>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1/9</m:t>
                                </m:r>
                              </m:oMath>
                            </m:oMathPara>
                          </a14:m>
                          <a:endParaRPr lang="en-US" sz="1400" dirty="0"/>
                        </a:p>
                      </a:txBody>
                      <a:tcPr/>
                    </a:tc>
                    <a:extLst>
                      <a:ext uri="{0D108BD9-81ED-4DB2-BD59-A6C34878D82A}">
                        <a16:rowId xmlns:a16="http://schemas.microsoft.com/office/drawing/2014/main" val="706057352"/>
                      </a:ext>
                    </a:extLst>
                  </a:tr>
                </a:tbl>
              </a:graphicData>
            </a:graphic>
          </p:graphicFrame>
        </mc:Choice>
        <mc:Fallback xmlns="">
          <p:graphicFrame>
            <p:nvGraphicFramePr>
              <p:cNvPr id="3" name="Table 3">
                <a:extLst>
                  <a:ext uri="{FF2B5EF4-FFF2-40B4-BE49-F238E27FC236}">
                    <a16:creationId xmlns:a16="http://schemas.microsoft.com/office/drawing/2014/main" id="{09757507-A6DC-9098-C133-723D836F540F}"/>
                  </a:ext>
                </a:extLst>
              </p:cNvPr>
              <p:cNvGraphicFramePr>
                <a:graphicFrameLocks noGrp="1"/>
              </p:cNvGraphicFramePr>
              <p:nvPr>
                <p:extLst>
                  <p:ext uri="{D42A27DB-BD31-4B8C-83A1-F6EECF244321}">
                    <p14:modId xmlns:p14="http://schemas.microsoft.com/office/powerpoint/2010/main" val="1240879866"/>
                  </p:ext>
                </p:extLst>
              </p:nvPr>
            </p:nvGraphicFramePr>
            <p:xfrm>
              <a:off x="2890520" y="4032789"/>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5"/>
                          <a:stretch>
                            <a:fillRect t="-4167" r="-491304" b="-420833"/>
                          </a:stretch>
                        </a:blipFill>
                      </a:tcPr>
                    </a:tc>
                    <a:tc>
                      <a:txBody>
                        <a:bodyPr/>
                        <a:lstStyle/>
                        <a:p>
                          <a:endParaRPr lang="en-US"/>
                        </a:p>
                      </a:txBody>
                      <a:tcPr>
                        <a:blipFill>
                          <a:blip r:embed="rId5"/>
                          <a:stretch>
                            <a:fillRect l="-95833" t="-4167" r="-370833" b="-420833"/>
                          </a:stretch>
                        </a:blipFill>
                      </a:tcPr>
                    </a:tc>
                    <a:tc>
                      <a:txBody>
                        <a:bodyPr/>
                        <a:lstStyle/>
                        <a:p>
                          <a:endParaRPr lang="en-US"/>
                        </a:p>
                      </a:txBody>
                      <a:tcPr>
                        <a:blipFill>
                          <a:blip r:embed="rId5"/>
                          <a:stretch>
                            <a:fillRect l="-167857" t="-4167" r="-217857" b="-420833"/>
                          </a:stretch>
                        </a:blipFill>
                      </a:tcPr>
                    </a:tc>
                    <a:tc>
                      <a:txBody>
                        <a:bodyPr/>
                        <a:lstStyle/>
                        <a:p>
                          <a:endParaRPr lang="en-US"/>
                        </a:p>
                      </a:txBody>
                      <a:tcPr>
                        <a:blipFill>
                          <a:blip r:embed="rId5"/>
                          <a:stretch>
                            <a:fillRect l="-125000" t="-4167" r="-1667" b="-420833"/>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5"/>
                          <a:stretch>
                            <a:fillRect t="-104167" r="-491304" b="-320833"/>
                          </a:stretch>
                        </a:blipFill>
                      </a:tcPr>
                    </a:tc>
                    <a:tc>
                      <a:txBody>
                        <a:bodyPr/>
                        <a:lstStyle/>
                        <a:p>
                          <a:endParaRPr lang="en-US"/>
                        </a:p>
                      </a:txBody>
                      <a:tcPr>
                        <a:blipFill>
                          <a:blip r:embed="rId5"/>
                          <a:stretch>
                            <a:fillRect l="-95833" t="-104167" r="-370833" b="-320833"/>
                          </a:stretch>
                        </a:blipFill>
                      </a:tcPr>
                    </a:tc>
                    <a:tc>
                      <a:txBody>
                        <a:bodyPr/>
                        <a:lstStyle/>
                        <a:p>
                          <a:endParaRPr lang="en-US"/>
                        </a:p>
                      </a:txBody>
                      <a:tcPr>
                        <a:blipFill>
                          <a:blip r:embed="rId5"/>
                          <a:stretch>
                            <a:fillRect l="-167857" t="-104167" r="-217857" b="-320833"/>
                          </a:stretch>
                        </a:blipFill>
                      </a:tcPr>
                    </a:tc>
                    <a:tc>
                      <a:txBody>
                        <a:bodyPr/>
                        <a:lstStyle/>
                        <a:p>
                          <a:endParaRPr lang="en-US"/>
                        </a:p>
                      </a:txBody>
                      <a:tcPr>
                        <a:blipFill>
                          <a:blip r:embed="rId5"/>
                          <a:stretch>
                            <a:fillRect l="-125000" t="-104167" r="-1667" b="-320833"/>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5"/>
                          <a:stretch>
                            <a:fillRect t="-196000" r="-491304" b="-208000"/>
                          </a:stretch>
                        </a:blipFill>
                      </a:tcPr>
                    </a:tc>
                    <a:tc>
                      <a:txBody>
                        <a:bodyPr/>
                        <a:lstStyle/>
                        <a:p>
                          <a:endParaRPr lang="en-US"/>
                        </a:p>
                      </a:txBody>
                      <a:tcPr>
                        <a:blipFill>
                          <a:blip r:embed="rId5"/>
                          <a:stretch>
                            <a:fillRect l="-95833" t="-196000" r="-370833" b="-208000"/>
                          </a:stretch>
                        </a:blipFill>
                      </a:tcPr>
                    </a:tc>
                    <a:tc>
                      <a:txBody>
                        <a:bodyPr/>
                        <a:lstStyle/>
                        <a:p>
                          <a:endParaRPr lang="en-US"/>
                        </a:p>
                      </a:txBody>
                      <a:tcPr>
                        <a:blipFill>
                          <a:blip r:embed="rId5"/>
                          <a:stretch>
                            <a:fillRect l="-167857" t="-196000" r="-217857" b="-208000"/>
                          </a:stretch>
                        </a:blipFill>
                      </a:tcPr>
                    </a:tc>
                    <a:tc>
                      <a:txBody>
                        <a:bodyPr/>
                        <a:lstStyle/>
                        <a:p>
                          <a:endParaRPr lang="en-US"/>
                        </a:p>
                      </a:txBody>
                      <a:tcPr>
                        <a:blipFill>
                          <a:blip r:embed="rId5"/>
                          <a:stretch>
                            <a:fillRect l="-125000" t="-196000" r="-1667" b="-208000"/>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5"/>
                          <a:stretch>
                            <a:fillRect t="-308333" r="-491304" b="-116667"/>
                          </a:stretch>
                        </a:blipFill>
                      </a:tcPr>
                    </a:tc>
                    <a:tc>
                      <a:txBody>
                        <a:bodyPr/>
                        <a:lstStyle/>
                        <a:p>
                          <a:endParaRPr lang="en-US"/>
                        </a:p>
                      </a:txBody>
                      <a:tcPr>
                        <a:blipFill>
                          <a:blip r:embed="rId5"/>
                          <a:stretch>
                            <a:fillRect l="-95833" t="-308333" r="-370833" b="-116667"/>
                          </a:stretch>
                        </a:blipFill>
                      </a:tcPr>
                    </a:tc>
                    <a:tc>
                      <a:txBody>
                        <a:bodyPr/>
                        <a:lstStyle/>
                        <a:p>
                          <a:endParaRPr lang="en-US"/>
                        </a:p>
                      </a:txBody>
                      <a:tcPr>
                        <a:blipFill>
                          <a:blip r:embed="rId5"/>
                          <a:stretch>
                            <a:fillRect l="-167857" t="-308333" r="-217857" b="-116667"/>
                          </a:stretch>
                        </a:blipFill>
                      </a:tcPr>
                    </a:tc>
                    <a:tc>
                      <a:txBody>
                        <a:bodyPr/>
                        <a:lstStyle/>
                        <a:p>
                          <a:endParaRPr lang="en-US"/>
                        </a:p>
                      </a:txBody>
                      <a:tcPr>
                        <a:blipFill>
                          <a:blip r:embed="rId5"/>
                          <a:stretch>
                            <a:fillRect l="-125000" t="-308333" r="-1667" b="-116667"/>
                          </a:stretch>
                        </a:blipFill>
                      </a:tcPr>
                    </a:tc>
                    <a:extLst>
                      <a:ext uri="{0D108BD9-81ED-4DB2-BD59-A6C34878D82A}">
                        <a16:rowId xmlns:a16="http://schemas.microsoft.com/office/drawing/2014/main" val="2044965008"/>
                      </a:ext>
                    </a:extLst>
                  </a:tr>
                  <a:tr h="304800">
                    <a:tc>
                      <a:txBody>
                        <a:bodyPr/>
                        <a:lstStyle/>
                        <a:p>
                          <a:endParaRPr lang="en-US"/>
                        </a:p>
                      </a:txBody>
                      <a:tcPr>
                        <a:blipFill>
                          <a:blip r:embed="rId5"/>
                          <a:stretch>
                            <a:fillRect t="-408333" r="-491304" b="-16667"/>
                          </a:stretch>
                        </a:blipFill>
                      </a:tcPr>
                    </a:tc>
                    <a:tc>
                      <a:txBody>
                        <a:bodyPr/>
                        <a:lstStyle/>
                        <a:p>
                          <a:endParaRPr lang="en-US"/>
                        </a:p>
                      </a:txBody>
                      <a:tcPr>
                        <a:blipFill>
                          <a:blip r:embed="rId5"/>
                          <a:stretch>
                            <a:fillRect l="-95833" t="-408333" r="-370833" b="-16667"/>
                          </a:stretch>
                        </a:blipFill>
                      </a:tcPr>
                    </a:tc>
                    <a:tc>
                      <a:txBody>
                        <a:bodyPr/>
                        <a:lstStyle/>
                        <a:p>
                          <a:endParaRPr lang="en-US"/>
                        </a:p>
                      </a:txBody>
                      <a:tcPr>
                        <a:blipFill>
                          <a:blip r:embed="rId5"/>
                          <a:stretch>
                            <a:fillRect l="-167857" t="-408333" r="-217857" b="-16667"/>
                          </a:stretch>
                        </a:blipFill>
                      </a:tcPr>
                    </a:tc>
                    <a:tc>
                      <a:txBody>
                        <a:bodyPr/>
                        <a:lstStyle/>
                        <a:p>
                          <a:endParaRPr lang="en-US"/>
                        </a:p>
                      </a:txBody>
                      <a:tcPr>
                        <a:blipFill>
                          <a:blip r:embed="rId5"/>
                          <a:stretch>
                            <a:fillRect l="-125000" t="-408333" r="-1667" b="-16667"/>
                          </a:stretch>
                        </a:blipFill>
                      </a:tcPr>
                    </a:tc>
                    <a:extLst>
                      <a:ext uri="{0D108BD9-81ED-4DB2-BD59-A6C34878D82A}">
                        <a16:rowId xmlns:a16="http://schemas.microsoft.com/office/drawing/2014/main" val="706057352"/>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B9CDCFD-7D21-2D63-E6A9-03096D148985}"/>
                  </a:ext>
                </a:extLst>
              </p:cNvPr>
              <p:cNvSpPr txBox="1"/>
              <p:nvPr/>
            </p:nvSpPr>
            <p:spPr>
              <a:xfrm>
                <a:off x="4665036" y="4794789"/>
                <a:ext cx="2520280" cy="717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1600" b="0" i="1" smtClean="0">
                              <a:latin typeface="Cambria Math" panose="02040503050406030204" pitchFamily="18" charset="0"/>
                            </a:rPr>
                          </m:ctrlPr>
                        </m:sSubPr>
                        <m:e>
                          <m:r>
                            <a:rPr lang="en-AU" sz="1600" b="0" i="1" smtClean="0">
                              <a:latin typeface="Cambria Math" panose="02040503050406030204" pitchFamily="18" charset="0"/>
                            </a:rPr>
                            <m:t>𝑝</m:t>
                          </m:r>
                        </m:e>
                        <m:sub>
                          <m:r>
                            <a:rPr lang="en-AU" sz="1600" b="0" i="1" smtClean="0">
                              <a:latin typeface="Cambria Math" panose="02040503050406030204" pitchFamily="18" charset="0"/>
                            </a:rPr>
                            <m:t>𝑍</m:t>
                          </m:r>
                        </m:sub>
                      </m:sSub>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𝑧</m:t>
                          </m:r>
                        </m:e>
                      </m:d>
                      <m:r>
                        <a:rPr lang="en-AU" sz="1600" b="0" i="1" smtClean="0">
                          <a:latin typeface="Cambria Math" panose="02040503050406030204" pitchFamily="18" charset="0"/>
                        </a:rPr>
                        <m:t>=</m:t>
                      </m:r>
                      <m:nary>
                        <m:naryPr>
                          <m:chr m:val="∑"/>
                          <m:supHide m:val="on"/>
                          <m:ctrlPr>
                            <a:rPr lang="en-AU" sz="1600" b="0" i="1" smtClean="0">
                              <a:latin typeface="Cambria Math" panose="02040503050406030204" pitchFamily="18" charset="0"/>
                            </a:rPr>
                          </m:ctrlPr>
                        </m:naryPr>
                        <m:sub>
                          <m:r>
                            <m:rPr>
                              <m:brk m:alnAt="7"/>
                            </m:rP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sub>
                        <m:sup/>
                        <m:e>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r>
                            <a:rPr lang="en-AU" sz="1600" b="0" i="1" smtClean="0">
                              <a:latin typeface="Cambria Math" panose="02040503050406030204" pitchFamily="18" charset="0"/>
                            </a:rPr>
                            <m:t>)</m:t>
                          </m:r>
                        </m:e>
                      </m:nary>
                    </m:oMath>
                  </m:oMathPara>
                </a14:m>
                <a:endParaRPr lang="en-US" dirty="0"/>
              </a:p>
            </p:txBody>
          </p:sp>
        </mc:Choice>
        <mc:Fallback xmlns="">
          <p:sp>
            <p:nvSpPr>
              <p:cNvPr id="5" name="TextBox 4">
                <a:extLst>
                  <a:ext uri="{FF2B5EF4-FFF2-40B4-BE49-F238E27FC236}">
                    <a16:creationId xmlns:a16="http://schemas.microsoft.com/office/drawing/2014/main" id="{1B9CDCFD-7D21-2D63-E6A9-03096D148985}"/>
                  </a:ext>
                </a:extLst>
              </p:cNvPr>
              <p:cNvSpPr txBox="1">
                <a:spLocks noRot="1" noChangeAspect="1" noMove="1" noResize="1" noEditPoints="1" noAdjustHandles="1" noChangeArrowheads="1" noChangeShapeType="1" noTextEdit="1"/>
              </p:cNvSpPr>
              <p:nvPr/>
            </p:nvSpPr>
            <p:spPr>
              <a:xfrm>
                <a:off x="4665036" y="4794789"/>
                <a:ext cx="2520280" cy="717312"/>
              </a:xfrm>
              <a:prstGeom prst="rect">
                <a:avLst/>
              </a:prstGeom>
              <a:blipFill>
                <a:blip r:embed="rId6"/>
                <a:stretch>
                  <a:fillRect t="-117544" b="-164912"/>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29C2BC3-FA8F-BE73-7723-12764B64D4D8}"/>
              </a:ext>
            </a:extLst>
          </p:cNvPr>
          <p:cNvCxnSpPr>
            <a:cxnSpLocks/>
          </p:cNvCxnSpPr>
          <p:nvPr/>
        </p:nvCxnSpPr>
        <p:spPr>
          <a:xfrm>
            <a:off x="4688067" y="4794789"/>
            <a:ext cx="2497249"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9EC51F-9485-01BF-D32C-E6C4594A2543}"/>
                  </a:ext>
                </a:extLst>
              </p:cNvPr>
              <p:cNvSpPr txBox="1"/>
              <p:nvPr/>
            </p:nvSpPr>
            <p:spPr>
              <a:xfrm>
                <a:off x="2735734" y="5627451"/>
                <a:ext cx="1955600" cy="276999"/>
              </a:xfrm>
              <a:prstGeom prst="rect">
                <a:avLst/>
              </a:prstGeom>
              <a:noFill/>
            </p:spPr>
            <p:txBody>
              <a:bodyPr wrap="none" rtlCol="0">
                <a:spAutoFit/>
              </a:bodyPr>
              <a:lstStyle/>
              <a:p>
                <a:r>
                  <a:rPr lang="en-US" sz="1200" dirty="0">
                    <a:solidFill>
                      <a:srgbClr val="FF0000"/>
                    </a:solidFill>
                  </a:rPr>
                  <a:t>(omitted entries w. </a:t>
                </a:r>
                <a14:m>
                  <m:oMath xmlns:m="http://schemas.openxmlformats.org/officeDocument/2006/math">
                    <m:r>
                      <a:rPr lang="en-US" sz="1200" i="1" dirty="0" smtClean="0">
                        <a:solidFill>
                          <a:srgbClr val="FF0000"/>
                        </a:solidFill>
                        <a:latin typeface="Cambria Math" panose="02040503050406030204" pitchFamily="18" charset="0"/>
                      </a:rPr>
                      <m:t>𝑝</m:t>
                    </m:r>
                    <m:r>
                      <a:rPr lang="en-US" sz="1200" i="1" dirty="0" smtClean="0">
                        <a:solidFill>
                          <a:srgbClr val="FF0000"/>
                        </a:solidFill>
                        <a:latin typeface="Cambria Math" panose="02040503050406030204" pitchFamily="18" charset="0"/>
                      </a:rPr>
                      <m:t>=0</m:t>
                    </m:r>
                  </m:oMath>
                </a14:m>
                <a:r>
                  <a:rPr lang="en-US" sz="1200" dirty="0">
                    <a:solidFill>
                      <a:srgbClr val="FF0000"/>
                    </a:solidFill>
                  </a:rPr>
                  <a:t>)</a:t>
                </a:r>
              </a:p>
            </p:txBody>
          </p:sp>
        </mc:Choice>
        <mc:Fallback xmlns="">
          <p:sp>
            <p:nvSpPr>
              <p:cNvPr id="9" name="TextBox 8">
                <a:extLst>
                  <a:ext uri="{FF2B5EF4-FFF2-40B4-BE49-F238E27FC236}">
                    <a16:creationId xmlns:a16="http://schemas.microsoft.com/office/drawing/2014/main" id="{449EC51F-9485-01BF-D32C-E6C4594A2543}"/>
                  </a:ext>
                </a:extLst>
              </p:cNvPr>
              <p:cNvSpPr txBox="1">
                <a:spLocks noRot="1" noChangeAspect="1" noMove="1" noResize="1" noEditPoints="1" noAdjustHandles="1" noChangeArrowheads="1" noChangeShapeType="1" noTextEdit="1"/>
              </p:cNvSpPr>
              <p:nvPr/>
            </p:nvSpPr>
            <p:spPr>
              <a:xfrm>
                <a:off x="2735734" y="5627451"/>
                <a:ext cx="1955600" cy="276999"/>
              </a:xfrm>
              <a:prstGeom prst="rect">
                <a:avLst/>
              </a:prstGeom>
              <a:blipFill>
                <a:blip r:embed="rId7"/>
                <a:stretch>
                  <a:fillRect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3">
                <a:extLst>
                  <a:ext uri="{FF2B5EF4-FFF2-40B4-BE49-F238E27FC236}">
                    <a16:creationId xmlns:a16="http://schemas.microsoft.com/office/drawing/2014/main" id="{B944A63D-8154-C6EA-2690-B52B956D37EB}"/>
                  </a:ext>
                </a:extLst>
              </p:cNvPr>
              <p:cNvGraphicFramePr>
                <a:graphicFrameLocks noGrp="1"/>
              </p:cNvGraphicFramePr>
              <p:nvPr>
                <p:extLst>
                  <p:ext uri="{D42A27DB-BD31-4B8C-83A1-F6EECF244321}">
                    <p14:modId xmlns:p14="http://schemas.microsoft.com/office/powerpoint/2010/main" val="1044819091"/>
                  </p:ext>
                </p:extLst>
              </p:nvPr>
            </p:nvGraphicFramePr>
            <p:xfrm>
              <a:off x="7295537" y="4111090"/>
              <a:ext cx="1105513" cy="12192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𝑍</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0</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4156083343"/>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1/9</m:t>
                                </m:r>
                              </m:oMath>
                            </m:oMathPara>
                          </a14:m>
                          <a:endParaRPr lang="en-US" sz="1400" dirty="0"/>
                        </a:p>
                      </a:txBody>
                      <a:tcPr/>
                    </a:tc>
                    <a:extLst>
                      <a:ext uri="{0D108BD9-81ED-4DB2-BD59-A6C34878D82A}">
                        <a16:rowId xmlns:a16="http://schemas.microsoft.com/office/drawing/2014/main" val="706057352"/>
                      </a:ext>
                    </a:extLst>
                  </a:tr>
                </a:tbl>
              </a:graphicData>
            </a:graphic>
          </p:graphicFrame>
        </mc:Choice>
        <mc:Fallback xmlns="">
          <p:graphicFrame>
            <p:nvGraphicFramePr>
              <p:cNvPr id="13" name="Table 3">
                <a:extLst>
                  <a:ext uri="{FF2B5EF4-FFF2-40B4-BE49-F238E27FC236}">
                    <a16:creationId xmlns:a16="http://schemas.microsoft.com/office/drawing/2014/main" id="{B944A63D-8154-C6EA-2690-B52B956D37EB}"/>
                  </a:ext>
                </a:extLst>
              </p:cNvPr>
              <p:cNvGraphicFramePr>
                <a:graphicFrameLocks noGrp="1"/>
              </p:cNvGraphicFramePr>
              <p:nvPr>
                <p:extLst>
                  <p:ext uri="{D42A27DB-BD31-4B8C-83A1-F6EECF244321}">
                    <p14:modId xmlns:p14="http://schemas.microsoft.com/office/powerpoint/2010/main" val="1044819091"/>
                  </p:ext>
                </p:extLst>
              </p:nvPr>
            </p:nvGraphicFramePr>
            <p:xfrm>
              <a:off x="7295537" y="4111090"/>
              <a:ext cx="1105513" cy="12192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8"/>
                          <a:stretch>
                            <a:fillRect t="-4167" r="-217857" b="-316667"/>
                          </a:stretch>
                        </a:blipFill>
                      </a:tcPr>
                    </a:tc>
                    <a:tc>
                      <a:txBody>
                        <a:bodyPr/>
                        <a:lstStyle/>
                        <a:p>
                          <a:endParaRPr lang="en-US"/>
                        </a:p>
                      </a:txBody>
                      <a:tcPr>
                        <a:blipFill>
                          <a:blip r:embed="rId8"/>
                          <a:stretch>
                            <a:fillRect l="-46667" t="-4167" r="-1667" b="-316667"/>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8"/>
                          <a:stretch>
                            <a:fillRect t="-100000" r="-217857" b="-204000"/>
                          </a:stretch>
                        </a:blipFill>
                      </a:tcPr>
                    </a:tc>
                    <a:tc>
                      <a:txBody>
                        <a:bodyPr/>
                        <a:lstStyle/>
                        <a:p>
                          <a:endParaRPr lang="en-US"/>
                        </a:p>
                      </a:txBody>
                      <a:tcPr>
                        <a:blipFill>
                          <a:blip r:embed="rId8"/>
                          <a:stretch>
                            <a:fillRect l="-46667" t="-100000" r="-1667" b="-204000"/>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8"/>
                          <a:stretch>
                            <a:fillRect t="-208333" r="-217857" b="-112500"/>
                          </a:stretch>
                        </a:blipFill>
                      </a:tcPr>
                    </a:tc>
                    <a:tc>
                      <a:txBody>
                        <a:bodyPr/>
                        <a:lstStyle/>
                        <a:p>
                          <a:endParaRPr lang="en-US"/>
                        </a:p>
                      </a:txBody>
                      <a:tcPr>
                        <a:blipFill>
                          <a:blip r:embed="rId8"/>
                          <a:stretch>
                            <a:fillRect l="-46667" t="-208333" r="-1667" b="-112500"/>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8"/>
                          <a:stretch>
                            <a:fillRect t="-308333" r="-217857" b="-12500"/>
                          </a:stretch>
                        </a:blipFill>
                      </a:tcPr>
                    </a:tc>
                    <a:tc>
                      <a:txBody>
                        <a:bodyPr/>
                        <a:lstStyle/>
                        <a:p>
                          <a:endParaRPr lang="en-US"/>
                        </a:p>
                      </a:txBody>
                      <a:tcPr>
                        <a:blipFill>
                          <a:blip r:embed="rId8"/>
                          <a:stretch>
                            <a:fillRect l="-46667" t="-308333" r="-1667" b="-12500"/>
                          </a:stretch>
                        </a:blipFill>
                      </a:tcPr>
                    </a:tc>
                    <a:extLst>
                      <a:ext uri="{0D108BD9-81ED-4DB2-BD59-A6C34878D82A}">
                        <a16:rowId xmlns:a16="http://schemas.microsoft.com/office/drawing/2014/main" val="706057352"/>
                      </a:ext>
                    </a:extLst>
                  </a:tr>
                </a:tbl>
              </a:graphicData>
            </a:graphic>
          </p:graphicFrame>
        </mc:Fallback>
      </mc:AlternateContent>
      <p:sp>
        <p:nvSpPr>
          <p:cNvPr id="14" name="TextBox 13">
            <a:extLst>
              <a:ext uri="{FF2B5EF4-FFF2-40B4-BE49-F238E27FC236}">
                <a16:creationId xmlns:a16="http://schemas.microsoft.com/office/drawing/2014/main" id="{968E6EE4-AB73-AA13-3010-C160CB68B640}"/>
              </a:ext>
            </a:extLst>
          </p:cNvPr>
          <p:cNvSpPr txBox="1"/>
          <p:nvPr/>
        </p:nvSpPr>
        <p:spPr>
          <a:xfrm>
            <a:off x="4953976" y="4425216"/>
            <a:ext cx="1973554" cy="338554"/>
          </a:xfrm>
          <a:prstGeom prst="rect">
            <a:avLst/>
          </a:prstGeom>
          <a:noFill/>
        </p:spPr>
        <p:txBody>
          <a:bodyPr wrap="none" rtlCol="0">
            <a:spAutoFit/>
          </a:bodyPr>
          <a:lstStyle/>
          <a:p>
            <a:r>
              <a:rPr lang="en-US" dirty="0">
                <a:solidFill>
                  <a:srgbClr val="0070C0"/>
                </a:solidFill>
              </a:rPr>
              <a:t>marginal</a:t>
            </a:r>
            <a:r>
              <a:rPr lang="en-US" dirty="0"/>
              <a:t> </a:t>
            </a:r>
            <a:r>
              <a:rPr lang="en-US" dirty="0">
                <a:solidFill>
                  <a:srgbClr val="0070C0"/>
                </a:solidFill>
              </a:rPr>
              <a:t>probability</a:t>
            </a:r>
          </a:p>
        </p:txBody>
      </p:sp>
      <p:sp>
        <p:nvSpPr>
          <p:cNvPr id="15" name="TextBox 14">
            <a:extLst>
              <a:ext uri="{FF2B5EF4-FFF2-40B4-BE49-F238E27FC236}">
                <a16:creationId xmlns:a16="http://schemas.microsoft.com/office/drawing/2014/main" id="{56417710-5F2E-CCDD-FF18-DE66EB8431F7}"/>
              </a:ext>
            </a:extLst>
          </p:cNvPr>
          <p:cNvSpPr txBox="1"/>
          <p:nvPr/>
        </p:nvSpPr>
        <p:spPr>
          <a:xfrm>
            <a:off x="2737346" y="6122041"/>
            <a:ext cx="3169778" cy="338554"/>
          </a:xfrm>
          <a:prstGeom prst="rect">
            <a:avLst/>
          </a:prstGeom>
          <a:noFill/>
        </p:spPr>
        <p:txBody>
          <a:bodyPr wrap="none" rtlCol="0">
            <a:spAutoFit/>
          </a:bodyPr>
          <a:lstStyle/>
          <a:p>
            <a:r>
              <a:rPr lang="en-US" dirty="0"/>
              <a:t>Again, all probabilities sum to 1: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4C9C8FC-158D-776A-B1FB-2412ECA83AE9}"/>
                  </a:ext>
                </a:extLst>
              </p:cNvPr>
              <p:cNvSpPr txBox="1"/>
              <p:nvPr/>
            </p:nvSpPr>
            <p:spPr>
              <a:xfrm>
                <a:off x="5328013" y="5971112"/>
                <a:ext cx="2520280" cy="717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AU" sz="1600" b="0" i="1" smtClean="0">
                              <a:latin typeface="Cambria Math" panose="02040503050406030204" pitchFamily="18" charset="0"/>
                            </a:rPr>
                          </m:ctrlPr>
                        </m:naryPr>
                        <m:sub>
                          <m:r>
                            <m:rPr>
                              <m:brk m:alnAt="7"/>
                            </m:rP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sub>
                        <m:sup/>
                        <m:e>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r>
                            <a:rPr lang="en-AU" sz="1600" b="0" i="1" smtClean="0">
                              <a:latin typeface="Cambria Math" panose="02040503050406030204" pitchFamily="18" charset="0"/>
                            </a:rPr>
                            <m:t>𝑧</m:t>
                          </m:r>
                          <m:r>
                            <a:rPr lang="en-AU" sz="1600" b="0" i="1" smtClean="0">
                              <a:latin typeface="Cambria Math" panose="02040503050406030204" pitchFamily="18" charset="0"/>
                            </a:rPr>
                            <m:t>)</m:t>
                          </m:r>
                        </m:e>
                      </m:nary>
                      <m:r>
                        <a:rPr lang="en-AU" sz="1600" b="0" i="1" smtClean="0">
                          <a:latin typeface="Cambria Math" panose="02040503050406030204" pitchFamily="18" charset="0"/>
                        </a:rPr>
                        <m:t>=1</m:t>
                      </m:r>
                    </m:oMath>
                  </m:oMathPara>
                </a14:m>
                <a:endParaRPr lang="en-US" dirty="0"/>
              </a:p>
            </p:txBody>
          </p:sp>
        </mc:Choice>
        <mc:Fallback xmlns="">
          <p:sp>
            <p:nvSpPr>
              <p:cNvPr id="16" name="TextBox 15">
                <a:extLst>
                  <a:ext uri="{FF2B5EF4-FFF2-40B4-BE49-F238E27FC236}">
                    <a16:creationId xmlns:a16="http://schemas.microsoft.com/office/drawing/2014/main" id="{C4C9C8FC-158D-776A-B1FB-2412ECA83AE9}"/>
                  </a:ext>
                </a:extLst>
              </p:cNvPr>
              <p:cNvSpPr txBox="1">
                <a:spLocks noRot="1" noChangeAspect="1" noMove="1" noResize="1" noEditPoints="1" noAdjustHandles="1" noChangeArrowheads="1" noChangeShapeType="1" noTextEdit="1"/>
              </p:cNvSpPr>
              <p:nvPr/>
            </p:nvSpPr>
            <p:spPr>
              <a:xfrm>
                <a:off x="5328013" y="5971112"/>
                <a:ext cx="2520280" cy="717312"/>
              </a:xfrm>
              <a:prstGeom prst="rect">
                <a:avLst/>
              </a:prstGeom>
              <a:blipFill>
                <a:blip r:embed="rId9"/>
                <a:stretch>
                  <a:fillRect l="-10050" t="-119298" b="-164912"/>
                </a:stretch>
              </a:blipFill>
            </p:spPr>
            <p:txBody>
              <a:bodyPr/>
              <a:lstStyle/>
              <a:p>
                <a:r>
                  <a:rPr lang="en-US">
                    <a:noFill/>
                  </a:rPr>
                  <a:t> </a:t>
                </a:r>
              </a:p>
            </p:txBody>
          </p:sp>
        </mc:Fallback>
      </mc:AlternateContent>
    </p:spTree>
    <p:extLst>
      <p:ext uri="{BB962C8B-B14F-4D97-AF65-F5344CB8AC3E}">
        <p14:creationId xmlns:p14="http://schemas.microsoft.com/office/powerpoint/2010/main" val="1052923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idx="4294967295"/>
          </p:nvPr>
        </p:nvSpPr>
        <p:spPr>
          <a:xfrm>
            <a:off x="304800" y="152400"/>
            <a:ext cx="8458200" cy="990600"/>
          </a:xfrm>
        </p:spPr>
        <p:txBody>
          <a:bodyPr/>
          <a:lstStyle/>
          <a:p>
            <a:r>
              <a:rPr lang="en-US" altLang="ko-KR" dirty="0"/>
              <a:t>Conditional Probability</a:t>
            </a:r>
          </a:p>
        </p:txBody>
      </p:sp>
      <p:pic>
        <p:nvPicPr>
          <p:cNvPr id="19461" name="Picture 1"/>
          <p:cNvPicPr>
            <a:picLocks noChangeAspect="1" noChangeArrowheads="1"/>
          </p:cNvPicPr>
          <p:nvPr/>
        </p:nvPicPr>
        <p:blipFill rotWithShape="1">
          <a:blip r:embed="rId3">
            <a:extLst>
              <a:ext uri="{28A0092B-C50C-407E-A947-70E740481C1C}">
                <a14:useLocalDpi xmlns:a14="http://schemas.microsoft.com/office/drawing/2010/main" val="0"/>
              </a:ext>
            </a:extLst>
          </a:blip>
          <a:srcRect t="4745" b="6787"/>
          <a:stretch/>
        </p:blipFill>
        <p:spPr bwMode="auto">
          <a:xfrm>
            <a:off x="427388" y="2932108"/>
            <a:ext cx="2273300" cy="316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2" name="TextBox 1"/>
              <p:cNvSpPr txBox="1"/>
              <p:nvPr/>
            </p:nvSpPr>
            <p:spPr>
              <a:xfrm>
                <a:off x="2805708" y="2887869"/>
                <a:ext cx="5688632" cy="2581476"/>
              </a:xfrm>
              <a:prstGeom prst="rect">
                <a:avLst/>
              </a:prstGeom>
              <a:noFill/>
            </p:spPr>
            <p:txBody>
              <a:bodyPr wrap="square" rtlCol="0">
                <a:spAutoFit/>
              </a:bodyPr>
              <a:lstStyle/>
              <a:p>
                <a:r>
                  <a:rPr lang="en-US" dirty="0"/>
                  <a:t>Double Coin Toss Example</a:t>
                </a:r>
              </a:p>
              <a:p>
                <a:r>
                  <a:rPr lang="en-US" dirty="0"/>
                  <a:t>      </a:t>
                </a:r>
                <a:r>
                  <a:rPr lang="en-US" dirty="0">
                    <a:solidFill>
                      <a:srgbClr val="0070C0"/>
                    </a:solidFill>
                  </a:rPr>
                  <a:t>X</a:t>
                </a:r>
                <a:r>
                  <a:rPr lang="en-US" dirty="0"/>
                  <a:t>: tossing the coin for the first time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𝑋</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t>      </a:t>
                </a:r>
                <a:r>
                  <a:rPr lang="en-US" dirty="0">
                    <a:solidFill>
                      <a:srgbClr val="0070C0"/>
                    </a:solidFill>
                  </a:rPr>
                  <a:t>Y</a:t>
                </a:r>
                <a:r>
                  <a:rPr lang="en-US" dirty="0"/>
                  <a:t>: tossing the coin for second time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𝑌</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solidFill>
                      <a:srgbClr val="0070C0"/>
                    </a:solidFill>
                  </a:rPr>
                  <a:t>      Z</a:t>
                </a:r>
                <a:r>
                  <a:rPr lang="en-US" dirty="0"/>
                  <a:t>: number of head outcomes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𝑍</m:t>
                        </m:r>
                      </m:sub>
                    </m:sSub>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0</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1</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2</m:t>
                    </m:r>
                    <m:r>
                      <a:rPr lang="en-US" i="1">
                        <a:solidFill>
                          <a:srgbClr val="0070C0"/>
                        </a:solidFill>
                        <a:latin typeface="Cambria Math" panose="02040503050406030204" pitchFamily="18" charset="0"/>
                      </a:rPr>
                      <m:t>}</m:t>
                    </m:r>
                  </m:oMath>
                </a14:m>
                <a:r>
                  <a:rPr lang="en-US" dirty="0">
                    <a:solidFill>
                      <a:srgbClr val="0070C0"/>
                    </a:solidFill>
                  </a:rPr>
                  <a:t>)</a:t>
                </a:r>
              </a:p>
              <a:p>
                <a:endParaRPr lang="en-US" dirty="0">
                  <a:solidFill>
                    <a:srgbClr val="0070C0"/>
                  </a:solidFill>
                </a:endParaRPr>
              </a:p>
              <a:p>
                <a:r>
                  <a:rPr lang="en-US" dirty="0">
                    <a:solidFill>
                      <a:schemeClr val="tx1"/>
                    </a:solidFill>
                  </a:rPr>
                  <a:t>What is the probability of two heads in total </a:t>
                </a:r>
                <a:r>
                  <a:rPr lang="en-US" dirty="0">
                    <a:solidFill>
                      <a:srgbClr val="0070C0"/>
                    </a:solidFill>
                  </a:rPr>
                  <a:t>given</a:t>
                </a:r>
                <a:r>
                  <a:rPr lang="en-US" dirty="0">
                    <a:solidFill>
                      <a:schemeClr val="tx1"/>
                    </a:solidFill>
                  </a:rPr>
                  <a:t> that the first toss comes up heads?</a:t>
                </a:r>
              </a:p>
              <a:p>
                <a:endParaRPr lang="en-US"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AU"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𝑝</m:t>
                          </m:r>
                        </m:e>
                        <m:sub>
                          <m:r>
                            <a:rPr lang="en-AU" b="0" i="1" smtClean="0">
                              <a:solidFill>
                                <a:schemeClr val="tx1"/>
                              </a:solidFill>
                              <a:latin typeface="Cambria Math" panose="02040503050406030204" pitchFamily="18" charset="0"/>
                            </a:rPr>
                            <m:t>𝑍</m:t>
                          </m:r>
                          <m:r>
                            <a:rPr lang="en-AU" b="0" i="1" smtClean="0">
                              <a:solidFill>
                                <a:schemeClr val="tx1"/>
                              </a:solidFill>
                              <a:latin typeface="Cambria Math" panose="02040503050406030204" pitchFamily="18" charset="0"/>
                            </a:rPr>
                            <m:t>|</m:t>
                          </m:r>
                          <m:r>
                            <a:rPr lang="en-AU" b="0" i="1" smtClean="0">
                              <a:solidFill>
                                <a:schemeClr val="tx1"/>
                              </a:solidFill>
                              <a:latin typeface="Cambria Math" panose="02040503050406030204" pitchFamily="18" charset="0"/>
                            </a:rPr>
                            <m:t>𝑋</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m:t>
                          </m:r>
                          <m:r>
                            <a:rPr lang="en-AU" b="0" i="1" smtClean="0">
                              <a:solidFill>
                                <a:schemeClr val="tx1"/>
                              </a:solidFill>
                              <a:latin typeface="Cambria Math" panose="02040503050406030204" pitchFamily="18" charset="0"/>
                            </a:rPr>
                            <m:t> </m:t>
                          </m:r>
                        </m:e>
                        <m:e>
                          <m:r>
                            <a:rPr lang="en-AU"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𝐻</m:t>
                          </m:r>
                        </m:e>
                      </m:d>
                      <m:r>
                        <a:rPr lang="en-AU" b="0" i="1" smtClean="0">
                          <a:solidFill>
                            <a:schemeClr val="tx1"/>
                          </a:solidFill>
                          <a:latin typeface="Cambria Math" panose="02040503050406030204" pitchFamily="18" charset="0"/>
                        </a:rPr>
                        <m:t>=</m:t>
                      </m:r>
                      <m:f>
                        <m:fPr>
                          <m:ctrlPr>
                            <a:rPr lang="en-AU" b="0" i="1" smtClean="0">
                              <a:solidFill>
                                <a:schemeClr val="tx1"/>
                              </a:solidFill>
                              <a:latin typeface="Cambria Math" panose="02040503050406030204" pitchFamily="18" charset="0"/>
                            </a:rPr>
                          </m:ctrlPr>
                        </m:fPr>
                        <m:num>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𝑝</m:t>
                              </m:r>
                            </m:e>
                            <m:sub>
                              <m:r>
                                <a:rPr lang="en-AU" b="0" i="1" smtClean="0">
                                  <a:solidFill>
                                    <a:schemeClr val="tx1"/>
                                  </a:solidFill>
                                  <a:latin typeface="Cambria Math" panose="02040503050406030204" pitchFamily="18" charset="0"/>
                                </a:rPr>
                                <m:t>𝑍</m:t>
                              </m:r>
                              <m:r>
                                <a:rPr lang="en-AU" b="0" i="1" smtClean="0">
                                  <a:solidFill>
                                    <a:schemeClr val="tx1"/>
                                  </a:solidFill>
                                  <a:latin typeface="Cambria Math" panose="02040503050406030204" pitchFamily="18" charset="0"/>
                                </a:rPr>
                                <m:t>,</m:t>
                              </m:r>
                              <m:r>
                                <a:rPr lang="en-AU" b="0" i="1" smtClean="0">
                                  <a:solidFill>
                                    <a:schemeClr val="tx1"/>
                                  </a:solidFill>
                                  <a:latin typeface="Cambria Math" panose="02040503050406030204" pitchFamily="18" charset="0"/>
                                </a:rPr>
                                <m:t>𝑋</m:t>
                              </m:r>
                            </m:sub>
                          </m:sSub>
                          <m:d>
                            <m:dPr>
                              <m:ctrlPr>
                                <a:rPr lang="en-AU" b="0" i="1" smtClean="0">
                                  <a:solidFill>
                                    <a:schemeClr val="tx1"/>
                                  </a:solidFill>
                                  <a:latin typeface="Cambria Math" panose="02040503050406030204" pitchFamily="18" charset="0"/>
                                </a:rPr>
                              </m:ctrlPr>
                            </m:dPr>
                            <m:e>
                              <m:r>
                                <a:rPr lang="en-AU" b="0" i="1" smtClean="0">
                                  <a:solidFill>
                                    <a:schemeClr val="tx1"/>
                                  </a:solidFill>
                                  <a:latin typeface="Cambria Math" panose="02040503050406030204" pitchFamily="18" charset="0"/>
                                </a:rPr>
                                <m:t>2, </m:t>
                              </m:r>
                              <m:r>
                                <a:rPr lang="en-AU" b="0" i="1" smtClean="0">
                                  <a:solidFill>
                                    <a:schemeClr val="tx1"/>
                                  </a:solidFill>
                                  <a:latin typeface="Cambria Math" panose="02040503050406030204" pitchFamily="18" charset="0"/>
                                </a:rPr>
                                <m:t>𝐻</m:t>
                              </m:r>
                            </m:e>
                          </m:d>
                        </m:num>
                        <m:den>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𝑝</m:t>
                              </m:r>
                            </m:e>
                            <m:sub>
                              <m:r>
                                <a:rPr lang="en-AU" b="0" i="1" smtClean="0">
                                  <a:solidFill>
                                    <a:schemeClr val="tx1"/>
                                  </a:solidFill>
                                  <a:latin typeface="Cambria Math" panose="02040503050406030204" pitchFamily="18" charset="0"/>
                                </a:rPr>
                                <m:t>𝑋</m:t>
                              </m:r>
                            </m:sub>
                          </m:sSub>
                          <m:d>
                            <m:dPr>
                              <m:ctrlPr>
                                <a:rPr lang="en-AU" b="0" i="1" smtClean="0">
                                  <a:solidFill>
                                    <a:schemeClr val="tx1"/>
                                  </a:solidFill>
                                  <a:latin typeface="Cambria Math" panose="02040503050406030204" pitchFamily="18" charset="0"/>
                                </a:rPr>
                              </m:ctrlPr>
                            </m:dPr>
                            <m:e>
                              <m:r>
                                <a:rPr lang="en-AU" b="0" i="1" smtClean="0">
                                  <a:solidFill>
                                    <a:schemeClr val="tx1"/>
                                  </a:solidFill>
                                  <a:latin typeface="Cambria Math" panose="02040503050406030204" pitchFamily="18" charset="0"/>
                                </a:rPr>
                                <m:t>𝐻</m:t>
                              </m:r>
                            </m:e>
                          </m:d>
                        </m:den>
                      </m:f>
                      <m:r>
                        <a:rPr lang="en-AU" b="0" i="1" smtClean="0">
                          <a:solidFill>
                            <a:schemeClr val="tx1"/>
                          </a:solidFill>
                          <a:latin typeface="Cambria Math" panose="02040503050406030204" pitchFamily="18" charset="0"/>
                        </a:rPr>
                        <m:t>=</m:t>
                      </m:r>
                      <m:f>
                        <m:fPr>
                          <m:ctrlPr>
                            <a:rPr lang="en-AU" b="0" i="1" smtClean="0">
                              <a:solidFill>
                                <a:schemeClr val="tx1"/>
                              </a:solidFill>
                              <a:latin typeface="Cambria Math" panose="02040503050406030204" pitchFamily="18" charset="0"/>
                            </a:rPr>
                          </m:ctrlPr>
                        </m:fPr>
                        <m:num>
                          <m:r>
                            <a:rPr lang="en-AU" b="0" i="1" smtClean="0">
                              <a:solidFill>
                                <a:schemeClr val="tx1"/>
                              </a:solidFill>
                              <a:latin typeface="Cambria Math" panose="02040503050406030204" pitchFamily="18" charset="0"/>
                            </a:rPr>
                            <m:t>1</m:t>
                          </m:r>
                        </m:num>
                        <m:den>
                          <m:r>
                            <a:rPr lang="en-AU" b="0" i="1" smtClean="0">
                              <a:solidFill>
                                <a:schemeClr val="tx1"/>
                              </a:solidFill>
                              <a:latin typeface="Cambria Math" panose="02040503050406030204" pitchFamily="18" charset="0"/>
                            </a:rPr>
                            <m:t>3</m:t>
                          </m:r>
                        </m:den>
                      </m:f>
                    </m:oMath>
                  </m:oMathPara>
                </a14:m>
                <a:endParaRPr lang="en-US" dirty="0">
                  <a:solidFill>
                    <a:schemeClr val="tx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805708" y="2887869"/>
                <a:ext cx="5688632" cy="2581476"/>
              </a:xfrm>
              <a:prstGeom prst="rect">
                <a:avLst/>
              </a:prstGeom>
              <a:blipFill>
                <a:blip r:embed="rId4"/>
                <a:stretch>
                  <a:fillRect l="-445" t="-490" b="-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DA076E-FA7C-6C01-ECD3-4452EB10E2D7}"/>
                  </a:ext>
                </a:extLst>
              </p:cNvPr>
              <p:cNvSpPr txBox="1"/>
              <p:nvPr/>
            </p:nvSpPr>
            <p:spPr>
              <a:xfrm>
                <a:off x="454400" y="1589929"/>
                <a:ext cx="8078040" cy="1089465"/>
              </a:xfrm>
              <a:prstGeom prst="rect">
                <a:avLst/>
              </a:prstGeom>
              <a:noFill/>
            </p:spPr>
            <p:txBody>
              <a:bodyPr wrap="square" rtlCol="0">
                <a:spAutoFit/>
              </a:bodyPr>
              <a:lstStyle/>
              <a:p>
                <a:r>
                  <a:rPr lang="en-US" dirty="0">
                    <a:solidFill>
                      <a:schemeClr val="tx1"/>
                    </a:solidFill>
                  </a:rPr>
                  <a:t>The </a:t>
                </a:r>
                <a:r>
                  <a:rPr lang="en-US" dirty="0">
                    <a:solidFill>
                      <a:srgbClr val="0070C0"/>
                    </a:solidFill>
                  </a:rPr>
                  <a:t>conditional probability </a:t>
                </a:r>
                <a:r>
                  <a:rPr lang="en-US" dirty="0">
                    <a:solidFill>
                      <a:schemeClr val="tx1"/>
                    </a:solidFill>
                  </a:rPr>
                  <a:t>of </a:t>
                </a:r>
                <a14:m>
                  <m:oMath xmlns:m="http://schemas.openxmlformats.org/officeDocument/2006/math">
                    <m:r>
                      <a:rPr lang="en-US" i="1" dirty="0" smtClean="0">
                        <a:solidFill>
                          <a:schemeClr val="tx1"/>
                        </a:solidFill>
                        <a:latin typeface="Cambria Math" panose="02040503050406030204" pitchFamily="18" charset="0"/>
                      </a:rPr>
                      <m:t>𝑋</m:t>
                    </m:r>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𝑥</m:t>
                    </m:r>
                  </m:oMath>
                </a14:m>
                <a:r>
                  <a:rPr lang="en-US" dirty="0">
                    <a:solidFill>
                      <a:schemeClr val="tx1"/>
                    </a:solidFill>
                  </a:rPr>
                  <a:t> </a:t>
                </a:r>
                <a:r>
                  <a:rPr lang="en-US" i="1" dirty="0">
                    <a:solidFill>
                      <a:srgbClr val="0070C0"/>
                    </a:solidFill>
                  </a:rPr>
                  <a:t>given</a:t>
                </a:r>
                <a:r>
                  <a:rPr lang="en-US" dirty="0">
                    <a:solidFill>
                      <a:schemeClr val="tx1"/>
                    </a:solidFill>
                  </a:rPr>
                  <a:t> </a:t>
                </a:r>
                <a14:m>
                  <m:oMath xmlns:m="http://schemas.openxmlformats.org/officeDocument/2006/math">
                    <m:r>
                      <a:rPr lang="en-US" i="1" dirty="0" smtClean="0">
                        <a:solidFill>
                          <a:schemeClr val="tx1"/>
                        </a:solidFill>
                        <a:latin typeface="Cambria Math" panose="02040503050406030204" pitchFamily="18" charset="0"/>
                      </a:rPr>
                      <m:t>𝑌</m:t>
                    </m:r>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𝑦</m:t>
                    </m:r>
                  </m:oMath>
                </a14:m>
                <a:r>
                  <a:rPr lang="en-US" dirty="0">
                    <a:solidFill>
                      <a:schemeClr val="tx1"/>
                    </a:solidFill>
                  </a:rPr>
                  <a:t> for </a:t>
                </a:r>
                <a14:m>
                  <m:oMath xmlns:m="http://schemas.openxmlformats.org/officeDocument/2006/math">
                    <m:r>
                      <a:rPr lang="en-US" i="1" dirty="0" smtClean="0">
                        <a:solidFill>
                          <a:schemeClr val="tx1"/>
                        </a:solidFill>
                        <a:latin typeface="Cambria Math" panose="02040503050406030204" pitchFamily="18" charset="0"/>
                      </a:rPr>
                      <m:t>𝑥</m:t>
                    </m:r>
                    <m:r>
                      <a:rPr lang="en-AU" b="0" i="1" dirty="0" smtClean="0">
                        <a:solidFill>
                          <a:schemeClr val="tx1"/>
                        </a:solidFill>
                        <a:latin typeface="Cambria Math" panose="02040503050406030204" pitchFamily="18" charset="0"/>
                      </a:rPr>
                      <m:t>∈</m:t>
                    </m:r>
                    <m:sSub>
                      <m:sSubPr>
                        <m:ctrlPr>
                          <a:rPr lang="en-AU" b="0" i="1" dirty="0" smtClean="0">
                            <a:solidFill>
                              <a:schemeClr val="tx1"/>
                            </a:solidFill>
                            <a:latin typeface="Cambria Math" panose="02040503050406030204" pitchFamily="18" charset="0"/>
                          </a:rPr>
                        </m:ctrlPr>
                      </m:sSubPr>
                      <m:e>
                        <m:r>
                          <a:rPr lang="en-AU" b="0" i="1" dirty="0" smtClean="0">
                            <a:solidFill>
                              <a:schemeClr val="tx1"/>
                            </a:solidFill>
                            <a:latin typeface="Cambria Math" panose="02040503050406030204" pitchFamily="18" charset="0"/>
                          </a:rPr>
                          <m:t>𝐷</m:t>
                        </m:r>
                      </m:e>
                      <m:sub>
                        <m:r>
                          <a:rPr lang="en-AU" b="0" i="1" dirty="0" smtClean="0">
                            <a:solidFill>
                              <a:schemeClr val="tx1"/>
                            </a:solidFill>
                            <a:latin typeface="Cambria Math" panose="02040503050406030204" pitchFamily="18" charset="0"/>
                          </a:rPr>
                          <m:t>𝑋</m:t>
                        </m:r>
                      </m:sub>
                    </m:sSub>
                  </m:oMath>
                </a14:m>
                <a:r>
                  <a:rPr lang="en-US" dirty="0">
                    <a:solidFill>
                      <a:schemeClr val="tx1"/>
                    </a:solidFill>
                  </a:rPr>
                  <a:t> and </a:t>
                </a:r>
                <a14:m>
                  <m:oMath xmlns:m="http://schemas.openxmlformats.org/officeDocument/2006/math">
                    <m:r>
                      <a:rPr lang="en-US" i="1" dirty="0" smtClean="0">
                        <a:solidFill>
                          <a:schemeClr val="tx1"/>
                        </a:solidFill>
                        <a:latin typeface="Cambria Math" panose="02040503050406030204" pitchFamily="18" charset="0"/>
                      </a:rPr>
                      <m:t>𝑦</m:t>
                    </m:r>
                    <m:r>
                      <a:rPr lang="en-AU" b="0" i="1" dirty="0" smtClean="0">
                        <a:solidFill>
                          <a:schemeClr val="tx1"/>
                        </a:solidFill>
                        <a:latin typeface="Cambria Math" panose="02040503050406030204" pitchFamily="18" charset="0"/>
                      </a:rPr>
                      <m:t>∈</m:t>
                    </m:r>
                    <m:sSub>
                      <m:sSubPr>
                        <m:ctrlPr>
                          <a:rPr lang="en-AU" b="0" i="1" dirty="0" smtClean="0">
                            <a:solidFill>
                              <a:schemeClr val="tx1"/>
                            </a:solidFill>
                            <a:latin typeface="Cambria Math" panose="02040503050406030204" pitchFamily="18" charset="0"/>
                          </a:rPr>
                        </m:ctrlPr>
                      </m:sSubPr>
                      <m:e>
                        <m:r>
                          <a:rPr lang="en-AU" b="0" i="1" dirty="0" smtClean="0">
                            <a:solidFill>
                              <a:schemeClr val="tx1"/>
                            </a:solidFill>
                            <a:latin typeface="Cambria Math" panose="02040503050406030204" pitchFamily="18" charset="0"/>
                          </a:rPr>
                          <m:t>𝐷</m:t>
                        </m:r>
                      </m:e>
                      <m:sub>
                        <m:r>
                          <a:rPr lang="en-AU" b="0" i="1" dirty="0" smtClean="0">
                            <a:solidFill>
                              <a:schemeClr val="tx1"/>
                            </a:solidFill>
                            <a:latin typeface="Cambria Math" panose="02040503050406030204" pitchFamily="18" charset="0"/>
                          </a:rPr>
                          <m:t>𝑌</m:t>
                        </m:r>
                      </m:sub>
                    </m:sSub>
                  </m:oMath>
                </a14:m>
                <a:r>
                  <a:rPr lang="en-US" dirty="0">
                    <a:solidFill>
                      <a:schemeClr val="tx1"/>
                    </a:solidFill>
                  </a:rPr>
                  <a:t> with </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𝑝</m:t>
                        </m:r>
                      </m:e>
                      <m:sub>
                        <m:r>
                          <a:rPr lang="en-AU" i="1" dirty="0">
                            <a:latin typeface="Cambria Math" panose="02040503050406030204" pitchFamily="18" charset="0"/>
                          </a:rPr>
                          <m:t>𝑌</m:t>
                        </m:r>
                      </m:sub>
                    </m:sSub>
                    <m:d>
                      <m:dPr>
                        <m:ctrlPr>
                          <a:rPr lang="en-AU" i="1" dirty="0">
                            <a:latin typeface="Cambria Math" panose="02040503050406030204" pitchFamily="18" charset="0"/>
                          </a:rPr>
                        </m:ctrlPr>
                      </m:dPr>
                      <m:e>
                        <m:r>
                          <a:rPr lang="en-AU" i="1" dirty="0">
                            <a:latin typeface="Cambria Math" panose="02040503050406030204" pitchFamily="18" charset="0"/>
                          </a:rPr>
                          <m:t>𝑦</m:t>
                        </m:r>
                      </m:e>
                    </m:d>
                    <m:r>
                      <a:rPr lang="en-AU" b="0" i="1" dirty="0" smtClean="0">
                        <a:latin typeface="Cambria Math" panose="02040503050406030204" pitchFamily="18" charset="0"/>
                      </a:rPr>
                      <m:t>&gt;0</m:t>
                    </m:r>
                  </m:oMath>
                </a14:m>
                <a:r>
                  <a:rPr lang="en-US" dirty="0">
                    <a:solidFill>
                      <a:schemeClr val="tx1"/>
                    </a:solidFill>
                  </a:rPr>
                  <a:t>:</a:t>
                </a:r>
              </a:p>
              <a:p>
                <a:endParaRPr lang="en-US"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AU" b="0"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𝑝</m:t>
                          </m:r>
                        </m:e>
                        <m:sub>
                          <m:r>
                            <a:rPr lang="en-AU" b="0" i="1" dirty="0" smtClean="0">
                              <a:solidFill>
                                <a:schemeClr val="tx1"/>
                              </a:solidFill>
                              <a:latin typeface="Cambria Math" panose="02040503050406030204" pitchFamily="18" charset="0"/>
                            </a:rPr>
                            <m:t>𝑋</m:t>
                          </m:r>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𝑌</m:t>
                          </m:r>
                        </m:sub>
                      </m:sSub>
                      <m:d>
                        <m:dPr>
                          <m:ctrlPr>
                            <a:rPr lang="en-US" b="0" i="1" dirty="0" smtClean="0">
                              <a:solidFill>
                                <a:schemeClr val="tx1"/>
                              </a:solidFill>
                              <a:latin typeface="Cambria Math" panose="02040503050406030204" pitchFamily="18" charset="0"/>
                            </a:rPr>
                          </m:ctrlPr>
                        </m:dPr>
                        <m:e>
                          <m:r>
                            <a:rPr lang="en-AU" b="0" i="1" dirty="0" smtClean="0">
                              <a:solidFill>
                                <a:schemeClr val="tx1"/>
                              </a:solidFill>
                              <a:latin typeface="Cambria Math" panose="02040503050406030204" pitchFamily="18" charset="0"/>
                            </a:rPr>
                            <m:t>𝑥</m:t>
                          </m:r>
                          <m:r>
                            <a:rPr lang="en-AU" b="0" i="1" dirty="0" smtClean="0">
                              <a:solidFill>
                                <a:schemeClr val="tx1"/>
                              </a:solidFill>
                              <a:latin typeface="Cambria Math" panose="02040503050406030204" pitchFamily="18" charset="0"/>
                            </a:rPr>
                            <m:t> | </m:t>
                          </m:r>
                          <m:r>
                            <a:rPr lang="en-AU" b="0" i="1" dirty="0" smtClean="0">
                              <a:solidFill>
                                <a:schemeClr val="tx1"/>
                              </a:solidFill>
                              <a:latin typeface="Cambria Math" panose="02040503050406030204" pitchFamily="18" charset="0"/>
                            </a:rPr>
                            <m:t>𝑦</m:t>
                          </m:r>
                        </m:e>
                      </m:d>
                      <m:r>
                        <a:rPr lang="en-AU" b="0" i="1" dirty="0" smtClean="0">
                          <a:solidFill>
                            <a:schemeClr val="tx1"/>
                          </a:solidFill>
                          <a:latin typeface="Cambria Math" panose="02040503050406030204" pitchFamily="18" charset="0"/>
                        </a:rPr>
                        <m:t>=</m:t>
                      </m:r>
                      <m:f>
                        <m:fPr>
                          <m:ctrlPr>
                            <a:rPr lang="en-AU" b="0" i="1" dirty="0" smtClean="0">
                              <a:solidFill>
                                <a:schemeClr val="tx1"/>
                              </a:solidFill>
                              <a:latin typeface="Cambria Math" panose="02040503050406030204" pitchFamily="18" charset="0"/>
                            </a:rPr>
                          </m:ctrlPr>
                        </m:fPr>
                        <m:num>
                          <m:sSub>
                            <m:sSubPr>
                              <m:ctrlPr>
                                <a:rPr lang="en-AU" b="0" i="1" dirty="0" smtClean="0">
                                  <a:solidFill>
                                    <a:schemeClr val="tx1"/>
                                  </a:solidFill>
                                  <a:latin typeface="Cambria Math" panose="02040503050406030204" pitchFamily="18" charset="0"/>
                                </a:rPr>
                              </m:ctrlPr>
                            </m:sSubPr>
                            <m:e>
                              <m:r>
                                <a:rPr lang="en-AU" b="0" i="1" dirty="0" smtClean="0">
                                  <a:solidFill>
                                    <a:schemeClr val="tx1"/>
                                  </a:solidFill>
                                  <a:latin typeface="Cambria Math" panose="02040503050406030204" pitchFamily="18" charset="0"/>
                                </a:rPr>
                                <m:t>𝑝</m:t>
                              </m:r>
                            </m:e>
                            <m:sub>
                              <m:r>
                                <a:rPr lang="en-AU" b="0" i="1" dirty="0" smtClean="0">
                                  <a:solidFill>
                                    <a:schemeClr val="tx1"/>
                                  </a:solidFill>
                                  <a:latin typeface="Cambria Math" panose="02040503050406030204" pitchFamily="18" charset="0"/>
                                </a:rPr>
                                <m:t>𝑋</m:t>
                              </m:r>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𝑌</m:t>
                              </m:r>
                            </m:sub>
                          </m:sSub>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𝑥</m:t>
                          </m:r>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𝑦</m:t>
                          </m:r>
                          <m:r>
                            <a:rPr lang="en-AU" b="0" i="1" dirty="0" smtClean="0">
                              <a:solidFill>
                                <a:schemeClr val="tx1"/>
                              </a:solidFill>
                              <a:latin typeface="Cambria Math" panose="02040503050406030204" pitchFamily="18" charset="0"/>
                            </a:rPr>
                            <m:t>)</m:t>
                          </m:r>
                        </m:num>
                        <m:den>
                          <m:sSub>
                            <m:sSubPr>
                              <m:ctrlPr>
                                <a:rPr lang="en-AU" b="0" i="1" dirty="0" smtClean="0">
                                  <a:solidFill>
                                    <a:schemeClr val="tx1"/>
                                  </a:solidFill>
                                  <a:latin typeface="Cambria Math" panose="02040503050406030204" pitchFamily="18" charset="0"/>
                                </a:rPr>
                              </m:ctrlPr>
                            </m:sSubPr>
                            <m:e>
                              <m:r>
                                <a:rPr lang="en-AU" b="0" i="1" dirty="0" smtClean="0">
                                  <a:solidFill>
                                    <a:schemeClr val="tx1"/>
                                  </a:solidFill>
                                  <a:latin typeface="Cambria Math" panose="02040503050406030204" pitchFamily="18" charset="0"/>
                                </a:rPr>
                                <m:t>𝑝</m:t>
                              </m:r>
                            </m:e>
                            <m:sub>
                              <m:r>
                                <a:rPr lang="en-AU" b="0" i="1" dirty="0" smtClean="0">
                                  <a:solidFill>
                                    <a:schemeClr val="tx1"/>
                                  </a:solidFill>
                                  <a:latin typeface="Cambria Math" panose="02040503050406030204" pitchFamily="18" charset="0"/>
                                </a:rPr>
                                <m:t>𝑌</m:t>
                              </m:r>
                            </m:sub>
                          </m:sSub>
                          <m:r>
                            <a:rPr lang="en-AU" b="0" i="1" dirty="0" smtClean="0">
                              <a:solidFill>
                                <a:schemeClr val="tx1"/>
                              </a:solidFill>
                              <a:latin typeface="Cambria Math" panose="02040503050406030204" pitchFamily="18" charset="0"/>
                            </a:rPr>
                            <m:t>(</m:t>
                          </m:r>
                          <m:r>
                            <a:rPr lang="en-AU" b="0" i="1" dirty="0" smtClean="0">
                              <a:solidFill>
                                <a:schemeClr val="tx1"/>
                              </a:solidFill>
                              <a:latin typeface="Cambria Math" panose="02040503050406030204" pitchFamily="18" charset="0"/>
                            </a:rPr>
                            <m:t>𝑦</m:t>
                          </m:r>
                          <m:r>
                            <a:rPr lang="en-AU" b="0" i="1" dirty="0" smtClean="0">
                              <a:solidFill>
                                <a:schemeClr val="tx1"/>
                              </a:solidFill>
                              <a:latin typeface="Cambria Math" panose="02040503050406030204" pitchFamily="18" charset="0"/>
                            </a:rPr>
                            <m:t>)</m:t>
                          </m:r>
                        </m:den>
                      </m:f>
                    </m:oMath>
                  </m:oMathPara>
                </a14:m>
                <a:endParaRPr lang="en-AU" b="0" dirty="0">
                  <a:solidFill>
                    <a:schemeClr val="tx1"/>
                  </a:solidFill>
                </a:endParaRPr>
              </a:p>
            </p:txBody>
          </p:sp>
        </mc:Choice>
        <mc:Fallback xmlns="">
          <p:sp>
            <p:nvSpPr>
              <p:cNvPr id="4" name="TextBox 3">
                <a:extLst>
                  <a:ext uri="{FF2B5EF4-FFF2-40B4-BE49-F238E27FC236}">
                    <a16:creationId xmlns:a16="http://schemas.microsoft.com/office/drawing/2014/main" id="{CDDA076E-FA7C-6C01-ECD3-4452EB10E2D7}"/>
                  </a:ext>
                </a:extLst>
              </p:cNvPr>
              <p:cNvSpPr txBox="1">
                <a:spLocks noRot="1" noChangeAspect="1" noMove="1" noResize="1" noEditPoints="1" noAdjustHandles="1" noChangeArrowheads="1" noChangeShapeType="1" noTextEdit="1"/>
              </p:cNvSpPr>
              <p:nvPr/>
            </p:nvSpPr>
            <p:spPr>
              <a:xfrm>
                <a:off x="454400" y="1589929"/>
                <a:ext cx="8078040" cy="1089465"/>
              </a:xfrm>
              <a:prstGeom prst="rect">
                <a:avLst/>
              </a:prstGeom>
              <a:blipFill>
                <a:blip r:embed="rId5"/>
                <a:stretch>
                  <a:fillRect l="-472" t="-2299" b="-4598"/>
                </a:stretch>
              </a:blipFill>
            </p:spPr>
            <p:txBody>
              <a:bodyPr/>
              <a:lstStyle/>
              <a:p>
                <a:r>
                  <a:rPr lang="en-US">
                    <a:noFill/>
                  </a:rPr>
                  <a:t> </a:t>
                </a:r>
              </a:p>
            </p:txBody>
          </p:sp>
        </mc:Fallback>
      </mc:AlternateContent>
    </p:spTree>
    <p:extLst>
      <p:ext uri="{BB962C8B-B14F-4D97-AF65-F5344CB8AC3E}">
        <p14:creationId xmlns:p14="http://schemas.microsoft.com/office/powerpoint/2010/main" val="380061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idx="4294967295"/>
          </p:nvPr>
        </p:nvSpPr>
        <p:spPr>
          <a:xfrm>
            <a:off x="304800" y="152400"/>
            <a:ext cx="8458200" cy="990600"/>
          </a:xfrm>
        </p:spPr>
        <p:txBody>
          <a:bodyPr/>
          <a:lstStyle/>
          <a:p>
            <a:r>
              <a:rPr lang="en-US" altLang="ko-KR" dirty="0"/>
              <a:t>Conditional Probability</a:t>
            </a:r>
          </a:p>
        </p:txBody>
      </p:sp>
      <p:sp>
        <p:nvSpPr>
          <p:cNvPr id="19463"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DA076E-FA7C-6C01-ECD3-4452EB10E2D7}"/>
                  </a:ext>
                </a:extLst>
              </p:cNvPr>
              <p:cNvSpPr txBox="1"/>
              <p:nvPr/>
            </p:nvSpPr>
            <p:spPr>
              <a:xfrm>
                <a:off x="454400" y="1589929"/>
                <a:ext cx="8308600" cy="4079065"/>
              </a:xfrm>
              <a:prstGeom prst="rect">
                <a:avLst/>
              </a:prstGeom>
              <a:noFill/>
            </p:spPr>
            <p:txBody>
              <a:bodyPr wrap="square" rtlCol="0">
                <a:spAutoFit/>
              </a:bodyPr>
              <a:lstStyle/>
              <a:p>
                <a:r>
                  <a:rPr lang="en-US" dirty="0"/>
                  <a:t>The </a:t>
                </a:r>
                <a:r>
                  <a:rPr lang="en-US" dirty="0">
                    <a:solidFill>
                      <a:srgbClr val="0070C0"/>
                    </a:solidFill>
                  </a:rPr>
                  <a:t>conditional probability </a:t>
                </a:r>
                <a:r>
                  <a:rPr lang="en-US" dirty="0"/>
                  <a:t>of </a:t>
                </a:r>
                <a14:m>
                  <m:oMath xmlns:m="http://schemas.openxmlformats.org/officeDocument/2006/math">
                    <m:r>
                      <a:rPr lang="en-US" i="1" dirty="0">
                        <a:latin typeface="Cambria Math" panose="02040503050406030204" pitchFamily="18" charset="0"/>
                      </a:rPr>
                      <m:t>𝑋</m:t>
                    </m:r>
                    <m:r>
                      <a:rPr lang="en-AU" i="1" dirty="0">
                        <a:latin typeface="Cambria Math" panose="02040503050406030204" pitchFamily="18" charset="0"/>
                      </a:rPr>
                      <m:t>=</m:t>
                    </m:r>
                    <m:r>
                      <a:rPr lang="en-AU" i="1" dirty="0">
                        <a:latin typeface="Cambria Math" panose="02040503050406030204" pitchFamily="18" charset="0"/>
                      </a:rPr>
                      <m:t>𝑥</m:t>
                    </m:r>
                  </m:oMath>
                </a14:m>
                <a:r>
                  <a:rPr lang="en-US" dirty="0"/>
                  <a:t> </a:t>
                </a:r>
                <a:r>
                  <a:rPr lang="en-US" i="1" dirty="0">
                    <a:solidFill>
                      <a:srgbClr val="0070C0"/>
                    </a:solidFill>
                  </a:rPr>
                  <a:t>given</a:t>
                </a:r>
                <a:r>
                  <a:rPr lang="en-US" dirty="0"/>
                  <a:t> </a:t>
                </a:r>
                <a14:m>
                  <m:oMath xmlns:m="http://schemas.openxmlformats.org/officeDocument/2006/math">
                    <m:r>
                      <a:rPr lang="en-US" i="1" dirty="0">
                        <a:latin typeface="Cambria Math" panose="02040503050406030204" pitchFamily="18" charset="0"/>
                      </a:rPr>
                      <m:t>𝑌</m:t>
                    </m:r>
                    <m:r>
                      <a:rPr lang="en-AU" i="1" dirty="0">
                        <a:latin typeface="Cambria Math" panose="02040503050406030204" pitchFamily="18" charset="0"/>
                      </a:rPr>
                      <m:t>=</m:t>
                    </m:r>
                    <m:r>
                      <a:rPr lang="en-AU" i="1" dirty="0">
                        <a:latin typeface="Cambria Math" panose="02040503050406030204" pitchFamily="18" charset="0"/>
                      </a:rPr>
                      <m:t>𝑦</m:t>
                    </m:r>
                  </m:oMath>
                </a14:m>
                <a:r>
                  <a:rPr lang="en-US" dirty="0"/>
                  <a:t> for </a:t>
                </a:r>
                <a14:m>
                  <m:oMath xmlns:m="http://schemas.openxmlformats.org/officeDocument/2006/math">
                    <m:r>
                      <a:rPr lang="en-US" i="1" dirty="0">
                        <a:latin typeface="Cambria Math" panose="02040503050406030204" pitchFamily="18" charset="0"/>
                      </a:rPr>
                      <m:t>𝑥</m:t>
                    </m:r>
                    <m:r>
                      <a:rPr lang="en-AU" i="1" dirty="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𝐷</m:t>
                        </m:r>
                      </m:e>
                      <m:sub>
                        <m:r>
                          <a:rPr lang="en-AU" i="1" dirty="0">
                            <a:latin typeface="Cambria Math" panose="02040503050406030204" pitchFamily="18" charset="0"/>
                          </a:rPr>
                          <m:t>𝑋</m:t>
                        </m:r>
                      </m:sub>
                    </m:sSub>
                  </m:oMath>
                </a14:m>
                <a:r>
                  <a:rPr lang="en-US" dirty="0"/>
                  <a:t> and </a:t>
                </a:r>
                <a14:m>
                  <m:oMath xmlns:m="http://schemas.openxmlformats.org/officeDocument/2006/math">
                    <m:r>
                      <a:rPr lang="en-US" i="1" dirty="0">
                        <a:latin typeface="Cambria Math" panose="02040503050406030204" pitchFamily="18" charset="0"/>
                      </a:rPr>
                      <m:t>𝑦</m:t>
                    </m:r>
                    <m:r>
                      <a:rPr lang="en-AU" i="1" dirty="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rPr>
                          <m:t>𝐷</m:t>
                        </m:r>
                      </m:e>
                      <m:sub>
                        <m:r>
                          <a:rPr lang="en-AU" i="1" dirty="0">
                            <a:latin typeface="Cambria Math" panose="02040503050406030204" pitchFamily="18" charset="0"/>
                          </a:rPr>
                          <m:t>𝑌</m:t>
                        </m:r>
                      </m:sub>
                    </m:sSub>
                  </m:oMath>
                </a14:m>
                <a:r>
                  <a:rPr lang="en-US" dirty="0"/>
                  <a:t> with </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𝑝</m:t>
                        </m:r>
                      </m:e>
                      <m:sub>
                        <m:r>
                          <a:rPr lang="en-AU" i="1" dirty="0">
                            <a:latin typeface="Cambria Math" panose="02040503050406030204" pitchFamily="18" charset="0"/>
                          </a:rPr>
                          <m:t>𝑌</m:t>
                        </m:r>
                      </m:sub>
                    </m:sSub>
                    <m:d>
                      <m:dPr>
                        <m:ctrlPr>
                          <a:rPr lang="en-AU" i="1" dirty="0">
                            <a:latin typeface="Cambria Math" panose="02040503050406030204" pitchFamily="18" charset="0"/>
                          </a:rPr>
                        </m:ctrlPr>
                      </m:dPr>
                      <m:e>
                        <m:r>
                          <a:rPr lang="en-AU" i="1" dirty="0">
                            <a:latin typeface="Cambria Math" panose="02040503050406030204" pitchFamily="18" charset="0"/>
                          </a:rPr>
                          <m:t>𝑦</m:t>
                        </m:r>
                      </m:e>
                    </m:d>
                    <m:r>
                      <a:rPr lang="en-AU" i="1" dirty="0">
                        <a:latin typeface="Cambria Math" panose="02040503050406030204" pitchFamily="18" charset="0"/>
                      </a:rPr>
                      <m:t>&gt;0</m:t>
                    </m:r>
                  </m:oMath>
                </a14:m>
                <a:r>
                  <a:rPr lang="en-US" dirty="0"/>
                  <a:t>:</a:t>
                </a:r>
              </a:p>
              <a:p>
                <a:endParaRPr lang="en-US" dirty="0"/>
              </a:p>
              <a:p>
                <a:pPr/>
                <a14:m>
                  <m:oMathPara xmlns:m="http://schemas.openxmlformats.org/officeDocument/2006/math">
                    <m:oMathParaPr>
                      <m:jc m:val="centerGroup"/>
                    </m:oMathParaPr>
                    <m:oMath xmlns:m="http://schemas.openxmlformats.org/officeDocument/2006/math">
                      <m:sSub>
                        <m:sSubPr>
                          <m:ctrlPr>
                            <a:rPr lang="en-AU" i="1" dirty="0">
                              <a:latin typeface="Cambria Math" panose="02040503050406030204" pitchFamily="18" charset="0"/>
                            </a:rPr>
                          </m:ctrlPr>
                        </m:sSubPr>
                        <m:e>
                          <m:r>
                            <a:rPr lang="en-US" i="1" dirty="0">
                              <a:latin typeface="Cambria Math" panose="02040503050406030204" pitchFamily="18" charset="0"/>
                            </a:rPr>
                            <m:t>𝑝</m:t>
                          </m:r>
                        </m:e>
                        <m:sub>
                          <m:r>
                            <a:rPr lang="en-AU" i="1" dirty="0">
                              <a:latin typeface="Cambria Math" panose="02040503050406030204" pitchFamily="18" charset="0"/>
                            </a:rPr>
                            <m:t>𝑋</m:t>
                          </m:r>
                          <m:r>
                            <a:rPr lang="en-AU" i="1" dirty="0">
                              <a:latin typeface="Cambria Math" panose="02040503050406030204" pitchFamily="18" charset="0"/>
                            </a:rPr>
                            <m:t>|</m:t>
                          </m:r>
                          <m:r>
                            <a:rPr lang="en-AU" i="1" dirty="0">
                              <a:latin typeface="Cambria Math" panose="02040503050406030204" pitchFamily="18" charset="0"/>
                            </a:rPr>
                            <m:t>𝑌</m:t>
                          </m:r>
                        </m:sub>
                      </m:sSub>
                      <m:d>
                        <m:dPr>
                          <m:ctrlPr>
                            <a:rPr lang="en-US" i="1" dirty="0">
                              <a:latin typeface="Cambria Math" panose="02040503050406030204" pitchFamily="18" charset="0"/>
                            </a:rPr>
                          </m:ctrlPr>
                        </m:dPr>
                        <m:e>
                          <m:r>
                            <a:rPr lang="en-AU" i="1" dirty="0">
                              <a:latin typeface="Cambria Math" panose="02040503050406030204" pitchFamily="18" charset="0"/>
                            </a:rPr>
                            <m:t>𝑥</m:t>
                          </m:r>
                          <m:r>
                            <a:rPr lang="en-AU" i="1" dirty="0">
                              <a:latin typeface="Cambria Math" panose="02040503050406030204" pitchFamily="18" charset="0"/>
                            </a:rPr>
                            <m:t> | </m:t>
                          </m:r>
                          <m:r>
                            <a:rPr lang="en-AU" i="1" dirty="0">
                              <a:latin typeface="Cambria Math" panose="02040503050406030204" pitchFamily="18" charset="0"/>
                            </a:rPr>
                            <m:t>𝑦</m:t>
                          </m:r>
                        </m:e>
                      </m:d>
                      <m:r>
                        <a:rPr lang="en-AU" i="1" dirty="0">
                          <a:latin typeface="Cambria Math" panose="02040503050406030204" pitchFamily="18" charset="0"/>
                        </a:rPr>
                        <m:t>=</m:t>
                      </m:r>
                      <m:f>
                        <m:fPr>
                          <m:ctrlPr>
                            <a:rPr lang="en-AU" i="1" dirty="0">
                              <a:latin typeface="Cambria Math" panose="02040503050406030204" pitchFamily="18" charset="0"/>
                            </a:rPr>
                          </m:ctrlPr>
                        </m:fPr>
                        <m:num>
                          <m:sSub>
                            <m:sSubPr>
                              <m:ctrlPr>
                                <a:rPr lang="en-AU" i="1" dirty="0">
                                  <a:latin typeface="Cambria Math" panose="02040503050406030204" pitchFamily="18" charset="0"/>
                                </a:rPr>
                              </m:ctrlPr>
                            </m:sSubPr>
                            <m:e>
                              <m:r>
                                <a:rPr lang="en-AU" i="1" dirty="0">
                                  <a:latin typeface="Cambria Math" panose="02040503050406030204" pitchFamily="18" charset="0"/>
                                </a:rPr>
                                <m:t>𝑝</m:t>
                              </m:r>
                            </m:e>
                            <m:sub>
                              <m:r>
                                <a:rPr lang="en-AU" i="1" dirty="0">
                                  <a:latin typeface="Cambria Math" panose="02040503050406030204" pitchFamily="18" charset="0"/>
                                </a:rPr>
                                <m:t>𝑋</m:t>
                              </m:r>
                              <m:r>
                                <a:rPr lang="en-AU" i="1" dirty="0">
                                  <a:latin typeface="Cambria Math" panose="02040503050406030204" pitchFamily="18" charset="0"/>
                                </a:rPr>
                                <m:t>,</m:t>
                              </m:r>
                              <m:r>
                                <a:rPr lang="en-AU" i="1" dirty="0">
                                  <a:latin typeface="Cambria Math" panose="02040503050406030204" pitchFamily="18" charset="0"/>
                                </a:rPr>
                                <m:t>𝑌</m:t>
                              </m:r>
                            </m:sub>
                          </m:sSub>
                          <m:r>
                            <a:rPr lang="en-AU" i="1" dirty="0">
                              <a:latin typeface="Cambria Math" panose="02040503050406030204" pitchFamily="18" charset="0"/>
                            </a:rPr>
                            <m:t>(</m:t>
                          </m:r>
                          <m:r>
                            <a:rPr lang="en-AU" i="1" dirty="0">
                              <a:latin typeface="Cambria Math" panose="02040503050406030204" pitchFamily="18" charset="0"/>
                            </a:rPr>
                            <m:t>𝑥</m:t>
                          </m:r>
                          <m:r>
                            <a:rPr lang="en-AU" i="1" dirty="0">
                              <a:latin typeface="Cambria Math" panose="02040503050406030204" pitchFamily="18" charset="0"/>
                            </a:rPr>
                            <m:t>,</m:t>
                          </m:r>
                          <m:r>
                            <a:rPr lang="en-AU" i="1" dirty="0">
                              <a:latin typeface="Cambria Math" panose="02040503050406030204" pitchFamily="18" charset="0"/>
                            </a:rPr>
                            <m:t>𝑦</m:t>
                          </m:r>
                          <m:r>
                            <a:rPr lang="en-AU" i="1" dirty="0">
                              <a:latin typeface="Cambria Math" panose="02040503050406030204" pitchFamily="18" charset="0"/>
                            </a:rPr>
                            <m:t>)</m:t>
                          </m:r>
                        </m:num>
                        <m:den>
                          <m:sSub>
                            <m:sSubPr>
                              <m:ctrlPr>
                                <a:rPr lang="en-AU" i="1" dirty="0">
                                  <a:latin typeface="Cambria Math" panose="02040503050406030204" pitchFamily="18" charset="0"/>
                                </a:rPr>
                              </m:ctrlPr>
                            </m:sSubPr>
                            <m:e>
                              <m:r>
                                <a:rPr lang="en-AU" i="1" dirty="0">
                                  <a:latin typeface="Cambria Math" panose="02040503050406030204" pitchFamily="18" charset="0"/>
                                </a:rPr>
                                <m:t>𝑝</m:t>
                              </m:r>
                            </m:e>
                            <m:sub>
                              <m:r>
                                <a:rPr lang="en-AU" i="1" dirty="0">
                                  <a:latin typeface="Cambria Math" panose="02040503050406030204" pitchFamily="18" charset="0"/>
                                </a:rPr>
                                <m:t>𝑌</m:t>
                              </m:r>
                            </m:sub>
                          </m:sSub>
                          <m:r>
                            <a:rPr lang="en-AU" i="1" dirty="0">
                              <a:latin typeface="Cambria Math" panose="02040503050406030204" pitchFamily="18" charset="0"/>
                            </a:rPr>
                            <m:t>(</m:t>
                          </m:r>
                          <m:r>
                            <a:rPr lang="en-AU" i="1" dirty="0">
                              <a:latin typeface="Cambria Math" panose="02040503050406030204" pitchFamily="18" charset="0"/>
                            </a:rPr>
                            <m:t>𝑦</m:t>
                          </m:r>
                          <m:r>
                            <a:rPr lang="en-AU" i="1" dirty="0">
                              <a:latin typeface="Cambria Math" panose="02040503050406030204" pitchFamily="18" charset="0"/>
                            </a:rPr>
                            <m:t>)</m:t>
                          </m:r>
                        </m:den>
                      </m:f>
                    </m:oMath>
                  </m:oMathPara>
                </a14:m>
                <a:endParaRPr lang="en-AU" b="0" dirty="0">
                  <a:solidFill>
                    <a:schemeClr val="tx1"/>
                  </a:solidFill>
                </a:endParaRPr>
              </a:p>
              <a:p>
                <a:pPr marL="98425" indent="0">
                  <a:buNone/>
                </a:pPr>
                <a:endParaRPr lang="en-AU" dirty="0"/>
              </a:p>
              <a:p>
                <a:pPr indent="0">
                  <a:buNone/>
                </a:pPr>
                <a:r>
                  <a:rPr lang="en-AU" sz="1600" dirty="0">
                    <a:solidFill>
                      <a:srgbClr val="0070C0"/>
                    </a:solidFill>
                  </a:rPr>
                  <a:t>Product rule </a:t>
                </a:r>
                <a:r>
                  <a:rPr lang="en-AU" sz="1600" dirty="0"/>
                  <a:t>(chain rule)</a:t>
                </a:r>
              </a:p>
              <a:p>
                <a:pPr marL="98425" indent="0">
                  <a:buNone/>
                </a:pPr>
                <a:endParaRPr lang="en-AU" sz="1600" dirty="0"/>
              </a:p>
              <a:p>
                <a:pPr marL="98425" indent="0">
                  <a:buNone/>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r>
                            <a:rPr lang="en-AU" sz="1600" b="0" i="1" smtClean="0">
                              <a:latin typeface="Cambria Math" panose="02040503050406030204" pitchFamily="18" charset="0"/>
                            </a:rPr>
                            <m:t>,</m:t>
                          </m:r>
                          <m:r>
                            <a:rPr lang="en-AU" sz="1600" b="0" i="1" smtClean="0">
                              <a:latin typeface="Cambria Math" panose="02040503050406030204" pitchFamily="18" charset="0"/>
                            </a:rPr>
                            <m:t>𝑦</m:t>
                          </m:r>
                        </m:e>
                      </m:d>
                      <m:r>
                        <a:rPr lang="en-AU" sz="1600" b="0" i="1" smtClean="0">
                          <a:latin typeface="Cambria Math" panose="02040503050406030204" pitchFamily="18" charset="0"/>
                        </a:rPr>
                        <m:t>=</m:t>
                      </m:r>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e>
                          <m:r>
                            <a:rPr lang="en-AU" sz="1600" b="0" i="1" smtClean="0">
                              <a:latin typeface="Cambria Math" panose="02040503050406030204" pitchFamily="18" charset="0"/>
                            </a:rPr>
                            <m:t>𝑦</m:t>
                          </m:r>
                        </m:e>
                      </m:d>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oMath>
                  </m:oMathPara>
                </a14:m>
                <a:endParaRPr lang="en-AU" sz="1600" dirty="0"/>
              </a:p>
              <a:p>
                <a:pPr marL="98425" indent="0">
                  <a:buNone/>
                </a:pPr>
                <a:endParaRPr lang="en-AU" sz="1600" dirty="0"/>
              </a:p>
              <a:p>
                <a:pPr indent="0">
                  <a:buNone/>
                </a:pPr>
                <a:r>
                  <a:rPr lang="en-AU" sz="1600" dirty="0">
                    <a:solidFill>
                      <a:srgbClr val="0070C0"/>
                    </a:solidFill>
                  </a:rPr>
                  <a:t>Bayes’ theorem</a:t>
                </a:r>
              </a:p>
              <a:p>
                <a:pPr marL="98425" indent="0">
                  <a:buNone/>
                </a:pPr>
                <a:endParaRPr lang="en-AU" sz="1600" dirty="0"/>
              </a:p>
              <a:p>
                <a:pPr marL="98425" indent="0">
                  <a:buNone/>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𝑦</m:t>
                          </m:r>
                        </m:e>
                        <m:e>
                          <m:r>
                            <a:rPr lang="en-AU" sz="1600" b="0" i="1" smtClean="0">
                              <a:latin typeface="Cambria Math" panose="02040503050406030204" pitchFamily="18" charset="0"/>
                            </a:rPr>
                            <m:t>𝑥</m:t>
                          </m:r>
                        </m:e>
                      </m:d>
                      <m:r>
                        <a:rPr lang="en-AU" sz="1600" b="0" i="1" smtClean="0">
                          <a:latin typeface="Cambria Math" panose="02040503050406030204" pitchFamily="18" charset="0"/>
                        </a:rPr>
                        <m:t>=</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e>
                              <m:r>
                                <a:rPr lang="en-AU" sz="1600" b="0" i="1" smtClean="0">
                                  <a:latin typeface="Cambria Math" panose="02040503050406030204" pitchFamily="18" charset="0"/>
                                </a:rPr>
                                <m:t>𝑦</m:t>
                              </m:r>
                            </m:e>
                          </m:d>
                          <m:r>
                            <a:rPr lang="en-AU" sz="1600" b="0" i="1" smtClean="0">
                              <a:latin typeface="Cambria Math" panose="02040503050406030204" pitchFamily="18" charset="0"/>
                            </a:rPr>
                            <m:t>𝑝</m:t>
                          </m:r>
                          <m:r>
                            <a:rPr lang="en-AU" sz="1600" b="0" i="1" smtClean="0">
                              <a:latin typeface="Cambria Math" panose="02040503050406030204" pitchFamily="18" charset="0"/>
                            </a:rPr>
                            <m:t>(</m:t>
                          </m:r>
                          <m:r>
                            <a:rPr lang="en-AU" sz="1600" b="0" i="1" smtClean="0">
                              <a:latin typeface="Cambria Math" panose="02040503050406030204" pitchFamily="18" charset="0"/>
                            </a:rPr>
                            <m:t>𝑦</m:t>
                          </m:r>
                          <m:r>
                            <a:rPr lang="en-AU" sz="1600" b="0" i="1" smtClean="0">
                              <a:latin typeface="Cambria Math" panose="02040503050406030204" pitchFamily="18" charset="0"/>
                            </a:rPr>
                            <m:t>)</m:t>
                          </m:r>
                        </m:num>
                        <m:den>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d>
                        </m:den>
                      </m:f>
                    </m:oMath>
                  </m:oMathPara>
                </a14:m>
                <a:endParaRPr lang="en-AU" sz="1600" b="0" dirty="0"/>
              </a:p>
              <a:p>
                <a:pPr marL="98425" indent="0">
                  <a:buNone/>
                </a:pPr>
                <a:endParaRPr lang="en-AU" sz="1600" dirty="0"/>
              </a:p>
              <a:p>
                <a:pPr indent="0">
                  <a:buNone/>
                </a:pPr>
                <a:r>
                  <a:rPr lang="en-AU" dirty="0"/>
                  <a:t>Example task: compute probability of first coin “heads” given that total of one “head”</a:t>
                </a:r>
              </a:p>
              <a:p>
                <a:pPr marL="98425" indent="0">
                  <a:buNone/>
                </a:pPr>
                <a:endParaRPr lang="en-AU" sz="1600" dirty="0"/>
              </a:p>
            </p:txBody>
          </p:sp>
        </mc:Choice>
        <mc:Fallback xmlns="">
          <p:sp>
            <p:nvSpPr>
              <p:cNvPr id="4" name="TextBox 3">
                <a:extLst>
                  <a:ext uri="{FF2B5EF4-FFF2-40B4-BE49-F238E27FC236}">
                    <a16:creationId xmlns:a16="http://schemas.microsoft.com/office/drawing/2014/main" id="{CDDA076E-FA7C-6C01-ECD3-4452EB10E2D7}"/>
                  </a:ext>
                </a:extLst>
              </p:cNvPr>
              <p:cNvSpPr txBox="1">
                <a:spLocks noRot="1" noChangeAspect="1" noMove="1" noResize="1" noEditPoints="1" noAdjustHandles="1" noChangeArrowheads="1" noChangeShapeType="1" noTextEdit="1"/>
              </p:cNvSpPr>
              <p:nvPr/>
            </p:nvSpPr>
            <p:spPr>
              <a:xfrm>
                <a:off x="454400" y="1589929"/>
                <a:ext cx="8308600" cy="4079065"/>
              </a:xfrm>
              <a:prstGeom prst="rect">
                <a:avLst/>
              </a:prstGeom>
              <a:blipFill>
                <a:blip r:embed="rId3"/>
                <a:stretch>
                  <a:fillRect l="-458" t="-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793DFD2-6BF8-C5B5-4338-6DF7719ED2A1}"/>
                  </a:ext>
                </a:extLst>
              </p:cNvPr>
              <p:cNvSpPr txBox="1"/>
              <p:nvPr/>
            </p:nvSpPr>
            <p:spPr>
              <a:xfrm>
                <a:off x="660848" y="5679814"/>
                <a:ext cx="4572000" cy="3606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𝑋</m:t>
                          </m:r>
                          <m:r>
                            <a:rPr lang="en-AU" b="0" i="1" smtClean="0">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𝑍</m:t>
                          </m:r>
                        </m:sub>
                      </m:sSub>
                      <m:d>
                        <m:dPr>
                          <m:ctrlPr>
                            <a:rPr lang="en-US"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𝐻</m:t>
                          </m:r>
                        </m:e>
                        <m:e>
                          <m:r>
                            <a:rPr lang="en-AU" b="0" i="1" smtClean="0">
                              <a:solidFill>
                                <a:srgbClr val="0070C0"/>
                              </a:solidFill>
                              <a:latin typeface="Cambria Math" panose="02040503050406030204" pitchFamily="18" charset="0"/>
                            </a:rPr>
                            <m:t>1</m:t>
                          </m:r>
                        </m:e>
                      </m:d>
                    </m:oMath>
                  </m:oMathPara>
                </a14:m>
                <a:endParaRPr lang="en-US" dirty="0"/>
              </a:p>
            </p:txBody>
          </p:sp>
        </mc:Choice>
        <mc:Fallback xmlns="">
          <p:sp>
            <p:nvSpPr>
              <p:cNvPr id="8" name="TextBox 7">
                <a:extLst>
                  <a:ext uri="{FF2B5EF4-FFF2-40B4-BE49-F238E27FC236}">
                    <a16:creationId xmlns:a16="http://schemas.microsoft.com/office/drawing/2014/main" id="{0793DFD2-6BF8-C5B5-4338-6DF7719ED2A1}"/>
                  </a:ext>
                </a:extLst>
              </p:cNvPr>
              <p:cNvSpPr txBox="1">
                <a:spLocks noRot="1" noChangeAspect="1" noMove="1" noResize="1" noEditPoints="1" noAdjustHandles="1" noChangeArrowheads="1" noChangeShapeType="1" noTextEdit="1"/>
              </p:cNvSpPr>
              <p:nvPr/>
            </p:nvSpPr>
            <p:spPr>
              <a:xfrm>
                <a:off x="660848" y="5679814"/>
                <a:ext cx="4572000" cy="360676"/>
              </a:xfrm>
              <a:prstGeom prst="rect">
                <a:avLst/>
              </a:prstGeom>
              <a:blipFill>
                <a:blip r:embed="rId4"/>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364291-0572-1632-8B89-3EAD3EA82DA7}"/>
                  </a:ext>
                </a:extLst>
              </p:cNvPr>
              <p:cNvSpPr txBox="1"/>
              <p:nvPr/>
            </p:nvSpPr>
            <p:spPr>
              <a:xfrm>
                <a:off x="3388186" y="5403328"/>
                <a:ext cx="4572000" cy="913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solidFill>
                            <a:srgbClr val="0070C0"/>
                          </a:solidFill>
                          <a:latin typeface="Cambria Math" panose="02040503050406030204" pitchFamily="18" charset="0"/>
                        </a:rPr>
                        <m:t>=</m:t>
                      </m:r>
                      <m:f>
                        <m:fPr>
                          <m:ctrlPr>
                            <a:rPr lang="en-AU" b="0" i="1" smtClean="0">
                              <a:solidFill>
                                <a:srgbClr val="0070C0"/>
                              </a:solidFill>
                              <a:latin typeface="Cambria Math" panose="02040503050406030204" pitchFamily="18" charset="0"/>
                            </a:rPr>
                          </m:ctrlPr>
                        </m:fPr>
                        <m:num>
                          <m:f>
                            <m:fPr>
                              <m:ctrlPr>
                                <a:rPr lang="en-AU" b="0" i="1" smtClean="0">
                                  <a:solidFill>
                                    <a:srgbClr val="0070C0"/>
                                  </a:solidFill>
                                  <a:latin typeface="Cambria Math" panose="02040503050406030204" pitchFamily="18" charset="0"/>
                                </a:rPr>
                              </m:ctrlPr>
                            </m:fPr>
                            <m:num>
                              <m:r>
                                <a:rPr lang="en-AU" b="0" i="1" smtClean="0">
                                  <a:solidFill>
                                    <a:srgbClr val="0070C0"/>
                                  </a:solidFill>
                                  <a:latin typeface="Cambria Math" panose="02040503050406030204" pitchFamily="18" charset="0"/>
                                </a:rPr>
                                <m:t>2</m:t>
                              </m:r>
                            </m:num>
                            <m:den>
                              <m:r>
                                <a:rPr lang="en-AU" b="0" i="1" smtClean="0">
                                  <a:solidFill>
                                    <a:srgbClr val="0070C0"/>
                                  </a:solidFill>
                                  <a:latin typeface="Cambria Math" panose="02040503050406030204" pitchFamily="18" charset="0"/>
                                </a:rPr>
                                <m:t>3</m:t>
                              </m:r>
                            </m:den>
                          </m:f>
                          <m:r>
                            <a:rPr lang="en-AU" b="0" i="1" smtClean="0">
                              <a:solidFill>
                                <a:srgbClr val="0070C0"/>
                              </a:solidFill>
                              <a:latin typeface="Cambria Math" panose="02040503050406030204" pitchFamily="18" charset="0"/>
                            </a:rPr>
                            <m:t>⋅</m:t>
                          </m:r>
                          <m:f>
                            <m:fPr>
                              <m:ctrlPr>
                                <a:rPr lang="en-AU" b="0" i="1" smtClean="0">
                                  <a:solidFill>
                                    <a:srgbClr val="0070C0"/>
                                  </a:solidFill>
                                  <a:latin typeface="Cambria Math" panose="02040503050406030204" pitchFamily="18" charset="0"/>
                                </a:rPr>
                              </m:ctrlPr>
                            </m:fPr>
                            <m:num>
                              <m:r>
                                <a:rPr lang="en-AU" b="0" i="1" smtClean="0">
                                  <a:solidFill>
                                    <a:srgbClr val="0070C0"/>
                                  </a:solidFill>
                                  <a:latin typeface="Cambria Math" panose="02040503050406030204" pitchFamily="18" charset="0"/>
                                </a:rPr>
                                <m:t>1</m:t>
                              </m:r>
                            </m:num>
                            <m:den>
                              <m:r>
                                <a:rPr lang="en-AU" b="0" i="1" smtClean="0">
                                  <a:solidFill>
                                    <a:srgbClr val="0070C0"/>
                                  </a:solidFill>
                                  <a:latin typeface="Cambria Math" panose="02040503050406030204" pitchFamily="18" charset="0"/>
                                </a:rPr>
                                <m:t>3</m:t>
                              </m:r>
                            </m:den>
                          </m:f>
                        </m:num>
                        <m:den>
                          <m:f>
                            <m:fPr>
                              <m:ctrlPr>
                                <a:rPr lang="en-AU" b="0" i="1" smtClean="0">
                                  <a:solidFill>
                                    <a:srgbClr val="0070C0"/>
                                  </a:solidFill>
                                  <a:latin typeface="Cambria Math" panose="02040503050406030204" pitchFamily="18" charset="0"/>
                                </a:rPr>
                              </m:ctrlPr>
                            </m:fPr>
                            <m:num>
                              <m:r>
                                <a:rPr lang="en-AU" b="0" i="1" smtClean="0">
                                  <a:solidFill>
                                    <a:srgbClr val="0070C0"/>
                                  </a:solidFill>
                                  <a:latin typeface="Cambria Math" panose="02040503050406030204" pitchFamily="18" charset="0"/>
                                </a:rPr>
                                <m:t>4</m:t>
                              </m:r>
                            </m:num>
                            <m:den>
                              <m:r>
                                <a:rPr lang="en-AU" b="0" i="1" smtClean="0">
                                  <a:solidFill>
                                    <a:srgbClr val="0070C0"/>
                                  </a:solidFill>
                                  <a:latin typeface="Cambria Math" panose="02040503050406030204" pitchFamily="18" charset="0"/>
                                </a:rPr>
                                <m:t>9</m:t>
                              </m:r>
                            </m:den>
                          </m:f>
                        </m:den>
                      </m:f>
                      <m:r>
                        <a:rPr lang="en-AU" b="0" i="1" smtClean="0">
                          <a:solidFill>
                            <a:srgbClr val="0070C0"/>
                          </a:solidFill>
                          <a:latin typeface="Cambria Math" panose="02040503050406030204" pitchFamily="18" charset="0"/>
                        </a:rPr>
                        <m:t>=</m:t>
                      </m:r>
                      <m:f>
                        <m:fPr>
                          <m:ctrlPr>
                            <a:rPr lang="en-AU" b="0" i="1" smtClean="0">
                              <a:solidFill>
                                <a:srgbClr val="0070C0"/>
                              </a:solidFill>
                              <a:latin typeface="Cambria Math" panose="02040503050406030204" pitchFamily="18" charset="0"/>
                            </a:rPr>
                          </m:ctrlPr>
                        </m:fPr>
                        <m:num>
                          <m:r>
                            <a:rPr lang="en-AU" b="0" i="1" smtClean="0">
                              <a:solidFill>
                                <a:srgbClr val="0070C0"/>
                              </a:solidFill>
                              <a:latin typeface="Cambria Math" panose="02040503050406030204" pitchFamily="18" charset="0"/>
                            </a:rPr>
                            <m:t>1</m:t>
                          </m:r>
                        </m:num>
                        <m:den>
                          <m:r>
                            <a:rPr lang="en-AU" b="0" i="1" smtClean="0">
                              <a:solidFill>
                                <a:srgbClr val="0070C0"/>
                              </a:solidFill>
                              <a:latin typeface="Cambria Math" panose="02040503050406030204" pitchFamily="18" charset="0"/>
                            </a:rPr>
                            <m:t>2</m:t>
                          </m:r>
                        </m:den>
                      </m:f>
                    </m:oMath>
                  </m:oMathPara>
                </a14:m>
                <a:endParaRPr lang="en-US" dirty="0"/>
              </a:p>
            </p:txBody>
          </p:sp>
        </mc:Choice>
        <mc:Fallback xmlns="">
          <p:sp>
            <p:nvSpPr>
              <p:cNvPr id="10" name="TextBox 9">
                <a:extLst>
                  <a:ext uri="{FF2B5EF4-FFF2-40B4-BE49-F238E27FC236}">
                    <a16:creationId xmlns:a16="http://schemas.microsoft.com/office/drawing/2014/main" id="{2D364291-0572-1632-8B89-3EAD3EA82DA7}"/>
                  </a:ext>
                </a:extLst>
              </p:cNvPr>
              <p:cNvSpPr txBox="1">
                <a:spLocks noRot="1" noChangeAspect="1" noMove="1" noResize="1" noEditPoints="1" noAdjustHandles="1" noChangeArrowheads="1" noChangeShapeType="1" noTextEdit="1"/>
              </p:cNvSpPr>
              <p:nvPr/>
            </p:nvSpPr>
            <p:spPr>
              <a:xfrm>
                <a:off x="3388186" y="5403328"/>
                <a:ext cx="4572000" cy="913648"/>
              </a:xfrm>
              <a:prstGeom prst="rect">
                <a:avLst/>
              </a:prstGeom>
              <a:blipFill>
                <a:blip r:embed="rId5"/>
                <a:stretch>
                  <a:fillRect b="-13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BF16F1A-B5D2-5F95-1C31-32A1D35D5025}"/>
                  </a:ext>
                </a:extLst>
              </p:cNvPr>
              <p:cNvSpPr txBox="1"/>
              <p:nvPr/>
            </p:nvSpPr>
            <p:spPr>
              <a:xfrm>
                <a:off x="3167336" y="5549619"/>
                <a:ext cx="2221768" cy="6210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solidFill>
                            <a:srgbClr val="0070C0"/>
                          </a:solidFill>
                          <a:latin typeface="Cambria Math" panose="02040503050406030204" pitchFamily="18" charset="0"/>
                        </a:rPr>
                        <m:t>=</m:t>
                      </m:r>
                      <m:f>
                        <m:fPr>
                          <m:ctrlPr>
                            <a:rPr lang="en-AU" b="0" i="1" smtClean="0">
                              <a:solidFill>
                                <a:srgbClr val="0070C0"/>
                              </a:solidFill>
                              <a:latin typeface="Cambria Math" panose="02040503050406030204" pitchFamily="18" charset="0"/>
                            </a:rPr>
                          </m:ctrlPr>
                        </m:fPr>
                        <m:num>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𝑍</m:t>
                              </m:r>
                              <m:r>
                                <a:rPr lang="en-AU" b="0" i="1" smtClean="0">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𝑋</m:t>
                              </m:r>
                            </m:sub>
                          </m:sSub>
                          <m:d>
                            <m:dPr>
                              <m:ctrlPr>
                                <a:rPr lang="en-AU"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1 | </m:t>
                              </m:r>
                              <m:r>
                                <a:rPr lang="en-AU" b="0" i="1" smtClean="0">
                                  <a:solidFill>
                                    <a:srgbClr val="0070C0"/>
                                  </a:solidFill>
                                  <a:latin typeface="Cambria Math" panose="02040503050406030204" pitchFamily="18" charset="0"/>
                                </a:rPr>
                                <m:t>𝐻</m:t>
                              </m:r>
                            </m:e>
                          </m:d>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𝑋</m:t>
                              </m:r>
                            </m:sub>
                          </m:sSub>
                          <m:r>
                            <a:rPr lang="en-AU" b="0" i="1" smtClean="0">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𝐻</m:t>
                          </m:r>
                          <m:r>
                            <a:rPr lang="en-AU" b="0" i="1" smtClean="0">
                              <a:solidFill>
                                <a:srgbClr val="0070C0"/>
                              </a:solidFill>
                              <a:latin typeface="Cambria Math" panose="02040503050406030204" pitchFamily="18" charset="0"/>
                            </a:rPr>
                            <m:t>)</m:t>
                          </m:r>
                        </m:num>
                        <m:den>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𝑍</m:t>
                              </m:r>
                            </m:sub>
                          </m:sSub>
                          <m:d>
                            <m:dPr>
                              <m:ctrlPr>
                                <a:rPr lang="en-AU"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1</m:t>
                              </m:r>
                            </m:e>
                          </m:d>
                        </m:den>
                      </m:f>
                    </m:oMath>
                  </m:oMathPara>
                </a14:m>
                <a:endParaRPr lang="en-US" dirty="0"/>
              </a:p>
            </p:txBody>
          </p:sp>
        </mc:Choice>
        <mc:Fallback xmlns="">
          <p:sp>
            <p:nvSpPr>
              <p:cNvPr id="11" name="TextBox 10">
                <a:extLst>
                  <a:ext uri="{FF2B5EF4-FFF2-40B4-BE49-F238E27FC236}">
                    <a16:creationId xmlns:a16="http://schemas.microsoft.com/office/drawing/2014/main" id="{4BF16F1A-B5D2-5F95-1C31-32A1D35D5025}"/>
                  </a:ext>
                </a:extLst>
              </p:cNvPr>
              <p:cNvSpPr txBox="1">
                <a:spLocks noRot="1" noChangeAspect="1" noMove="1" noResize="1" noEditPoints="1" noAdjustHandles="1" noChangeArrowheads="1" noChangeShapeType="1" noTextEdit="1"/>
              </p:cNvSpPr>
              <p:nvPr/>
            </p:nvSpPr>
            <p:spPr>
              <a:xfrm>
                <a:off x="3167336" y="5549619"/>
                <a:ext cx="2221768" cy="621067"/>
              </a:xfrm>
              <a:prstGeom prst="rect">
                <a:avLst/>
              </a:prstGeom>
              <a:blipFill>
                <a:blip r:embed="rId6"/>
                <a:stretch>
                  <a:fillRect b="-6000"/>
                </a:stretch>
              </a:blipFill>
            </p:spPr>
            <p:txBody>
              <a:bodyPr/>
              <a:lstStyle/>
              <a:p>
                <a:r>
                  <a:rPr lang="en-US">
                    <a:noFill/>
                  </a:rPr>
                  <a:t> </a:t>
                </a:r>
              </a:p>
            </p:txBody>
          </p:sp>
        </mc:Fallback>
      </mc:AlternateContent>
    </p:spTree>
    <p:extLst>
      <p:ext uri="{BB962C8B-B14F-4D97-AF65-F5344CB8AC3E}">
        <p14:creationId xmlns:p14="http://schemas.microsoft.com/office/powerpoint/2010/main" val="338922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idx="4294967295"/>
          </p:nvPr>
        </p:nvSpPr>
        <p:spPr>
          <a:xfrm>
            <a:off x="304800" y="152400"/>
            <a:ext cx="8458200" cy="990600"/>
          </a:xfrm>
        </p:spPr>
        <p:txBody>
          <a:bodyPr/>
          <a:lstStyle/>
          <a:p>
            <a:r>
              <a:rPr lang="en-US" altLang="ko-KR" dirty="0"/>
              <a:t>Two Variables: Independence</a:t>
            </a:r>
          </a:p>
        </p:txBody>
      </p:sp>
      <p:sp>
        <p:nvSpPr>
          <p:cNvPr id="19463" name="TextBox 8"/>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DA076E-FA7C-6C01-ECD3-4452EB10E2D7}"/>
                  </a:ext>
                </a:extLst>
              </p:cNvPr>
              <p:cNvSpPr txBox="1"/>
              <p:nvPr/>
            </p:nvSpPr>
            <p:spPr>
              <a:xfrm>
                <a:off x="454400" y="1589929"/>
                <a:ext cx="8308600" cy="1826654"/>
              </a:xfrm>
              <a:prstGeom prst="rect">
                <a:avLst/>
              </a:prstGeom>
              <a:noFill/>
            </p:spPr>
            <p:txBody>
              <a:bodyPr wrap="square" rtlCol="0">
                <a:spAutoFit/>
              </a:bodyPr>
              <a:lstStyle/>
              <a:p>
                <a:r>
                  <a:rPr lang="en-AU" dirty="0"/>
                  <a:t>Two variables X and Y are </a:t>
                </a:r>
                <a:r>
                  <a:rPr lang="en-AU" dirty="0">
                    <a:solidFill>
                      <a:srgbClr val="0070C0"/>
                    </a:solidFill>
                  </a:rPr>
                  <a:t>independent</a:t>
                </a:r>
                <a:r>
                  <a:rPr lang="en-AU" dirty="0"/>
                  <a:t> of for all </a:t>
                </a:r>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m:t>
                    </m:r>
                    <m:sSub>
                      <m:sSubPr>
                        <m:ctrlPr>
                          <a:rPr lang="en-AU" i="1" dirty="0" smtClean="0">
                            <a:latin typeface="Cambria Math" panose="02040503050406030204" pitchFamily="18" charset="0"/>
                          </a:rPr>
                        </m:ctrlPr>
                      </m:sSubPr>
                      <m:e>
                        <m:r>
                          <a:rPr lang="en-AU" i="1" dirty="0" smtClean="0">
                            <a:latin typeface="Cambria Math" panose="02040503050406030204" pitchFamily="18" charset="0"/>
                          </a:rPr>
                          <m:t>𝐷</m:t>
                        </m:r>
                      </m:e>
                      <m:sub>
                        <m:r>
                          <a:rPr lang="en-AU" i="1" dirty="0" smtClean="0">
                            <a:latin typeface="Cambria Math" panose="02040503050406030204" pitchFamily="18" charset="0"/>
                          </a:rPr>
                          <m:t>𝑋</m:t>
                        </m:r>
                      </m:sub>
                    </m:sSub>
                  </m:oMath>
                </a14:m>
                <a:r>
                  <a:rPr lang="en-AU" dirty="0"/>
                  <a:t> and </a:t>
                </a:r>
                <a14:m>
                  <m:oMath xmlns:m="http://schemas.openxmlformats.org/officeDocument/2006/math">
                    <m:r>
                      <a:rPr lang="en-AU" i="1" dirty="0" smtClean="0">
                        <a:latin typeface="Cambria Math" panose="02040503050406030204" pitchFamily="18" charset="0"/>
                      </a:rPr>
                      <m:t>𝑦</m:t>
                    </m:r>
                    <m:r>
                      <a:rPr lang="en-AU" i="1" dirty="0" smtClean="0">
                        <a:latin typeface="Cambria Math" panose="02040503050406030204" pitchFamily="18" charset="0"/>
                      </a:rPr>
                      <m:t>∈</m:t>
                    </m:r>
                    <m:sSub>
                      <m:sSubPr>
                        <m:ctrlPr>
                          <a:rPr lang="en-AU" i="1" dirty="0" smtClean="0">
                            <a:latin typeface="Cambria Math" panose="02040503050406030204" pitchFamily="18" charset="0"/>
                          </a:rPr>
                        </m:ctrlPr>
                      </m:sSubPr>
                      <m:e>
                        <m:r>
                          <a:rPr lang="en-AU" i="1" dirty="0" smtClean="0">
                            <a:latin typeface="Cambria Math" panose="02040503050406030204" pitchFamily="18" charset="0"/>
                          </a:rPr>
                          <m:t>𝐷</m:t>
                        </m:r>
                      </m:e>
                      <m:sub>
                        <m:r>
                          <a:rPr lang="en-AU" i="1" dirty="0" smtClean="0">
                            <a:latin typeface="Cambria Math" panose="02040503050406030204" pitchFamily="18" charset="0"/>
                          </a:rPr>
                          <m:t>𝑌</m:t>
                        </m:r>
                      </m:sub>
                    </m:sSub>
                  </m:oMath>
                </a14:m>
                <a:r>
                  <a:rPr lang="en-AU" dirty="0"/>
                  <a:t>: </a:t>
                </a:r>
                <a:endParaRPr lang="en-US" dirty="0"/>
              </a:p>
              <a:p>
                <a:endParaRPr lang="en-US" dirty="0"/>
              </a:p>
              <a:p>
                <a:pPr/>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𝑝</m:t>
                          </m:r>
                        </m:e>
                        <m:sub>
                          <m:r>
                            <a:rPr lang="en-AU" b="0" i="1" dirty="0" smtClean="0">
                              <a:latin typeface="Cambria Math" panose="02040503050406030204" pitchFamily="18" charset="0"/>
                            </a:rPr>
                            <m:t>𝑋</m:t>
                          </m:r>
                          <m:r>
                            <a:rPr lang="en-AU" b="0" i="1" dirty="0" smtClean="0">
                              <a:latin typeface="Cambria Math" panose="02040503050406030204" pitchFamily="18" charset="0"/>
                            </a:rPr>
                            <m:t>,</m:t>
                          </m:r>
                          <m:r>
                            <a:rPr lang="en-AU" b="0" i="1" dirty="0" smtClean="0">
                              <a:latin typeface="Cambria Math" panose="02040503050406030204" pitchFamily="18" charset="0"/>
                            </a:rPr>
                            <m:t>𝑌</m:t>
                          </m:r>
                        </m:sub>
                      </m:sSub>
                      <m:d>
                        <m:dPr>
                          <m:ctrlPr>
                            <a:rPr lang="en-AU" b="0" i="1" dirty="0" smtClean="0">
                              <a:latin typeface="Cambria Math" panose="02040503050406030204" pitchFamily="18" charset="0"/>
                            </a:rPr>
                          </m:ctrlPr>
                        </m:dPr>
                        <m:e>
                          <m:r>
                            <a:rPr lang="en-AU" b="0" i="1" dirty="0" smtClean="0">
                              <a:latin typeface="Cambria Math" panose="02040503050406030204" pitchFamily="18" charset="0"/>
                            </a:rPr>
                            <m:t>𝑥</m:t>
                          </m:r>
                          <m:r>
                            <a:rPr lang="en-AU" b="0" i="1" dirty="0" smtClean="0">
                              <a:latin typeface="Cambria Math" panose="02040503050406030204" pitchFamily="18" charset="0"/>
                            </a:rPr>
                            <m:t>,</m:t>
                          </m:r>
                          <m:r>
                            <a:rPr lang="en-AU" b="0" i="1" dirty="0" smtClean="0">
                              <a:latin typeface="Cambria Math" panose="02040503050406030204" pitchFamily="18" charset="0"/>
                            </a:rPr>
                            <m:t>𝑦</m:t>
                          </m:r>
                        </m:e>
                      </m:d>
                      <m:r>
                        <a:rPr lang="en-AU" b="0" i="1" dirty="0" smtClean="0">
                          <a:latin typeface="Cambria Math" panose="02040503050406030204" pitchFamily="18" charset="0"/>
                        </a:rPr>
                        <m:t>=</m:t>
                      </m:r>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𝑝</m:t>
                          </m:r>
                        </m:e>
                        <m:sub>
                          <m:r>
                            <a:rPr lang="en-AU" b="0" i="1" dirty="0" smtClean="0">
                              <a:latin typeface="Cambria Math" panose="02040503050406030204" pitchFamily="18" charset="0"/>
                            </a:rPr>
                            <m:t>𝑋</m:t>
                          </m:r>
                        </m:sub>
                      </m:sSub>
                      <m:d>
                        <m:dPr>
                          <m:ctrlPr>
                            <a:rPr lang="en-AU" b="0" i="1" dirty="0" smtClean="0">
                              <a:latin typeface="Cambria Math" panose="02040503050406030204" pitchFamily="18" charset="0"/>
                            </a:rPr>
                          </m:ctrlPr>
                        </m:dPr>
                        <m:e>
                          <m:r>
                            <a:rPr lang="en-AU" b="0" i="1" dirty="0" smtClean="0">
                              <a:latin typeface="Cambria Math" panose="02040503050406030204" pitchFamily="18" charset="0"/>
                            </a:rPr>
                            <m:t>𝑥</m:t>
                          </m:r>
                        </m:e>
                      </m:d>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𝑝</m:t>
                          </m:r>
                        </m:e>
                        <m:sub>
                          <m:r>
                            <a:rPr lang="en-AU" b="0" i="1" dirty="0" smtClean="0">
                              <a:latin typeface="Cambria Math" panose="02040503050406030204" pitchFamily="18" charset="0"/>
                            </a:rPr>
                            <m:t>𝑌</m:t>
                          </m:r>
                        </m:sub>
                      </m:sSub>
                      <m:r>
                        <a:rPr lang="en-AU" b="0" i="1" dirty="0" smtClean="0">
                          <a:latin typeface="Cambria Math" panose="02040503050406030204" pitchFamily="18" charset="0"/>
                        </a:rPr>
                        <m:t>(</m:t>
                      </m:r>
                      <m:r>
                        <a:rPr lang="en-AU" b="0" i="1" dirty="0" smtClean="0">
                          <a:latin typeface="Cambria Math" panose="02040503050406030204" pitchFamily="18" charset="0"/>
                        </a:rPr>
                        <m:t>𝑦</m:t>
                      </m:r>
                      <m:r>
                        <a:rPr lang="en-AU" b="0" i="1" dirty="0" smtClean="0">
                          <a:latin typeface="Cambria Math" panose="02040503050406030204" pitchFamily="18" charset="0"/>
                        </a:rPr>
                        <m:t>)</m:t>
                      </m:r>
                    </m:oMath>
                  </m:oMathPara>
                </a14:m>
                <a:endParaRPr lang="en-AU" b="0" dirty="0">
                  <a:solidFill>
                    <a:schemeClr val="tx1"/>
                  </a:solidFill>
                </a:endParaRPr>
              </a:p>
              <a:p>
                <a:pPr marL="98425" indent="0">
                  <a:buNone/>
                </a:pPr>
                <a:endParaRPr lang="en-AU" dirty="0"/>
              </a:p>
              <a:p>
                <a:pPr indent="0">
                  <a:buNone/>
                </a:pPr>
                <a:r>
                  <a:rPr lang="en-AU" dirty="0"/>
                  <a:t>o</a:t>
                </a:r>
                <a:r>
                  <a:rPr lang="en-AU" sz="1600" dirty="0"/>
                  <a:t>r </a:t>
                </a:r>
                <a:r>
                  <a:rPr lang="en-AU" sz="1600" dirty="0">
                    <a:solidFill>
                      <a:srgbClr val="0070C0"/>
                    </a:solidFill>
                  </a:rPr>
                  <a:t>alternatively</a:t>
                </a:r>
                <a:r>
                  <a:rPr lang="en-AU" sz="1600" dirty="0"/>
                  <a:t> if for all </a:t>
                </a:r>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m:t>
                    </m:r>
                    <m:sSub>
                      <m:sSubPr>
                        <m:ctrlPr>
                          <a:rPr lang="en-AU" i="1" dirty="0" smtClean="0">
                            <a:latin typeface="Cambria Math" panose="02040503050406030204" pitchFamily="18" charset="0"/>
                          </a:rPr>
                        </m:ctrlPr>
                      </m:sSubPr>
                      <m:e>
                        <m:r>
                          <a:rPr lang="en-AU" i="1" dirty="0" smtClean="0">
                            <a:latin typeface="Cambria Math" panose="02040503050406030204" pitchFamily="18" charset="0"/>
                          </a:rPr>
                          <m:t>𝐷</m:t>
                        </m:r>
                      </m:e>
                      <m:sub>
                        <m:r>
                          <a:rPr lang="en-AU" i="1" dirty="0" smtClean="0">
                            <a:latin typeface="Cambria Math" panose="02040503050406030204" pitchFamily="18" charset="0"/>
                          </a:rPr>
                          <m:t>𝑋</m:t>
                        </m:r>
                      </m:sub>
                    </m:sSub>
                  </m:oMath>
                </a14:m>
                <a:r>
                  <a:rPr lang="en-AU" dirty="0"/>
                  <a:t> and </a:t>
                </a:r>
                <a14:m>
                  <m:oMath xmlns:m="http://schemas.openxmlformats.org/officeDocument/2006/math">
                    <m:r>
                      <a:rPr lang="en-AU" i="1" dirty="0" smtClean="0">
                        <a:latin typeface="Cambria Math" panose="02040503050406030204" pitchFamily="18" charset="0"/>
                      </a:rPr>
                      <m:t>𝑦</m:t>
                    </m:r>
                    <m:r>
                      <a:rPr lang="en-AU" i="1" dirty="0" smtClean="0">
                        <a:latin typeface="Cambria Math" panose="02040503050406030204" pitchFamily="18" charset="0"/>
                      </a:rPr>
                      <m:t>∈</m:t>
                    </m:r>
                    <m:sSub>
                      <m:sSubPr>
                        <m:ctrlPr>
                          <a:rPr lang="en-AU" i="1" dirty="0" smtClean="0">
                            <a:latin typeface="Cambria Math" panose="02040503050406030204" pitchFamily="18" charset="0"/>
                          </a:rPr>
                        </m:ctrlPr>
                      </m:sSubPr>
                      <m:e>
                        <m:r>
                          <a:rPr lang="en-AU" i="1" dirty="0" smtClean="0">
                            <a:latin typeface="Cambria Math" panose="02040503050406030204" pitchFamily="18" charset="0"/>
                          </a:rPr>
                          <m:t>𝐷</m:t>
                        </m:r>
                      </m:e>
                      <m:sub>
                        <m:r>
                          <a:rPr lang="en-AU" i="1" dirty="0" smtClean="0">
                            <a:latin typeface="Cambria Math" panose="02040503050406030204" pitchFamily="18" charset="0"/>
                          </a:rPr>
                          <m:t>𝑌</m:t>
                        </m:r>
                      </m:sub>
                    </m:sSub>
                  </m:oMath>
                </a14:m>
                <a:r>
                  <a:rPr lang="en-AU" sz="1600" dirty="0"/>
                  <a:t> with </a:t>
                </a:r>
                <a14:m>
                  <m:oMath xmlns:m="http://schemas.openxmlformats.org/officeDocument/2006/math">
                    <m:r>
                      <a:rPr lang="en-AU" i="1">
                        <a:latin typeface="Cambria Math" panose="02040503050406030204" pitchFamily="18" charset="0"/>
                      </a:rPr>
                      <m:t>𝑝</m:t>
                    </m:r>
                    <m:d>
                      <m:dPr>
                        <m:ctrlPr>
                          <a:rPr lang="en-AU" i="1">
                            <a:latin typeface="Cambria Math" panose="02040503050406030204" pitchFamily="18" charset="0"/>
                          </a:rPr>
                        </m:ctrlPr>
                      </m:dPr>
                      <m:e>
                        <m:r>
                          <a:rPr lang="en-AU" b="0" i="1" smtClean="0">
                            <a:latin typeface="Cambria Math" panose="02040503050406030204" pitchFamily="18" charset="0"/>
                          </a:rPr>
                          <m:t>𝑦</m:t>
                        </m:r>
                      </m:e>
                    </m:d>
                    <m:r>
                      <a:rPr lang="en-AU" b="0" i="1" smtClean="0">
                        <a:latin typeface="Cambria Math" panose="02040503050406030204" pitchFamily="18" charset="0"/>
                      </a:rPr>
                      <m:t>&gt;0</m:t>
                    </m:r>
                  </m:oMath>
                </a14:m>
                <a:r>
                  <a:rPr lang="en-AU" sz="1600" dirty="0"/>
                  <a:t>:</a:t>
                </a:r>
              </a:p>
              <a:p>
                <a:pPr indent="0">
                  <a:buNone/>
                </a:pPr>
                <a:endParaRPr lang="en-AU" sz="1600" dirty="0"/>
              </a:p>
              <a:p>
                <a:pPr marL="98425" indent="0">
                  <a:buNone/>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d>
                      <m:r>
                        <a:rPr lang="en-AU" sz="1600" b="0" i="1" smtClean="0">
                          <a:latin typeface="Cambria Math" panose="02040503050406030204" pitchFamily="18" charset="0"/>
                        </a:rPr>
                        <m:t>=</m:t>
                      </m:r>
                      <m:r>
                        <a:rPr lang="en-AU" sz="1600" b="0" i="1" smtClean="0">
                          <a:latin typeface="Cambria Math" panose="02040503050406030204" pitchFamily="18" charset="0"/>
                        </a:rPr>
                        <m:t>𝑝</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𝑥</m:t>
                          </m:r>
                        </m:e>
                        <m:e>
                          <m:r>
                            <a:rPr lang="en-AU" sz="1600" b="0" i="1" smtClean="0">
                              <a:latin typeface="Cambria Math" panose="02040503050406030204" pitchFamily="18" charset="0"/>
                            </a:rPr>
                            <m:t>𝑦</m:t>
                          </m:r>
                        </m:e>
                      </m:d>
                    </m:oMath>
                  </m:oMathPara>
                </a14:m>
                <a:endParaRPr lang="en-AU" sz="1600" dirty="0"/>
              </a:p>
            </p:txBody>
          </p:sp>
        </mc:Choice>
        <mc:Fallback xmlns="">
          <p:sp>
            <p:nvSpPr>
              <p:cNvPr id="4" name="TextBox 3">
                <a:extLst>
                  <a:ext uri="{FF2B5EF4-FFF2-40B4-BE49-F238E27FC236}">
                    <a16:creationId xmlns:a16="http://schemas.microsoft.com/office/drawing/2014/main" id="{CDDA076E-FA7C-6C01-ECD3-4452EB10E2D7}"/>
                  </a:ext>
                </a:extLst>
              </p:cNvPr>
              <p:cNvSpPr txBox="1">
                <a:spLocks noRot="1" noChangeAspect="1" noMove="1" noResize="1" noEditPoints="1" noAdjustHandles="1" noChangeArrowheads="1" noChangeShapeType="1" noTextEdit="1"/>
              </p:cNvSpPr>
              <p:nvPr/>
            </p:nvSpPr>
            <p:spPr>
              <a:xfrm>
                <a:off x="454400" y="1589929"/>
                <a:ext cx="8308600" cy="1826654"/>
              </a:xfrm>
              <a:prstGeom prst="rect">
                <a:avLst/>
              </a:prstGeom>
              <a:blipFill>
                <a:blip r:embed="rId3"/>
                <a:stretch>
                  <a:fillRect l="-458" t="-1389" b="-694"/>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03A3114-0290-8666-866A-4BA36ED011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745" b="23625"/>
          <a:stretch/>
        </p:blipFill>
        <p:spPr bwMode="auto">
          <a:xfrm>
            <a:off x="462448" y="3689648"/>
            <a:ext cx="2273300" cy="256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4D3E834-FE3A-73F0-0B1A-EFF7F3C0147E}"/>
                  </a:ext>
                </a:extLst>
              </p:cNvPr>
              <p:cNvSpPr txBox="1"/>
              <p:nvPr/>
            </p:nvSpPr>
            <p:spPr>
              <a:xfrm>
                <a:off x="2843808" y="3689647"/>
                <a:ext cx="5688632" cy="2565318"/>
              </a:xfrm>
              <a:prstGeom prst="rect">
                <a:avLst/>
              </a:prstGeom>
              <a:noFill/>
            </p:spPr>
            <p:txBody>
              <a:bodyPr wrap="square" rtlCol="0">
                <a:spAutoFit/>
              </a:bodyPr>
              <a:lstStyle/>
              <a:p>
                <a:r>
                  <a:rPr lang="en-US" dirty="0"/>
                  <a:t>Double Coin Toss Example</a:t>
                </a:r>
              </a:p>
              <a:p>
                <a:r>
                  <a:rPr lang="en-US" dirty="0"/>
                  <a:t>      </a:t>
                </a:r>
                <a:r>
                  <a:rPr lang="en-US" dirty="0">
                    <a:solidFill>
                      <a:srgbClr val="0070C0"/>
                    </a:solidFill>
                  </a:rPr>
                  <a:t>X</a:t>
                </a:r>
                <a:r>
                  <a:rPr lang="en-US" dirty="0"/>
                  <a:t>: tossing the coin for the first time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𝑋</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t>      </a:t>
                </a:r>
                <a:r>
                  <a:rPr lang="en-US" dirty="0">
                    <a:solidFill>
                      <a:srgbClr val="0070C0"/>
                    </a:solidFill>
                  </a:rPr>
                  <a:t>Y</a:t>
                </a:r>
                <a:r>
                  <a:rPr lang="en-US" dirty="0"/>
                  <a:t>: tossing the coin for second time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𝑌</m:t>
                        </m:r>
                      </m:sub>
                    </m:sSub>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𝐻</m:t>
                    </m:r>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𝑇</m:t>
                    </m:r>
                    <m:r>
                      <a:rPr lang="en-US" i="1">
                        <a:solidFill>
                          <a:srgbClr val="0070C0"/>
                        </a:solidFill>
                        <a:latin typeface="Cambria Math" panose="02040503050406030204" pitchFamily="18" charset="0"/>
                      </a:rPr>
                      <m:t>}</m:t>
                    </m:r>
                  </m:oMath>
                </a14:m>
                <a:r>
                  <a:rPr lang="en-US" dirty="0">
                    <a:solidFill>
                      <a:srgbClr val="0070C0"/>
                    </a:solidFill>
                  </a:rPr>
                  <a:t>)</a:t>
                </a:r>
                <a:endParaRPr lang="en-US" dirty="0"/>
              </a:p>
              <a:p>
                <a:r>
                  <a:rPr lang="en-US" dirty="0">
                    <a:solidFill>
                      <a:srgbClr val="0070C0"/>
                    </a:solidFill>
                  </a:rPr>
                  <a:t>      Z</a:t>
                </a:r>
                <a:r>
                  <a:rPr lang="en-US" dirty="0"/>
                  <a:t>: number of head outcomes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𝐷</m:t>
                        </m:r>
                      </m:e>
                      <m:sub>
                        <m:r>
                          <a:rPr lang="en-US" i="1">
                            <a:solidFill>
                              <a:srgbClr val="0070C0"/>
                            </a:solidFill>
                            <a:latin typeface="Cambria Math" panose="02040503050406030204" pitchFamily="18" charset="0"/>
                          </a:rPr>
                          <m:t>𝑍</m:t>
                        </m:r>
                      </m:sub>
                    </m:sSub>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0</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1</m:t>
                    </m:r>
                    <m:r>
                      <a:rPr lang="en-US"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 2</m:t>
                    </m:r>
                    <m:r>
                      <a:rPr lang="en-US" i="1">
                        <a:solidFill>
                          <a:srgbClr val="0070C0"/>
                        </a:solidFill>
                        <a:latin typeface="Cambria Math" panose="02040503050406030204" pitchFamily="18" charset="0"/>
                      </a:rPr>
                      <m:t>}</m:t>
                    </m:r>
                  </m:oMath>
                </a14:m>
                <a:r>
                  <a:rPr lang="en-US" dirty="0">
                    <a:solidFill>
                      <a:srgbClr val="0070C0"/>
                    </a:solidFill>
                  </a:rPr>
                  <a:t>)</a:t>
                </a:r>
              </a:p>
              <a:p>
                <a:endParaRPr lang="en-US" dirty="0">
                  <a:solidFill>
                    <a:srgbClr val="0070C0"/>
                  </a:solidFill>
                </a:endParaRPr>
              </a:p>
              <a:p>
                <a:r>
                  <a:rPr lang="en-US" dirty="0"/>
                  <a:t>X and Y are </a:t>
                </a:r>
                <a:r>
                  <a:rPr lang="en-US" dirty="0">
                    <a:solidFill>
                      <a:srgbClr val="0070C0"/>
                    </a:solidFill>
                  </a:rPr>
                  <a:t>independent</a:t>
                </a:r>
              </a:p>
              <a:p>
                <a:endParaRPr lang="en-US" dirty="0"/>
              </a:p>
              <a:p>
                <a:r>
                  <a:rPr lang="en-US" dirty="0"/>
                  <a:t>X and Z are </a:t>
                </a:r>
                <a:r>
                  <a:rPr lang="en-US" dirty="0">
                    <a:solidFill>
                      <a:srgbClr val="0070C0"/>
                    </a:solidFill>
                  </a:rPr>
                  <a:t>dependent</a:t>
                </a:r>
              </a:p>
              <a:p>
                <a:endParaRPr lang="en-US" dirty="0">
                  <a:solidFill>
                    <a:srgbClr val="0070C0"/>
                  </a:solidFill>
                </a:endParaRPr>
              </a:p>
              <a:p>
                <a:pPr/>
                <a14:m>
                  <m:oMathPara xmlns:m="http://schemas.openxmlformats.org/officeDocument/2006/math">
                    <m:oMathParaPr>
                      <m:jc m:val="centerGroup"/>
                    </m:oMathParaPr>
                    <m:oMath xmlns:m="http://schemas.openxmlformats.org/officeDocument/2006/math">
                      <m:r>
                        <a:rPr lang="en-AU" i="1">
                          <a:solidFill>
                            <a:srgbClr val="0070C0"/>
                          </a:solidFill>
                          <a:latin typeface="Cambria Math" panose="02040503050406030204" pitchFamily="18" charset="0"/>
                        </a:rPr>
                        <m:t>0</m:t>
                      </m:r>
                      <m:r>
                        <a:rPr lang="en-AU" b="0" i="1" smtClean="0">
                          <a:solidFill>
                            <a:srgbClr val="0070C0"/>
                          </a:solidFill>
                          <a:latin typeface="Cambria Math" panose="02040503050406030204" pitchFamily="18" charset="0"/>
                        </a:rPr>
                        <m:t>=</m:t>
                      </m:r>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𝑋</m:t>
                          </m:r>
                          <m:r>
                            <a:rPr lang="en-AU" b="0" i="1" smtClean="0">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𝑍</m:t>
                          </m:r>
                        </m:sub>
                      </m:sSub>
                      <m:d>
                        <m:dPr>
                          <m:ctrlPr>
                            <a:rPr lang="en-AU"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𝐻</m:t>
                          </m:r>
                          <m:r>
                            <a:rPr lang="en-AU" b="0" i="1" smtClean="0">
                              <a:solidFill>
                                <a:srgbClr val="0070C0"/>
                              </a:solidFill>
                              <a:latin typeface="Cambria Math" panose="02040503050406030204" pitchFamily="18" charset="0"/>
                            </a:rPr>
                            <m:t>,0</m:t>
                          </m:r>
                        </m:e>
                      </m:d>
                      <m:r>
                        <a:rPr lang="en-AU" b="0" i="1" smtClean="0">
                          <a:solidFill>
                            <a:srgbClr val="0070C0"/>
                          </a:solidFill>
                          <a:latin typeface="Cambria Math" panose="02040503050406030204" pitchFamily="18" charset="0"/>
                        </a:rPr>
                        <m:t>≠</m:t>
                      </m:r>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𝑋</m:t>
                          </m:r>
                        </m:sub>
                      </m:sSub>
                      <m:d>
                        <m:dPr>
                          <m:ctrlPr>
                            <a:rPr lang="en-AU"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𝐻</m:t>
                          </m:r>
                        </m:e>
                      </m:d>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𝑝</m:t>
                          </m:r>
                        </m:e>
                        <m:sub>
                          <m:r>
                            <a:rPr lang="en-AU" b="0" i="1" smtClean="0">
                              <a:solidFill>
                                <a:srgbClr val="0070C0"/>
                              </a:solidFill>
                              <a:latin typeface="Cambria Math" panose="02040503050406030204" pitchFamily="18" charset="0"/>
                            </a:rPr>
                            <m:t>𝑍</m:t>
                          </m:r>
                        </m:sub>
                      </m:sSub>
                      <m:d>
                        <m:dPr>
                          <m:ctrlPr>
                            <a:rPr lang="en-AU" b="0" i="1" smtClean="0">
                              <a:solidFill>
                                <a:srgbClr val="0070C0"/>
                              </a:solidFill>
                              <a:latin typeface="Cambria Math" panose="02040503050406030204" pitchFamily="18" charset="0"/>
                            </a:rPr>
                          </m:ctrlPr>
                        </m:dPr>
                        <m:e>
                          <m:r>
                            <a:rPr lang="en-AU" b="0" i="1" smtClean="0">
                              <a:solidFill>
                                <a:srgbClr val="0070C0"/>
                              </a:solidFill>
                              <a:latin typeface="Cambria Math" panose="02040503050406030204" pitchFamily="18" charset="0"/>
                            </a:rPr>
                            <m:t>0</m:t>
                          </m:r>
                        </m:e>
                      </m:d>
                      <m:r>
                        <a:rPr lang="en-AU" b="0" i="1" smtClean="0">
                          <a:solidFill>
                            <a:srgbClr val="0070C0"/>
                          </a:solidFill>
                          <a:latin typeface="Cambria Math" panose="02040503050406030204" pitchFamily="18" charset="0"/>
                        </a:rPr>
                        <m:t>=4/27</m:t>
                      </m:r>
                    </m:oMath>
                  </m:oMathPara>
                </a14:m>
                <a:endParaRPr lang="en-US" dirty="0">
                  <a:solidFill>
                    <a:srgbClr val="0070C0"/>
                  </a:solidFill>
                </a:endParaRPr>
              </a:p>
            </p:txBody>
          </p:sp>
        </mc:Choice>
        <mc:Fallback xmlns="">
          <p:sp>
            <p:nvSpPr>
              <p:cNvPr id="3" name="TextBox 2">
                <a:extLst>
                  <a:ext uri="{FF2B5EF4-FFF2-40B4-BE49-F238E27FC236}">
                    <a16:creationId xmlns:a16="http://schemas.microsoft.com/office/drawing/2014/main" id="{44D3E834-FE3A-73F0-0B1A-EFF7F3C0147E}"/>
                  </a:ext>
                </a:extLst>
              </p:cNvPr>
              <p:cNvSpPr txBox="1">
                <a:spLocks noRot="1" noChangeAspect="1" noMove="1" noResize="1" noEditPoints="1" noAdjustHandles="1" noChangeArrowheads="1" noChangeShapeType="1" noTextEdit="1"/>
              </p:cNvSpPr>
              <p:nvPr/>
            </p:nvSpPr>
            <p:spPr>
              <a:xfrm>
                <a:off x="2843808" y="3689647"/>
                <a:ext cx="5688632" cy="2565318"/>
              </a:xfrm>
              <a:prstGeom prst="rect">
                <a:avLst/>
              </a:prstGeom>
              <a:blipFill>
                <a:blip r:embed="rId5"/>
                <a:stretch>
                  <a:fillRect l="-670" t="-985"/>
                </a:stretch>
              </a:blipFill>
            </p:spPr>
            <p:txBody>
              <a:bodyPr/>
              <a:lstStyle/>
              <a:p>
                <a:r>
                  <a:rPr lang="en-US">
                    <a:noFill/>
                  </a:rPr>
                  <a:t> </a:t>
                </a:r>
              </a:p>
            </p:txBody>
          </p:sp>
        </mc:Fallback>
      </mc:AlternateContent>
    </p:spTree>
    <p:extLst>
      <p:ext uri="{BB962C8B-B14F-4D97-AF65-F5344CB8AC3E}">
        <p14:creationId xmlns:p14="http://schemas.microsoft.com/office/powerpoint/2010/main" val="242841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Continuous Random Variables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6" name="Content Placeholder 2"/>
              <p:cNvSpPr txBox="1">
                <a:spLocks noChangeArrowheads="1"/>
              </p:cNvSpPr>
              <p:nvPr/>
            </p:nvSpPr>
            <p:spPr bwMode="auto">
              <a:xfrm>
                <a:off x="228600" y="1412875"/>
                <a:ext cx="8375848" cy="4495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1325" indent="-3429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S PGothic" panose="020B0600070205080204" pitchFamily="34" charset="-128"/>
                    <a:cs typeface="+mn-cs"/>
                  </a:defRPr>
                </a:lvl1pPr>
                <a:lvl2pPr marL="906463" indent="-285750" algn="l" rtl="0" eaLnBrk="0" fontAlgn="base" hangingPunct="0">
                  <a:spcBef>
                    <a:spcPct val="20000"/>
                  </a:spcBef>
                  <a:spcAft>
                    <a:spcPct val="0"/>
                  </a:spcAft>
                  <a:buFont typeface="Wingdings" panose="05000000000000000000" pitchFamily="2" charset="2"/>
                  <a:buChar char="o"/>
                  <a:defRPr sz="2400">
                    <a:solidFill>
                      <a:schemeClr val="tx1"/>
                    </a:solidFill>
                    <a:latin typeface="+mn-lt"/>
                    <a:ea typeface="Arial" charset="0"/>
                    <a:cs typeface="+mn-cs"/>
                  </a:defRPr>
                </a:lvl2pPr>
                <a:lvl3pPr marL="131445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Arial" charset="0"/>
                    <a:cs typeface="+mn-cs"/>
                  </a:defRPr>
                </a:lvl3pPr>
                <a:lvl4pPr marL="1722438" indent="-228600" algn="l" rtl="0" eaLnBrk="0" fontAlgn="base" hangingPunct="0">
                  <a:spcBef>
                    <a:spcPct val="20000"/>
                  </a:spcBef>
                  <a:spcAft>
                    <a:spcPct val="0"/>
                  </a:spcAft>
                  <a:buFont typeface="Wingdings" panose="05000000000000000000" pitchFamily="2" charset="2"/>
                  <a:buChar char="Ø"/>
                  <a:defRPr sz="1600">
                    <a:solidFill>
                      <a:schemeClr val="tx1"/>
                    </a:solidFill>
                    <a:latin typeface="+mn-lt"/>
                    <a:ea typeface="MS PGothic" panose="020B0600070205080204" pitchFamily="34" charset="-128"/>
                    <a:cs typeface="Tahoma" charset="0"/>
                  </a:defRPr>
                </a:lvl4pPr>
                <a:lvl5pPr marL="2130425"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Arial" charset="0"/>
                    <a:ea typeface="MS PGothic" panose="020B0600070205080204" pitchFamily="34" charset="-128"/>
                    <a:cs typeface="Tahoma" charset="0"/>
                  </a:defRPr>
                </a:lvl5pPr>
                <a:lvl6pPr marL="25876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6pPr>
                <a:lvl7pPr marL="30448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7pPr>
                <a:lvl8pPr marL="35020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8pPr>
                <a:lvl9pPr marL="39592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9pPr>
              </a:lstStyle>
              <a:p>
                <a:pPr marL="98425" indent="0">
                  <a:buNone/>
                  <a:defRPr/>
                </a:pPr>
                <a:r>
                  <a:rPr lang="en-US" altLang="ko-KR" sz="2000" kern="0" dirty="0">
                    <a:solidFill>
                      <a:srgbClr val="0070C0"/>
                    </a:solidFill>
                    <a:ea typeface="굴림" pitchFamily="6" charset="-127"/>
                  </a:rPr>
                  <a:t>Continuous</a:t>
                </a:r>
                <a:r>
                  <a:rPr lang="en-US" altLang="ko-KR" sz="2000" kern="0" dirty="0">
                    <a:ea typeface="굴림" pitchFamily="6" charset="-127"/>
                  </a:rPr>
                  <a:t> random variables </a:t>
                </a:r>
                <a14:m>
                  <m:oMath xmlns:m="http://schemas.openxmlformats.org/officeDocument/2006/math">
                    <m:r>
                      <a:rPr lang="en-US" altLang="ko-KR" sz="2000" i="1" kern="0" dirty="0" smtClean="0">
                        <a:latin typeface="Cambria Math" panose="02040503050406030204" pitchFamily="18" charset="0"/>
                        <a:ea typeface="굴림" pitchFamily="6" charset="-127"/>
                      </a:rPr>
                      <m:t>𝑋</m:t>
                    </m:r>
                  </m:oMath>
                </a14:m>
                <a:r>
                  <a:rPr lang="en-US" altLang="ko-KR" sz="2000" kern="0" dirty="0">
                    <a:ea typeface="굴림" pitchFamily="6" charset="-127"/>
                  </a:rPr>
                  <a:t> with domain </a:t>
                </a:r>
                <a14:m>
                  <m:oMath xmlns:m="http://schemas.openxmlformats.org/officeDocument/2006/math">
                    <m:sSub>
                      <m:sSubPr>
                        <m:ctrlPr>
                          <a:rPr lang="en-AU" altLang="ko-KR" sz="2000" b="0" i="1" kern="0" smtClean="0">
                            <a:latin typeface="Cambria Math" panose="02040503050406030204" pitchFamily="18" charset="0"/>
                            <a:ea typeface="Cambria Math" panose="02040503050406030204" pitchFamily="18" charset="0"/>
                          </a:rPr>
                        </m:ctrlPr>
                      </m:sSubPr>
                      <m:e>
                        <m:r>
                          <a:rPr lang="en-AU" altLang="ko-KR" sz="2000" b="0" i="1" kern="0" smtClean="0">
                            <a:latin typeface="Cambria Math" panose="02040503050406030204" pitchFamily="18" charset="0"/>
                            <a:ea typeface="Cambria Math" panose="02040503050406030204" pitchFamily="18" charset="0"/>
                          </a:rPr>
                          <m:t>𝐷</m:t>
                        </m:r>
                      </m:e>
                      <m:sub>
                        <m:r>
                          <a:rPr lang="en-AU" altLang="ko-KR" sz="2000" b="0" i="1" kern="0" smtClean="0">
                            <a:latin typeface="Cambria Math" panose="02040503050406030204" pitchFamily="18" charset="0"/>
                            <a:ea typeface="Cambria Math" panose="02040503050406030204" pitchFamily="18" charset="0"/>
                          </a:rPr>
                          <m:t>𝑋</m:t>
                        </m:r>
                      </m:sub>
                    </m:sSub>
                    <m:r>
                      <a:rPr lang="en-AU" altLang="ko-KR" sz="2000" i="1" kern="0">
                        <a:latin typeface="Cambria Math" panose="02040503050406030204" pitchFamily="18" charset="0"/>
                        <a:ea typeface="Cambria Math" panose="02040503050406030204" pitchFamily="18" charset="0"/>
                      </a:rPr>
                      <m:t>⊆</m:t>
                    </m:r>
                    <m:r>
                      <a:rPr lang="en-US" altLang="ko-KR" sz="2000" i="1" kern="0" smtClean="0">
                        <a:latin typeface="Cambria Math" panose="02040503050406030204" pitchFamily="18" charset="0"/>
                        <a:ea typeface="Cambria Math" panose="02040503050406030204" pitchFamily="18" charset="0"/>
                      </a:rPr>
                      <m:t>ℝ</m:t>
                    </m:r>
                  </m:oMath>
                </a14:m>
                <a:r>
                  <a:rPr lang="en-US" altLang="ko-KR" sz="2000" kern="0" dirty="0">
                    <a:ea typeface="굴림" pitchFamily="6" charset="-127"/>
                  </a:rPr>
                  <a:t> and </a:t>
                </a:r>
                <a14:m>
                  <m:oMath xmlns:m="http://schemas.openxmlformats.org/officeDocument/2006/math">
                    <m:r>
                      <a:rPr lang="en-US" altLang="ko-KR" sz="2000" i="1" kern="0" dirty="0" smtClean="0">
                        <a:latin typeface="Cambria Math" panose="02040503050406030204" pitchFamily="18" charset="0"/>
                        <a:ea typeface="굴림" pitchFamily="6" charset="-127"/>
                      </a:rPr>
                      <m:t>𝑃</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𝑋</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𝑥</m:t>
                    </m:r>
                    <m:r>
                      <a:rPr lang="en-US" altLang="ko-KR" sz="2000" i="1" kern="0" dirty="0" smtClean="0">
                        <a:latin typeface="Cambria Math" panose="02040503050406030204" pitchFamily="18" charset="0"/>
                        <a:ea typeface="굴림" pitchFamily="6" charset="-127"/>
                      </a:rPr>
                      <m:t>)=0</m:t>
                    </m:r>
                  </m:oMath>
                </a14:m>
                <a:endParaRPr lang="en-US" altLang="ko-KR" sz="2000" kern="0" dirty="0">
                  <a:ea typeface="굴림" pitchFamily="6" charset="-127"/>
                </a:endParaRPr>
              </a:p>
              <a:p>
                <a:pPr marL="98425" indent="0">
                  <a:spcBef>
                    <a:spcPts val="3024"/>
                  </a:spcBef>
                  <a:buNone/>
                  <a:defRPr/>
                </a:pPr>
                <a:r>
                  <a:rPr lang="en-US" altLang="ko-KR" sz="2000" kern="0" dirty="0">
                    <a:ea typeface="굴림" pitchFamily="6" charset="-127"/>
                  </a:rPr>
                  <a:t>Distribution given by </a:t>
                </a:r>
                <a:r>
                  <a:rPr lang="en-US" altLang="ko-KR" sz="2000" b="1" kern="0" dirty="0">
                    <a:ea typeface="굴림" pitchFamily="6" charset="-127"/>
                  </a:rPr>
                  <a:t>probability density function (pdf) </a:t>
                </a:r>
                <a14:m>
                  <m:oMath xmlns:m="http://schemas.openxmlformats.org/officeDocument/2006/math">
                    <m:r>
                      <a:rPr lang="en-US" altLang="ko-KR" sz="2000" i="1" kern="0" dirty="0" smtClean="0">
                        <a:solidFill>
                          <a:srgbClr val="0070C0"/>
                        </a:solidFill>
                        <a:latin typeface="Cambria Math" panose="02040503050406030204" pitchFamily="18" charset="0"/>
                        <a:ea typeface="굴림" pitchFamily="6" charset="-127"/>
                      </a:rPr>
                      <m:t>𝑝</m:t>
                    </m:r>
                    <m:d>
                      <m:dPr>
                        <m:ctrlPr>
                          <a:rPr lang="en-US" altLang="ko-KR" sz="2000" i="1" kern="0" dirty="0" smtClean="0">
                            <a:solidFill>
                              <a:srgbClr val="0070C0"/>
                            </a:solidFill>
                            <a:latin typeface="Cambria Math" panose="02040503050406030204" pitchFamily="18" charset="0"/>
                            <a:ea typeface="굴림" pitchFamily="6" charset="-127"/>
                          </a:rPr>
                        </m:ctrlPr>
                      </m:dPr>
                      <m:e>
                        <m:r>
                          <a:rPr lang="en-US" altLang="ko-KR" sz="2000" i="1" kern="0" dirty="0" smtClean="0">
                            <a:solidFill>
                              <a:srgbClr val="0070C0"/>
                            </a:solidFill>
                            <a:latin typeface="Cambria Math" panose="02040503050406030204" pitchFamily="18" charset="0"/>
                            <a:ea typeface="굴림" pitchFamily="6" charset="-127"/>
                          </a:rPr>
                          <m:t>𝑥</m:t>
                        </m:r>
                      </m:e>
                    </m:d>
                    <m:r>
                      <a:rPr lang="en-AU" altLang="ko-KR" sz="2000" i="1" kern="0" dirty="0">
                        <a:solidFill>
                          <a:srgbClr val="0070C0"/>
                        </a:solidFill>
                        <a:latin typeface="Cambria Math" panose="02040503050406030204" pitchFamily="18" charset="0"/>
                        <a:ea typeface="굴림" pitchFamily="6" charset="-127"/>
                      </a:rPr>
                      <m:t>≥</m:t>
                    </m:r>
                    <m:r>
                      <a:rPr lang="en-US" altLang="ko-KR" sz="2000" i="1" kern="0" dirty="0" smtClean="0">
                        <a:solidFill>
                          <a:srgbClr val="0070C0"/>
                        </a:solidFill>
                        <a:latin typeface="Cambria Math" panose="02040503050406030204" pitchFamily="18" charset="0"/>
                        <a:ea typeface="굴림" pitchFamily="6" charset="-127"/>
                      </a:rPr>
                      <m:t>0</m:t>
                    </m:r>
                  </m:oMath>
                </a14:m>
                <a:r>
                  <a:rPr lang="en-US" altLang="ko-KR" sz="2000" kern="0" dirty="0">
                    <a:ea typeface="굴림" pitchFamily="6" charset="-127"/>
                  </a:rPr>
                  <a:t> that describes probability of event </a:t>
                </a:r>
                <a14:m>
                  <m:oMath xmlns:m="http://schemas.openxmlformats.org/officeDocument/2006/math">
                    <m:r>
                      <a:rPr lang="en-AU" altLang="ko-KR" sz="2000" i="1" kern="0" dirty="0" smtClean="0">
                        <a:solidFill>
                          <a:srgbClr val="0070C0"/>
                        </a:solidFill>
                        <a:latin typeface="Cambria Math" panose="02040503050406030204" pitchFamily="18" charset="0"/>
                        <a:ea typeface="굴림" pitchFamily="6" charset="-127"/>
                      </a:rPr>
                      <m:t>𝑎</m:t>
                    </m:r>
                    <m:r>
                      <a:rPr lang="en-AU" altLang="ko-KR" sz="2000" i="1" kern="0" dirty="0" smtClean="0">
                        <a:solidFill>
                          <a:srgbClr val="0070C0"/>
                        </a:solidFill>
                        <a:latin typeface="Cambria Math" panose="02040503050406030204" pitchFamily="18" charset="0"/>
                        <a:ea typeface="Cambria Math" panose="02040503050406030204" pitchFamily="18" charset="0"/>
                      </a:rPr>
                      <m:t>≤</m:t>
                    </m:r>
                    <m:r>
                      <a:rPr lang="en-US" altLang="ko-KR" sz="2000" i="1" kern="0" dirty="0" smtClean="0">
                        <a:solidFill>
                          <a:srgbClr val="0070C0"/>
                        </a:solidFill>
                        <a:latin typeface="Cambria Math" panose="02040503050406030204" pitchFamily="18" charset="0"/>
                        <a:ea typeface="굴림" pitchFamily="6" charset="-127"/>
                      </a:rPr>
                      <m:t>𝑋</m:t>
                    </m:r>
                    <m:r>
                      <a:rPr lang="en-US" altLang="ko-KR" sz="2000" i="1" kern="0" dirty="0" smtClean="0">
                        <a:solidFill>
                          <a:srgbClr val="0070C0"/>
                        </a:solidFill>
                        <a:latin typeface="Cambria Math" panose="02040503050406030204" pitchFamily="18" charset="0"/>
                        <a:ea typeface="Cambria Math" panose="02040503050406030204" pitchFamily="18" charset="0"/>
                      </a:rPr>
                      <m:t>≤</m:t>
                    </m:r>
                    <m:r>
                      <a:rPr lang="en-AU" altLang="ko-KR" sz="2000" b="0" i="1" kern="0" dirty="0" smtClean="0">
                        <a:solidFill>
                          <a:srgbClr val="0070C0"/>
                        </a:solidFill>
                        <a:latin typeface="Cambria Math" panose="02040503050406030204" pitchFamily="18" charset="0"/>
                        <a:ea typeface="굴림" pitchFamily="6" charset="-127"/>
                      </a:rPr>
                      <m:t>𝑏</m:t>
                    </m:r>
                  </m:oMath>
                </a14:m>
                <a:r>
                  <a:rPr lang="en-US" altLang="ko-KR" sz="2000" kern="0" dirty="0">
                    <a:solidFill>
                      <a:srgbClr val="0070C0"/>
                    </a:solidFill>
                    <a:ea typeface="굴림" pitchFamily="6" charset="-127"/>
                  </a:rPr>
                  <a:t> </a:t>
                </a:r>
                <a:r>
                  <a:rPr lang="en-US" altLang="ko-KR" sz="2000" kern="0" dirty="0">
                    <a:ea typeface="굴림" pitchFamily="6" charset="-127"/>
                  </a:rPr>
                  <a:t>by integration</a:t>
                </a:r>
              </a:p>
              <a:p>
                <a:pPr marL="98425" indent="0">
                  <a:buNone/>
                  <a:defRPr/>
                </a:pPr>
                <a14:m>
                  <m:oMathPara xmlns:m="http://schemas.openxmlformats.org/officeDocument/2006/math">
                    <m:oMathParaPr>
                      <m:jc m:val="centerGroup"/>
                    </m:oMathParaPr>
                    <m:oMath xmlns:m="http://schemas.openxmlformats.org/officeDocument/2006/math">
                      <m:r>
                        <a:rPr lang="en-AU" altLang="ko-KR" sz="2000" b="0" i="1" kern="0" smtClean="0">
                          <a:solidFill>
                            <a:schemeClr val="tx1"/>
                          </a:solidFill>
                          <a:latin typeface="Cambria Math" panose="02040503050406030204" pitchFamily="18" charset="0"/>
                          <a:ea typeface="굴림" pitchFamily="6" charset="-127"/>
                        </a:rPr>
                        <m:t>𝑃</m:t>
                      </m:r>
                      <m:d>
                        <m:dPr>
                          <m:ctrlPr>
                            <a:rPr lang="en-AU" altLang="ko-KR" sz="2000" b="0" i="1" kern="0" smtClean="0">
                              <a:solidFill>
                                <a:schemeClr val="tx1"/>
                              </a:solidFill>
                              <a:latin typeface="Cambria Math" panose="02040503050406030204" pitchFamily="18" charset="0"/>
                              <a:ea typeface="굴림" pitchFamily="6" charset="-127"/>
                            </a:rPr>
                          </m:ctrlPr>
                        </m:dPr>
                        <m:e>
                          <m:r>
                            <a:rPr lang="en-AU" altLang="ko-KR" sz="2000" i="1" kern="0" dirty="0">
                              <a:solidFill>
                                <a:schemeClr val="tx1"/>
                              </a:solidFill>
                              <a:latin typeface="Cambria Math" panose="02040503050406030204" pitchFamily="18" charset="0"/>
                              <a:ea typeface="굴림" pitchFamily="6" charset="-127"/>
                            </a:rPr>
                            <m:t>𝑎</m:t>
                          </m:r>
                          <m:r>
                            <a:rPr lang="en-AU" altLang="ko-KR" sz="2000" i="1" kern="0" dirty="0">
                              <a:solidFill>
                                <a:schemeClr val="tx1"/>
                              </a:solidFill>
                              <a:latin typeface="Cambria Math" panose="02040503050406030204" pitchFamily="18" charset="0"/>
                              <a:ea typeface="Cambria Math" panose="02040503050406030204" pitchFamily="18" charset="0"/>
                            </a:rPr>
                            <m:t>≤</m:t>
                          </m:r>
                          <m:r>
                            <a:rPr lang="en-US" altLang="ko-KR" sz="2000" i="1" kern="0" dirty="0">
                              <a:solidFill>
                                <a:schemeClr val="tx1"/>
                              </a:solidFill>
                              <a:latin typeface="Cambria Math" panose="02040503050406030204" pitchFamily="18" charset="0"/>
                              <a:ea typeface="굴림" pitchFamily="6" charset="-127"/>
                            </a:rPr>
                            <m:t>𝑋</m:t>
                          </m:r>
                          <m:r>
                            <a:rPr lang="en-US" altLang="ko-KR" sz="2000" i="1" kern="0" dirty="0">
                              <a:solidFill>
                                <a:schemeClr val="tx1"/>
                              </a:solidFill>
                              <a:latin typeface="Cambria Math" panose="02040503050406030204" pitchFamily="18" charset="0"/>
                              <a:ea typeface="Cambria Math" panose="02040503050406030204" pitchFamily="18" charset="0"/>
                            </a:rPr>
                            <m:t>≤</m:t>
                          </m:r>
                          <m:r>
                            <a:rPr lang="en-AU" altLang="ko-KR" sz="2000" i="1" kern="0" dirty="0">
                              <a:solidFill>
                                <a:schemeClr val="tx1"/>
                              </a:solidFill>
                              <a:latin typeface="Cambria Math" panose="02040503050406030204" pitchFamily="18" charset="0"/>
                              <a:ea typeface="굴림" pitchFamily="6" charset="-127"/>
                            </a:rPr>
                            <m:t>𝑏</m:t>
                          </m:r>
                        </m:e>
                      </m:d>
                      <m:r>
                        <a:rPr lang="en-AU" altLang="ko-KR" sz="2000" b="0" i="1" kern="0" smtClean="0">
                          <a:solidFill>
                            <a:schemeClr val="tx1"/>
                          </a:solidFill>
                          <a:latin typeface="Cambria Math" panose="02040503050406030204" pitchFamily="18" charset="0"/>
                          <a:ea typeface="굴림" pitchFamily="6" charset="-127"/>
                        </a:rPr>
                        <m:t>=</m:t>
                      </m:r>
                      <m:nary>
                        <m:naryPr>
                          <m:ctrlPr>
                            <a:rPr lang="en-AU" altLang="ko-KR" sz="2000" i="1" kern="0">
                              <a:solidFill>
                                <a:schemeClr val="tx1"/>
                              </a:solidFill>
                              <a:latin typeface="Cambria Math" panose="02040503050406030204" pitchFamily="18" charset="0"/>
                              <a:ea typeface="굴림" pitchFamily="6" charset="-127"/>
                            </a:rPr>
                          </m:ctrlPr>
                        </m:naryPr>
                        <m:sub>
                          <m:r>
                            <a:rPr lang="en-AU" altLang="ko-KR" sz="2000" b="0" i="1" kern="0" smtClean="0">
                              <a:solidFill>
                                <a:schemeClr val="tx1"/>
                              </a:solidFill>
                              <a:latin typeface="Cambria Math" panose="02040503050406030204" pitchFamily="18" charset="0"/>
                              <a:ea typeface="Cambria Math" panose="02040503050406030204" pitchFamily="18" charset="0"/>
                            </a:rPr>
                            <m:t>𝑎</m:t>
                          </m:r>
                        </m:sub>
                        <m:sup>
                          <m:r>
                            <a:rPr lang="en-AU" altLang="ko-KR" sz="2000" b="0" i="1" kern="0" smtClean="0">
                              <a:solidFill>
                                <a:schemeClr val="tx1"/>
                              </a:solidFill>
                              <a:latin typeface="Cambria Math" panose="02040503050406030204" pitchFamily="18" charset="0"/>
                              <a:ea typeface="Cambria Math" panose="02040503050406030204" pitchFamily="18" charset="0"/>
                            </a:rPr>
                            <m:t>𝑏</m:t>
                          </m:r>
                        </m:sup>
                        <m:e>
                          <m:r>
                            <a:rPr lang="en-AU" altLang="ko-KR" sz="2000" i="1" kern="0" smtClean="0">
                              <a:solidFill>
                                <a:srgbClr val="0070C0"/>
                              </a:solidFill>
                              <a:latin typeface="Cambria Math" panose="02040503050406030204" pitchFamily="18" charset="0"/>
                              <a:ea typeface="굴림" pitchFamily="6" charset="-127"/>
                            </a:rPr>
                            <m:t>𝑝</m:t>
                          </m:r>
                          <m:d>
                            <m:dPr>
                              <m:ctrlPr>
                                <a:rPr lang="en-AU" altLang="ko-KR" sz="2000" i="1" kern="0">
                                  <a:solidFill>
                                    <a:srgbClr val="0070C0"/>
                                  </a:solidFill>
                                  <a:latin typeface="Cambria Math" panose="02040503050406030204" pitchFamily="18" charset="0"/>
                                  <a:ea typeface="굴림" pitchFamily="6" charset="-127"/>
                                </a:rPr>
                              </m:ctrlPr>
                            </m:dPr>
                            <m:e>
                              <m:r>
                                <a:rPr lang="en-AU" altLang="ko-KR" sz="2000" i="1" kern="0">
                                  <a:solidFill>
                                    <a:srgbClr val="0070C0"/>
                                  </a:solidFill>
                                  <a:latin typeface="Cambria Math" panose="02040503050406030204" pitchFamily="18" charset="0"/>
                                  <a:ea typeface="굴림" pitchFamily="6" charset="-127"/>
                                </a:rPr>
                                <m:t>𝑥</m:t>
                              </m:r>
                            </m:e>
                          </m:d>
                          <m:r>
                            <a:rPr lang="en-AU" altLang="ko-KR" sz="2000" i="1" kern="0">
                              <a:solidFill>
                                <a:schemeClr val="tx1"/>
                              </a:solidFill>
                              <a:latin typeface="Cambria Math" panose="02040503050406030204" pitchFamily="18" charset="0"/>
                              <a:ea typeface="굴림" pitchFamily="6" charset="-127"/>
                            </a:rPr>
                            <m:t>𝑑𝑥</m:t>
                          </m:r>
                        </m:e>
                      </m:nary>
                    </m:oMath>
                  </m:oMathPara>
                </a14:m>
                <a:endParaRPr lang="en-US" altLang="ko-KR" sz="2000" kern="0" dirty="0">
                  <a:ea typeface="굴림" pitchFamily="6" charset="-127"/>
                </a:endParaRPr>
              </a:p>
              <a:p>
                <a:pPr marL="98425" indent="0">
                  <a:buNone/>
                  <a:defRPr/>
                </a:pPr>
                <a:endParaRPr lang="en-US" altLang="ko-KR" sz="2000" kern="0" dirty="0">
                  <a:ea typeface="굴림" pitchFamily="6" charset="-127"/>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bwMode="auto">
              <a:xfrm>
                <a:off x="228600" y="1412875"/>
                <a:ext cx="8375848" cy="4495800"/>
              </a:xfrm>
              <a:prstGeom prst="rect">
                <a:avLst/>
              </a:prstGeom>
              <a:blipFill>
                <a:blip r:embed="rId3"/>
                <a:stretch>
                  <a:fillRect t="-5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1FBA98E-F7FF-014B-9288-006D3AE451B2}"/>
                  </a:ext>
                </a:extLst>
              </p:cNvPr>
              <p:cNvSpPr txBox="1"/>
              <p:nvPr/>
            </p:nvSpPr>
            <p:spPr>
              <a:xfrm>
                <a:off x="369540" y="3697404"/>
                <a:ext cx="4046984" cy="1908086"/>
              </a:xfrm>
              <a:prstGeom prst="rect">
                <a:avLst/>
              </a:prstGeom>
              <a:noFill/>
            </p:spPr>
            <p:txBody>
              <a:bodyPr wrap="square" rtlCol="0">
                <a:spAutoFit/>
              </a:bodyPr>
              <a:lstStyle/>
              <a:p>
                <a:r>
                  <a:rPr lang="en-US" altLang="ko-KR" sz="2000" b="1" kern="0" dirty="0"/>
                  <a:t>Example:</a:t>
                </a:r>
                <a:r>
                  <a:rPr lang="en-US" altLang="ko-KR" sz="2000" kern="0" dirty="0"/>
                  <a:t> time until you receive first email on random workday</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0" i="1" kern="0" smtClean="0">
                          <a:latin typeface="Cambria Math" panose="02040503050406030204" pitchFamily="18" charset="0"/>
                        </a:rPr>
                        <m:t>𝑝</m:t>
                      </m:r>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𝑥</m:t>
                          </m:r>
                        </m:e>
                      </m:d>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func>
                        <m:funcPr>
                          <m:ctrlPr>
                            <a:rPr lang="en-AU" sz="2000" b="0" i="1" kern="0" smtClean="0">
                              <a:latin typeface="Cambria Math" panose="02040503050406030204" pitchFamily="18" charset="0"/>
                            </a:rPr>
                          </m:ctrlPr>
                        </m:funcPr>
                        <m:fName>
                          <m:r>
                            <m:rPr>
                              <m:sty m:val="p"/>
                            </m:rPr>
                            <a:rPr lang="en-AU" sz="2000" b="0" i="0" kern="0" smtClean="0">
                              <a:latin typeface="Cambria Math" panose="02040503050406030204" pitchFamily="18" charset="0"/>
                            </a:rPr>
                            <m:t>exp</m:t>
                          </m:r>
                        </m:fName>
                        <m:e>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r>
                                <a:rPr lang="en-AU" sz="2000" b="0" i="1" kern="0" smtClean="0">
                                  <a:latin typeface="Cambria Math" panose="02040503050406030204" pitchFamily="18" charset="0"/>
                                </a:rPr>
                                <m:t>𝑥</m:t>
                              </m:r>
                            </m:e>
                          </m:d>
                        </m:e>
                      </m:func>
                    </m:oMath>
                  </m:oMathPara>
                </a14:m>
                <a:endParaRPr lang="en-AU" sz="2000" b="0" kern="0" dirty="0"/>
              </a:p>
              <a:p>
                <a:endParaRPr lang="en-US" sz="2000" kern="0" dirty="0"/>
              </a:p>
            </p:txBody>
          </p:sp>
        </mc:Choice>
        <mc:Fallback xmlns="">
          <p:sp>
            <p:nvSpPr>
              <p:cNvPr id="7" name="TextBox 6">
                <a:extLst>
                  <a:ext uri="{FF2B5EF4-FFF2-40B4-BE49-F238E27FC236}">
                    <a16:creationId xmlns:a16="http://schemas.microsoft.com/office/drawing/2014/main" id="{91FBA98E-F7FF-014B-9288-006D3AE451B2}"/>
                  </a:ext>
                </a:extLst>
              </p:cNvPr>
              <p:cNvSpPr txBox="1">
                <a:spLocks noRot="1" noChangeAspect="1" noMove="1" noResize="1" noEditPoints="1" noAdjustHandles="1" noChangeArrowheads="1" noChangeShapeType="1" noTextEdit="1"/>
              </p:cNvSpPr>
              <p:nvPr/>
            </p:nvSpPr>
            <p:spPr>
              <a:xfrm>
                <a:off x="369540" y="3697404"/>
                <a:ext cx="4046984" cy="1908086"/>
              </a:xfrm>
              <a:prstGeom prst="rect">
                <a:avLst/>
              </a:prstGeom>
              <a:blipFill>
                <a:blip r:embed="rId4"/>
                <a:stretch>
                  <a:fillRect l="-1567" t="-198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1809F39-9DB2-BD42-B5BB-ACBAC541EEFD}"/>
              </a:ext>
            </a:extLst>
          </p:cNvPr>
          <p:cNvPicPr>
            <a:picLocks noChangeAspect="1"/>
          </p:cNvPicPr>
          <p:nvPr/>
        </p:nvPicPr>
        <p:blipFill>
          <a:blip r:embed="rId5"/>
          <a:stretch>
            <a:fillRect/>
          </a:stretch>
        </p:blipFill>
        <p:spPr>
          <a:xfrm>
            <a:off x="4644008" y="3660775"/>
            <a:ext cx="3975100" cy="3009900"/>
          </a:xfrm>
          <a:prstGeom prst="rect">
            <a:avLst/>
          </a:prstGeom>
        </p:spPr>
      </p:pic>
    </p:spTree>
    <p:extLst>
      <p:ext uri="{BB962C8B-B14F-4D97-AF65-F5344CB8AC3E}">
        <p14:creationId xmlns:p14="http://schemas.microsoft.com/office/powerpoint/2010/main" val="314211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Continuous Random Variables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6" name="Content Placeholder 2"/>
              <p:cNvSpPr txBox="1">
                <a:spLocks noChangeArrowheads="1"/>
              </p:cNvSpPr>
              <p:nvPr/>
            </p:nvSpPr>
            <p:spPr bwMode="auto">
              <a:xfrm>
                <a:off x="228600" y="1412875"/>
                <a:ext cx="8375848" cy="4495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1325" indent="-3429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S PGothic" panose="020B0600070205080204" pitchFamily="34" charset="-128"/>
                    <a:cs typeface="+mn-cs"/>
                  </a:defRPr>
                </a:lvl1pPr>
                <a:lvl2pPr marL="906463" indent="-285750" algn="l" rtl="0" eaLnBrk="0" fontAlgn="base" hangingPunct="0">
                  <a:spcBef>
                    <a:spcPct val="20000"/>
                  </a:spcBef>
                  <a:spcAft>
                    <a:spcPct val="0"/>
                  </a:spcAft>
                  <a:buFont typeface="Wingdings" panose="05000000000000000000" pitchFamily="2" charset="2"/>
                  <a:buChar char="o"/>
                  <a:defRPr sz="2400">
                    <a:solidFill>
                      <a:schemeClr val="tx1"/>
                    </a:solidFill>
                    <a:latin typeface="+mn-lt"/>
                    <a:ea typeface="Arial" charset="0"/>
                    <a:cs typeface="+mn-cs"/>
                  </a:defRPr>
                </a:lvl2pPr>
                <a:lvl3pPr marL="131445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Arial" charset="0"/>
                    <a:cs typeface="+mn-cs"/>
                  </a:defRPr>
                </a:lvl3pPr>
                <a:lvl4pPr marL="1722438" indent="-228600" algn="l" rtl="0" eaLnBrk="0" fontAlgn="base" hangingPunct="0">
                  <a:spcBef>
                    <a:spcPct val="20000"/>
                  </a:spcBef>
                  <a:spcAft>
                    <a:spcPct val="0"/>
                  </a:spcAft>
                  <a:buFont typeface="Wingdings" panose="05000000000000000000" pitchFamily="2" charset="2"/>
                  <a:buChar char="Ø"/>
                  <a:defRPr sz="1600">
                    <a:solidFill>
                      <a:schemeClr val="tx1"/>
                    </a:solidFill>
                    <a:latin typeface="+mn-lt"/>
                    <a:ea typeface="MS PGothic" panose="020B0600070205080204" pitchFamily="34" charset="-128"/>
                    <a:cs typeface="Tahoma" charset="0"/>
                  </a:defRPr>
                </a:lvl4pPr>
                <a:lvl5pPr marL="2130425"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Arial" charset="0"/>
                    <a:ea typeface="MS PGothic" panose="020B0600070205080204" pitchFamily="34" charset="-128"/>
                    <a:cs typeface="Tahoma" charset="0"/>
                  </a:defRPr>
                </a:lvl5pPr>
                <a:lvl6pPr marL="25876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6pPr>
                <a:lvl7pPr marL="30448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7pPr>
                <a:lvl8pPr marL="35020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8pPr>
                <a:lvl9pPr marL="39592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9pPr>
              </a:lstStyle>
              <a:p>
                <a:pPr marL="98425" indent="0">
                  <a:buNone/>
                  <a:defRPr/>
                </a:pPr>
                <a:r>
                  <a:rPr lang="en-US" altLang="ko-KR" sz="2000" kern="0" dirty="0">
                    <a:solidFill>
                      <a:srgbClr val="0070C0"/>
                    </a:solidFill>
                    <a:ea typeface="굴림" pitchFamily="6" charset="-127"/>
                  </a:rPr>
                  <a:t>Continuous</a:t>
                </a:r>
                <a:r>
                  <a:rPr lang="en-US" altLang="ko-KR" sz="2000" kern="0" dirty="0">
                    <a:ea typeface="굴림" pitchFamily="6" charset="-127"/>
                  </a:rPr>
                  <a:t> random variables </a:t>
                </a:r>
                <a14:m>
                  <m:oMath xmlns:m="http://schemas.openxmlformats.org/officeDocument/2006/math">
                    <m:r>
                      <a:rPr lang="en-US" altLang="ko-KR" sz="2000" i="1" kern="0" dirty="0" smtClean="0">
                        <a:latin typeface="Cambria Math" panose="02040503050406030204" pitchFamily="18" charset="0"/>
                        <a:ea typeface="굴림" pitchFamily="6" charset="-127"/>
                      </a:rPr>
                      <m:t>𝑋</m:t>
                    </m:r>
                  </m:oMath>
                </a14:m>
                <a:r>
                  <a:rPr lang="en-US" altLang="ko-KR" sz="2000" kern="0" dirty="0">
                    <a:ea typeface="굴림" pitchFamily="6" charset="-127"/>
                  </a:rPr>
                  <a:t> with domain </a:t>
                </a:r>
                <a14:m>
                  <m:oMath xmlns:m="http://schemas.openxmlformats.org/officeDocument/2006/math">
                    <m:sSub>
                      <m:sSubPr>
                        <m:ctrlPr>
                          <a:rPr lang="en-AU" altLang="ko-KR" sz="2000" b="0" i="1" kern="0" smtClean="0">
                            <a:latin typeface="Cambria Math" panose="02040503050406030204" pitchFamily="18" charset="0"/>
                            <a:ea typeface="Cambria Math" panose="02040503050406030204" pitchFamily="18" charset="0"/>
                          </a:rPr>
                        </m:ctrlPr>
                      </m:sSubPr>
                      <m:e>
                        <m:r>
                          <a:rPr lang="en-AU" altLang="ko-KR" sz="2000" b="0" i="1" kern="0" smtClean="0">
                            <a:latin typeface="Cambria Math" panose="02040503050406030204" pitchFamily="18" charset="0"/>
                            <a:ea typeface="Cambria Math" panose="02040503050406030204" pitchFamily="18" charset="0"/>
                          </a:rPr>
                          <m:t>𝐷</m:t>
                        </m:r>
                      </m:e>
                      <m:sub>
                        <m:r>
                          <a:rPr lang="en-AU" altLang="ko-KR" sz="2000" b="0" i="1" kern="0" smtClean="0">
                            <a:latin typeface="Cambria Math" panose="02040503050406030204" pitchFamily="18" charset="0"/>
                            <a:ea typeface="Cambria Math" panose="02040503050406030204" pitchFamily="18" charset="0"/>
                          </a:rPr>
                          <m:t>𝑋</m:t>
                        </m:r>
                      </m:sub>
                    </m:sSub>
                    <m:r>
                      <a:rPr lang="en-AU" altLang="ko-KR" sz="2000" b="0" i="1" kern="0" smtClean="0">
                        <a:latin typeface="Cambria Math" panose="02040503050406030204" pitchFamily="18" charset="0"/>
                        <a:ea typeface="Cambria Math" panose="02040503050406030204" pitchFamily="18" charset="0"/>
                      </a:rPr>
                      <m:t>⊆</m:t>
                    </m:r>
                    <m:r>
                      <a:rPr lang="en-US" altLang="ko-KR" sz="2000" i="1" kern="0" smtClean="0">
                        <a:latin typeface="Cambria Math" panose="02040503050406030204" pitchFamily="18" charset="0"/>
                        <a:ea typeface="Cambria Math" panose="02040503050406030204" pitchFamily="18" charset="0"/>
                      </a:rPr>
                      <m:t>ℝ</m:t>
                    </m:r>
                  </m:oMath>
                </a14:m>
                <a:r>
                  <a:rPr lang="en-US" altLang="ko-KR" sz="2000" kern="0" dirty="0">
                    <a:ea typeface="굴림" pitchFamily="6" charset="-127"/>
                  </a:rPr>
                  <a:t> and </a:t>
                </a:r>
                <a14:m>
                  <m:oMath xmlns:m="http://schemas.openxmlformats.org/officeDocument/2006/math">
                    <m:r>
                      <a:rPr lang="en-US" altLang="ko-KR" sz="2000" i="1" kern="0" dirty="0" smtClean="0">
                        <a:latin typeface="Cambria Math" panose="02040503050406030204" pitchFamily="18" charset="0"/>
                        <a:ea typeface="굴림" pitchFamily="6" charset="-127"/>
                      </a:rPr>
                      <m:t>𝑃</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𝑋</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𝑥</m:t>
                    </m:r>
                    <m:r>
                      <a:rPr lang="en-US" altLang="ko-KR" sz="2000" i="1" kern="0" dirty="0" smtClean="0">
                        <a:latin typeface="Cambria Math" panose="02040503050406030204" pitchFamily="18" charset="0"/>
                        <a:ea typeface="굴림" pitchFamily="6" charset="-127"/>
                      </a:rPr>
                      <m:t>)=0</m:t>
                    </m:r>
                  </m:oMath>
                </a14:m>
                <a:endParaRPr lang="en-US" altLang="ko-KR" sz="2000" kern="0" dirty="0">
                  <a:ea typeface="굴림" pitchFamily="6" charset="-127"/>
                </a:endParaRPr>
              </a:p>
              <a:p>
                <a:pPr marL="98425" indent="0">
                  <a:spcBef>
                    <a:spcPts val="3024"/>
                  </a:spcBef>
                  <a:buNone/>
                  <a:defRPr/>
                </a:pPr>
                <a:r>
                  <a:rPr lang="en-US" altLang="ko-KR" sz="2000" kern="0" dirty="0">
                    <a:ea typeface="굴림" pitchFamily="6" charset="-127"/>
                  </a:rPr>
                  <a:t>Distribution given by </a:t>
                </a:r>
                <a:r>
                  <a:rPr lang="en-US" altLang="ko-KR" sz="2000" b="1" kern="0" dirty="0">
                    <a:ea typeface="굴림" pitchFamily="6" charset="-127"/>
                  </a:rPr>
                  <a:t>probability density function (pdf) </a:t>
                </a:r>
                <a14:m>
                  <m:oMath xmlns:m="http://schemas.openxmlformats.org/officeDocument/2006/math">
                    <m:r>
                      <a:rPr lang="en-US" altLang="ko-KR" sz="2000" i="1" kern="0" dirty="0" smtClean="0">
                        <a:solidFill>
                          <a:srgbClr val="0070C0"/>
                        </a:solidFill>
                        <a:latin typeface="Cambria Math" panose="02040503050406030204" pitchFamily="18" charset="0"/>
                        <a:ea typeface="굴림" pitchFamily="6" charset="-127"/>
                      </a:rPr>
                      <m:t>𝑝</m:t>
                    </m:r>
                    <m:d>
                      <m:dPr>
                        <m:ctrlPr>
                          <a:rPr lang="en-US" altLang="ko-KR" sz="2000" i="1" kern="0" dirty="0" smtClean="0">
                            <a:solidFill>
                              <a:srgbClr val="0070C0"/>
                            </a:solidFill>
                            <a:latin typeface="Cambria Math" panose="02040503050406030204" pitchFamily="18" charset="0"/>
                            <a:ea typeface="굴림" pitchFamily="6" charset="-127"/>
                          </a:rPr>
                        </m:ctrlPr>
                      </m:dPr>
                      <m:e>
                        <m:r>
                          <a:rPr lang="en-US" altLang="ko-KR" sz="2000" i="1" kern="0" dirty="0" smtClean="0">
                            <a:solidFill>
                              <a:srgbClr val="0070C0"/>
                            </a:solidFill>
                            <a:latin typeface="Cambria Math" panose="02040503050406030204" pitchFamily="18" charset="0"/>
                            <a:ea typeface="굴림" pitchFamily="6" charset="-127"/>
                          </a:rPr>
                          <m:t>𝑥</m:t>
                        </m:r>
                      </m:e>
                    </m:d>
                    <m:r>
                      <a:rPr lang="en-AU" altLang="ko-KR" sz="2000" i="1" kern="0" dirty="0">
                        <a:solidFill>
                          <a:srgbClr val="0070C0"/>
                        </a:solidFill>
                        <a:latin typeface="Cambria Math" panose="02040503050406030204" pitchFamily="18" charset="0"/>
                        <a:ea typeface="굴림" pitchFamily="6" charset="-127"/>
                      </a:rPr>
                      <m:t>≥</m:t>
                    </m:r>
                    <m:r>
                      <a:rPr lang="en-US" altLang="ko-KR" sz="2000" i="1" kern="0" dirty="0" smtClean="0">
                        <a:solidFill>
                          <a:srgbClr val="0070C0"/>
                        </a:solidFill>
                        <a:latin typeface="Cambria Math" panose="02040503050406030204" pitchFamily="18" charset="0"/>
                        <a:ea typeface="굴림" pitchFamily="6" charset="-127"/>
                      </a:rPr>
                      <m:t>0</m:t>
                    </m:r>
                  </m:oMath>
                </a14:m>
                <a:r>
                  <a:rPr lang="en-US" altLang="ko-KR" sz="2000" kern="0" dirty="0">
                    <a:ea typeface="굴림" pitchFamily="6" charset="-127"/>
                  </a:rPr>
                  <a:t> that describes probability of event </a:t>
                </a:r>
                <a14:m>
                  <m:oMath xmlns:m="http://schemas.openxmlformats.org/officeDocument/2006/math">
                    <m:r>
                      <a:rPr lang="en-AU" altLang="ko-KR" sz="2000" i="1" kern="0" dirty="0" smtClean="0">
                        <a:solidFill>
                          <a:srgbClr val="0070C0"/>
                        </a:solidFill>
                        <a:latin typeface="Cambria Math" panose="02040503050406030204" pitchFamily="18" charset="0"/>
                        <a:ea typeface="굴림" pitchFamily="6" charset="-127"/>
                      </a:rPr>
                      <m:t>𝑎</m:t>
                    </m:r>
                    <m:r>
                      <a:rPr lang="en-AU" altLang="ko-KR" sz="2000" i="1" kern="0" dirty="0" smtClean="0">
                        <a:solidFill>
                          <a:srgbClr val="0070C0"/>
                        </a:solidFill>
                        <a:latin typeface="Cambria Math" panose="02040503050406030204" pitchFamily="18" charset="0"/>
                        <a:ea typeface="Cambria Math" panose="02040503050406030204" pitchFamily="18" charset="0"/>
                      </a:rPr>
                      <m:t>≤</m:t>
                    </m:r>
                    <m:r>
                      <a:rPr lang="en-US" altLang="ko-KR" sz="2000" i="1" kern="0" dirty="0" smtClean="0">
                        <a:solidFill>
                          <a:srgbClr val="0070C0"/>
                        </a:solidFill>
                        <a:latin typeface="Cambria Math" panose="02040503050406030204" pitchFamily="18" charset="0"/>
                        <a:ea typeface="굴림" pitchFamily="6" charset="-127"/>
                      </a:rPr>
                      <m:t>𝑋</m:t>
                    </m:r>
                    <m:r>
                      <a:rPr lang="en-US" altLang="ko-KR" sz="2000" i="1" kern="0" dirty="0" smtClean="0">
                        <a:solidFill>
                          <a:srgbClr val="0070C0"/>
                        </a:solidFill>
                        <a:latin typeface="Cambria Math" panose="02040503050406030204" pitchFamily="18" charset="0"/>
                        <a:ea typeface="Cambria Math" panose="02040503050406030204" pitchFamily="18" charset="0"/>
                      </a:rPr>
                      <m:t>≤</m:t>
                    </m:r>
                    <m:r>
                      <a:rPr lang="en-AU" altLang="ko-KR" sz="2000" b="0" i="1" kern="0" dirty="0" smtClean="0">
                        <a:solidFill>
                          <a:srgbClr val="0070C0"/>
                        </a:solidFill>
                        <a:latin typeface="Cambria Math" panose="02040503050406030204" pitchFamily="18" charset="0"/>
                        <a:ea typeface="굴림" pitchFamily="6" charset="-127"/>
                      </a:rPr>
                      <m:t>𝑏</m:t>
                    </m:r>
                  </m:oMath>
                </a14:m>
                <a:r>
                  <a:rPr lang="en-US" altLang="ko-KR" sz="2000" kern="0" dirty="0">
                    <a:solidFill>
                      <a:srgbClr val="0070C0"/>
                    </a:solidFill>
                    <a:ea typeface="굴림" pitchFamily="6" charset="-127"/>
                  </a:rPr>
                  <a:t> </a:t>
                </a:r>
                <a:r>
                  <a:rPr lang="en-US" altLang="ko-KR" sz="2000" kern="0" dirty="0">
                    <a:ea typeface="굴림" pitchFamily="6" charset="-127"/>
                  </a:rPr>
                  <a:t>by integration</a:t>
                </a:r>
              </a:p>
              <a:p>
                <a:pPr marL="98425" indent="0">
                  <a:buNone/>
                  <a:defRPr/>
                </a:pPr>
                <a14:m>
                  <m:oMathPara xmlns:m="http://schemas.openxmlformats.org/officeDocument/2006/math">
                    <m:oMathParaPr>
                      <m:jc m:val="centerGroup"/>
                    </m:oMathParaPr>
                    <m:oMath xmlns:m="http://schemas.openxmlformats.org/officeDocument/2006/math">
                      <m:r>
                        <a:rPr lang="en-AU" altLang="ko-KR" sz="2000" b="0" i="1" kern="0" smtClean="0">
                          <a:solidFill>
                            <a:schemeClr val="tx1"/>
                          </a:solidFill>
                          <a:latin typeface="Cambria Math" panose="02040503050406030204" pitchFamily="18" charset="0"/>
                          <a:ea typeface="굴림" pitchFamily="6" charset="-127"/>
                        </a:rPr>
                        <m:t>𝑃</m:t>
                      </m:r>
                      <m:d>
                        <m:dPr>
                          <m:ctrlPr>
                            <a:rPr lang="en-AU" altLang="ko-KR" sz="2000" b="0" i="1" kern="0" smtClean="0">
                              <a:solidFill>
                                <a:schemeClr val="tx1"/>
                              </a:solidFill>
                              <a:latin typeface="Cambria Math" panose="02040503050406030204" pitchFamily="18" charset="0"/>
                              <a:ea typeface="굴림" pitchFamily="6" charset="-127"/>
                            </a:rPr>
                          </m:ctrlPr>
                        </m:dPr>
                        <m:e>
                          <m:r>
                            <a:rPr lang="en-AU" altLang="ko-KR" sz="2000" i="1" kern="0" dirty="0">
                              <a:solidFill>
                                <a:schemeClr val="tx1"/>
                              </a:solidFill>
                              <a:latin typeface="Cambria Math" panose="02040503050406030204" pitchFamily="18" charset="0"/>
                              <a:ea typeface="굴림" pitchFamily="6" charset="-127"/>
                            </a:rPr>
                            <m:t>𝑎</m:t>
                          </m:r>
                          <m:r>
                            <a:rPr lang="en-AU" altLang="ko-KR" sz="2000" i="1" kern="0" dirty="0">
                              <a:solidFill>
                                <a:schemeClr val="tx1"/>
                              </a:solidFill>
                              <a:latin typeface="Cambria Math" panose="02040503050406030204" pitchFamily="18" charset="0"/>
                              <a:ea typeface="Cambria Math" panose="02040503050406030204" pitchFamily="18" charset="0"/>
                            </a:rPr>
                            <m:t>≤</m:t>
                          </m:r>
                          <m:r>
                            <a:rPr lang="en-US" altLang="ko-KR" sz="2000" i="1" kern="0" dirty="0">
                              <a:solidFill>
                                <a:schemeClr val="tx1"/>
                              </a:solidFill>
                              <a:latin typeface="Cambria Math" panose="02040503050406030204" pitchFamily="18" charset="0"/>
                              <a:ea typeface="굴림" pitchFamily="6" charset="-127"/>
                            </a:rPr>
                            <m:t>𝑋</m:t>
                          </m:r>
                          <m:r>
                            <a:rPr lang="en-US" altLang="ko-KR" sz="2000" i="1" kern="0" dirty="0">
                              <a:solidFill>
                                <a:schemeClr val="tx1"/>
                              </a:solidFill>
                              <a:latin typeface="Cambria Math" panose="02040503050406030204" pitchFamily="18" charset="0"/>
                              <a:ea typeface="Cambria Math" panose="02040503050406030204" pitchFamily="18" charset="0"/>
                            </a:rPr>
                            <m:t>≤</m:t>
                          </m:r>
                          <m:r>
                            <a:rPr lang="en-AU" altLang="ko-KR" sz="2000" i="1" kern="0" dirty="0">
                              <a:solidFill>
                                <a:schemeClr val="tx1"/>
                              </a:solidFill>
                              <a:latin typeface="Cambria Math" panose="02040503050406030204" pitchFamily="18" charset="0"/>
                              <a:ea typeface="굴림" pitchFamily="6" charset="-127"/>
                            </a:rPr>
                            <m:t>𝑏</m:t>
                          </m:r>
                        </m:e>
                      </m:d>
                      <m:r>
                        <a:rPr lang="en-AU" altLang="ko-KR" sz="2000" b="0" i="1" kern="0" smtClean="0">
                          <a:solidFill>
                            <a:schemeClr val="tx1"/>
                          </a:solidFill>
                          <a:latin typeface="Cambria Math" panose="02040503050406030204" pitchFamily="18" charset="0"/>
                          <a:ea typeface="굴림" pitchFamily="6" charset="-127"/>
                        </a:rPr>
                        <m:t>=</m:t>
                      </m:r>
                      <m:nary>
                        <m:naryPr>
                          <m:ctrlPr>
                            <a:rPr lang="en-AU" altLang="ko-KR" sz="2000" i="1" kern="0">
                              <a:solidFill>
                                <a:schemeClr val="tx1"/>
                              </a:solidFill>
                              <a:latin typeface="Cambria Math" panose="02040503050406030204" pitchFamily="18" charset="0"/>
                              <a:ea typeface="굴림" pitchFamily="6" charset="-127"/>
                            </a:rPr>
                          </m:ctrlPr>
                        </m:naryPr>
                        <m:sub>
                          <m:r>
                            <a:rPr lang="en-AU" altLang="ko-KR" sz="2000" b="0" i="1" kern="0" smtClean="0">
                              <a:solidFill>
                                <a:schemeClr val="tx1"/>
                              </a:solidFill>
                              <a:latin typeface="Cambria Math" panose="02040503050406030204" pitchFamily="18" charset="0"/>
                              <a:ea typeface="Cambria Math" panose="02040503050406030204" pitchFamily="18" charset="0"/>
                            </a:rPr>
                            <m:t>𝑎</m:t>
                          </m:r>
                        </m:sub>
                        <m:sup>
                          <m:r>
                            <a:rPr lang="en-AU" altLang="ko-KR" sz="2000" b="0" i="1" kern="0" smtClean="0">
                              <a:solidFill>
                                <a:schemeClr val="tx1"/>
                              </a:solidFill>
                              <a:latin typeface="Cambria Math" panose="02040503050406030204" pitchFamily="18" charset="0"/>
                              <a:ea typeface="Cambria Math" panose="02040503050406030204" pitchFamily="18" charset="0"/>
                            </a:rPr>
                            <m:t>𝑏</m:t>
                          </m:r>
                        </m:sup>
                        <m:e>
                          <m:r>
                            <a:rPr lang="en-AU" altLang="ko-KR" sz="2000" i="1" kern="0" smtClean="0">
                              <a:solidFill>
                                <a:srgbClr val="0070C0"/>
                              </a:solidFill>
                              <a:latin typeface="Cambria Math" panose="02040503050406030204" pitchFamily="18" charset="0"/>
                              <a:ea typeface="굴림" pitchFamily="6" charset="-127"/>
                            </a:rPr>
                            <m:t>𝑝</m:t>
                          </m:r>
                          <m:d>
                            <m:dPr>
                              <m:ctrlPr>
                                <a:rPr lang="en-AU" altLang="ko-KR" sz="2000" i="1" kern="0">
                                  <a:solidFill>
                                    <a:srgbClr val="0070C0"/>
                                  </a:solidFill>
                                  <a:latin typeface="Cambria Math" panose="02040503050406030204" pitchFamily="18" charset="0"/>
                                  <a:ea typeface="굴림" pitchFamily="6" charset="-127"/>
                                </a:rPr>
                              </m:ctrlPr>
                            </m:dPr>
                            <m:e>
                              <m:r>
                                <a:rPr lang="en-AU" altLang="ko-KR" sz="2000" i="1" kern="0">
                                  <a:solidFill>
                                    <a:srgbClr val="0070C0"/>
                                  </a:solidFill>
                                  <a:latin typeface="Cambria Math" panose="02040503050406030204" pitchFamily="18" charset="0"/>
                                  <a:ea typeface="굴림" pitchFamily="6" charset="-127"/>
                                </a:rPr>
                                <m:t>𝑥</m:t>
                              </m:r>
                            </m:e>
                          </m:d>
                          <m:r>
                            <a:rPr lang="en-AU" altLang="ko-KR" sz="2000" i="1" kern="0">
                              <a:solidFill>
                                <a:schemeClr val="tx1"/>
                              </a:solidFill>
                              <a:latin typeface="Cambria Math" panose="02040503050406030204" pitchFamily="18" charset="0"/>
                              <a:ea typeface="굴림" pitchFamily="6" charset="-127"/>
                            </a:rPr>
                            <m:t>𝑑𝑥</m:t>
                          </m:r>
                        </m:e>
                      </m:nary>
                    </m:oMath>
                  </m:oMathPara>
                </a14:m>
                <a:endParaRPr lang="en-US" altLang="ko-KR" sz="2000" kern="0" dirty="0">
                  <a:ea typeface="굴림" pitchFamily="6" charset="-127"/>
                </a:endParaRPr>
              </a:p>
              <a:p>
                <a:pPr marL="98425" indent="0">
                  <a:buNone/>
                  <a:defRPr/>
                </a:pPr>
                <a:endParaRPr lang="en-US" altLang="ko-KR" sz="2000" kern="0" dirty="0">
                  <a:ea typeface="굴림" pitchFamily="6" charset="-127"/>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bwMode="auto">
              <a:xfrm>
                <a:off x="228600" y="1412875"/>
                <a:ext cx="8375848" cy="4495800"/>
              </a:xfrm>
              <a:prstGeom prst="rect">
                <a:avLst/>
              </a:prstGeom>
              <a:blipFill>
                <a:blip r:embed="rId3"/>
                <a:stretch>
                  <a:fillRect t="-5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1FBA98E-F7FF-014B-9288-006D3AE451B2}"/>
                  </a:ext>
                </a:extLst>
              </p:cNvPr>
              <p:cNvSpPr txBox="1"/>
              <p:nvPr/>
            </p:nvSpPr>
            <p:spPr>
              <a:xfrm>
                <a:off x="369540" y="3697404"/>
                <a:ext cx="4046984" cy="2523640"/>
              </a:xfrm>
              <a:prstGeom prst="rect">
                <a:avLst/>
              </a:prstGeom>
              <a:noFill/>
            </p:spPr>
            <p:txBody>
              <a:bodyPr wrap="square" rtlCol="0">
                <a:spAutoFit/>
              </a:bodyPr>
              <a:lstStyle/>
              <a:p>
                <a:r>
                  <a:rPr lang="en-US" altLang="ko-KR" sz="2000" b="1" kern="0" dirty="0"/>
                  <a:t>Example:</a:t>
                </a:r>
                <a:r>
                  <a:rPr lang="en-US" altLang="ko-KR" sz="2000" kern="0" dirty="0"/>
                  <a:t> time until you receive first email on random workday</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0" i="1" kern="0" smtClean="0">
                          <a:latin typeface="Cambria Math" panose="02040503050406030204" pitchFamily="18" charset="0"/>
                        </a:rPr>
                        <m:t>𝑝</m:t>
                      </m:r>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𝑥</m:t>
                          </m:r>
                        </m:e>
                      </m:d>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func>
                        <m:funcPr>
                          <m:ctrlPr>
                            <a:rPr lang="en-AU" sz="2000" b="0" i="1" kern="0" smtClean="0">
                              <a:latin typeface="Cambria Math" panose="02040503050406030204" pitchFamily="18" charset="0"/>
                            </a:rPr>
                          </m:ctrlPr>
                        </m:funcPr>
                        <m:fName>
                          <m:r>
                            <m:rPr>
                              <m:sty m:val="p"/>
                            </m:rPr>
                            <a:rPr lang="en-AU" sz="2000" b="0" i="0" kern="0" smtClean="0">
                              <a:latin typeface="Cambria Math" panose="02040503050406030204" pitchFamily="18" charset="0"/>
                            </a:rPr>
                            <m:t>exp</m:t>
                          </m:r>
                        </m:fName>
                        <m:e>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r>
                                <a:rPr lang="en-AU" sz="2000" b="0" i="1" kern="0" smtClean="0">
                                  <a:latin typeface="Cambria Math" panose="02040503050406030204" pitchFamily="18" charset="0"/>
                                </a:rPr>
                                <m:t>𝑥</m:t>
                              </m:r>
                            </m:e>
                          </m:d>
                        </m:e>
                      </m:func>
                    </m:oMath>
                  </m:oMathPara>
                </a14:m>
                <a:endParaRPr lang="en-AU" sz="2000" b="0" kern="0" dirty="0"/>
              </a:p>
              <a:p>
                <a:endParaRPr lang="en-US" sz="2000" kern="0" dirty="0"/>
              </a:p>
              <a:p>
                <a:r>
                  <a:rPr lang="en-US" sz="2000" b="1" kern="0" dirty="0"/>
                  <a:t>Question:</a:t>
                </a:r>
                <a:r>
                  <a:rPr lang="en-US" sz="2000" kern="0" dirty="0"/>
                  <a:t> probability of receiving first mail in second hour of work?</a:t>
                </a:r>
              </a:p>
            </p:txBody>
          </p:sp>
        </mc:Choice>
        <mc:Fallback xmlns="">
          <p:sp>
            <p:nvSpPr>
              <p:cNvPr id="7" name="TextBox 6">
                <a:extLst>
                  <a:ext uri="{FF2B5EF4-FFF2-40B4-BE49-F238E27FC236}">
                    <a16:creationId xmlns:a16="http://schemas.microsoft.com/office/drawing/2014/main" id="{91FBA98E-F7FF-014B-9288-006D3AE451B2}"/>
                  </a:ext>
                </a:extLst>
              </p:cNvPr>
              <p:cNvSpPr txBox="1">
                <a:spLocks noRot="1" noChangeAspect="1" noMove="1" noResize="1" noEditPoints="1" noAdjustHandles="1" noChangeArrowheads="1" noChangeShapeType="1" noTextEdit="1"/>
              </p:cNvSpPr>
              <p:nvPr/>
            </p:nvSpPr>
            <p:spPr>
              <a:xfrm>
                <a:off x="369540" y="3697404"/>
                <a:ext cx="4046984" cy="2523640"/>
              </a:xfrm>
              <a:prstGeom prst="rect">
                <a:avLst/>
              </a:prstGeom>
              <a:blipFill>
                <a:blip r:embed="rId4"/>
                <a:stretch>
                  <a:fillRect l="-1567" t="-1500" r="-3448" b="-2500"/>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1809F39-9DB2-BD42-B5BB-ACBAC541EEFD}"/>
              </a:ext>
            </a:extLst>
          </p:cNvPr>
          <p:cNvPicPr>
            <a:picLocks noChangeAspect="1"/>
          </p:cNvPicPr>
          <p:nvPr/>
        </p:nvPicPr>
        <p:blipFill>
          <a:blip r:embed="rId5"/>
          <a:stretch>
            <a:fillRect/>
          </a:stretch>
        </p:blipFill>
        <p:spPr>
          <a:xfrm>
            <a:off x="4644008" y="3660775"/>
            <a:ext cx="3975100" cy="30099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923F3D-37A4-7E4E-A1DC-9BE58D5EFACF}"/>
                  </a:ext>
                </a:extLst>
              </p:cNvPr>
              <p:cNvSpPr txBox="1"/>
              <p:nvPr/>
            </p:nvSpPr>
            <p:spPr>
              <a:xfrm>
                <a:off x="5558370" y="3919407"/>
                <a:ext cx="2607830" cy="6444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altLang="ko-KR" b="0" i="1" kern="0" smtClean="0">
                          <a:latin typeface="Cambria Math" panose="02040503050406030204" pitchFamily="18" charset="0"/>
                        </a:rPr>
                        <m:t>𝑃</m:t>
                      </m:r>
                      <m:d>
                        <m:dPr>
                          <m:ctrlPr>
                            <a:rPr lang="en-AU" altLang="ko-KR" b="0" i="1" kern="0" smtClean="0">
                              <a:latin typeface="Cambria Math" panose="02040503050406030204" pitchFamily="18" charset="0"/>
                            </a:rPr>
                          </m:ctrlPr>
                        </m:dPr>
                        <m:e>
                          <m:r>
                            <a:rPr lang="en-AU" altLang="ko-KR" b="0" i="1" kern="0" smtClean="0">
                              <a:latin typeface="Cambria Math" panose="02040503050406030204" pitchFamily="18" charset="0"/>
                            </a:rPr>
                            <m:t>1</m:t>
                          </m:r>
                          <m:r>
                            <a:rPr lang="en-AU" altLang="ko-KR" i="1" kern="0" dirty="0">
                              <a:latin typeface="Cambria Math" panose="02040503050406030204" pitchFamily="18" charset="0"/>
                              <a:ea typeface="Cambria Math" panose="02040503050406030204" pitchFamily="18" charset="0"/>
                            </a:rPr>
                            <m:t>≤</m:t>
                          </m:r>
                          <m:r>
                            <a:rPr lang="en-US" altLang="ko-KR" i="1" kern="0" dirty="0">
                              <a:latin typeface="Cambria Math" panose="02040503050406030204" pitchFamily="18" charset="0"/>
                            </a:rPr>
                            <m:t>𝑋</m:t>
                          </m:r>
                          <m:r>
                            <a:rPr lang="en-US" altLang="ko-KR" i="1" kern="0" dirty="0">
                              <a:latin typeface="Cambria Math" panose="02040503050406030204" pitchFamily="18" charset="0"/>
                              <a:ea typeface="Cambria Math" panose="02040503050406030204" pitchFamily="18" charset="0"/>
                            </a:rPr>
                            <m:t>≤</m:t>
                          </m:r>
                          <m:r>
                            <a:rPr lang="en-AU" altLang="ko-KR" b="0" i="1" kern="0" dirty="0" smtClean="0">
                              <a:latin typeface="Cambria Math" panose="02040503050406030204" pitchFamily="18" charset="0"/>
                              <a:ea typeface="Cambria Math" panose="02040503050406030204" pitchFamily="18" charset="0"/>
                            </a:rPr>
                            <m:t>2</m:t>
                          </m:r>
                        </m:e>
                      </m:d>
                      <m:r>
                        <a:rPr lang="en-AU" altLang="ko-KR" b="0" i="1" kern="0" smtClean="0">
                          <a:latin typeface="Cambria Math" panose="02040503050406030204" pitchFamily="18" charset="0"/>
                        </a:rPr>
                        <m:t>=</m:t>
                      </m:r>
                      <m:nary>
                        <m:naryPr>
                          <m:ctrlPr>
                            <a:rPr lang="en-AU" altLang="ko-KR" i="1" kern="0" smtClean="0">
                              <a:latin typeface="Cambria Math" panose="02040503050406030204" pitchFamily="18" charset="0"/>
                            </a:rPr>
                          </m:ctrlPr>
                        </m:naryPr>
                        <m:sub>
                          <m:r>
                            <a:rPr lang="en-AU" altLang="ko-KR" b="0" i="1" kern="0" smtClean="0">
                              <a:latin typeface="Cambria Math" panose="02040503050406030204" pitchFamily="18" charset="0"/>
                              <a:ea typeface="Cambria Math" panose="02040503050406030204" pitchFamily="18" charset="0"/>
                            </a:rPr>
                            <m:t>1</m:t>
                          </m:r>
                        </m:sub>
                        <m:sup>
                          <m:r>
                            <a:rPr lang="en-AU" altLang="ko-KR" b="0" i="1" kern="0" smtClean="0">
                              <a:latin typeface="Cambria Math" panose="02040503050406030204" pitchFamily="18" charset="0"/>
                              <a:ea typeface="Cambria Math" panose="02040503050406030204" pitchFamily="18" charset="0"/>
                            </a:rPr>
                            <m:t>2</m:t>
                          </m:r>
                        </m:sup>
                        <m:e>
                          <m:r>
                            <a:rPr lang="en-AU" altLang="ko-KR" i="1" kern="0" smtClean="0">
                              <a:solidFill>
                                <a:srgbClr val="0070C0"/>
                              </a:solidFill>
                              <a:latin typeface="Cambria Math" panose="02040503050406030204" pitchFamily="18" charset="0"/>
                            </a:rPr>
                            <m:t>𝑝</m:t>
                          </m:r>
                          <m:d>
                            <m:dPr>
                              <m:ctrlPr>
                                <a:rPr lang="en-AU" altLang="ko-KR" i="1" kern="0">
                                  <a:solidFill>
                                    <a:srgbClr val="0070C0"/>
                                  </a:solidFill>
                                  <a:latin typeface="Cambria Math" panose="02040503050406030204" pitchFamily="18" charset="0"/>
                                </a:rPr>
                              </m:ctrlPr>
                            </m:dPr>
                            <m:e>
                              <m:r>
                                <a:rPr lang="en-AU" altLang="ko-KR" i="1" kern="0">
                                  <a:solidFill>
                                    <a:srgbClr val="0070C0"/>
                                  </a:solidFill>
                                  <a:latin typeface="Cambria Math" panose="02040503050406030204" pitchFamily="18" charset="0"/>
                                </a:rPr>
                                <m:t>𝑥</m:t>
                              </m:r>
                            </m:e>
                          </m:d>
                          <m:r>
                            <a:rPr lang="en-AU" altLang="ko-KR" i="1" kern="0">
                              <a:latin typeface="Cambria Math" panose="02040503050406030204" pitchFamily="18" charset="0"/>
                            </a:rPr>
                            <m:t>𝑑𝑥</m:t>
                          </m:r>
                        </m:e>
                      </m:nary>
                    </m:oMath>
                  </m:oMathPara>
                </a14:m>
                <a:endParaRPr lang="en-AU" dirty="0"/>
              </a:p>
            </p:txBody>
          </p:sp>
        </mc:Choice>
        <mc:Fallback xmlns="">
          <p:sp>
            <p:nvSpPr>
              <p:cNvPr id="12" name="TextBox 11">
                <a:extLst>
                  <a:ext uri="{FF2B5EF4-FFF2-40B4-BE49-F238E27FC236}">
                    <a16:creationId xmlns:a16="http://schemas.microsoft.com/office/drawing/2014/main" id="{B5923F3D-37A4-7E4E-A1DC-9BE58D5EFACF}"/>
                  </a:ext>
                </a:extLst>
              </p:cNvPr>
              <p:cNvSpPr txBox="1">
                <a:spLocks noRot="1" noChangeAspect="1" noMove="1" noResize="1" noEditPoints="1" noAdjustHandles="1" noChangeArrowheads="1" noChangeShapeType="1" noTextEdit="1"/>
              </p:cNvSpPr>
              <p:nvPr/>
            </p:nvSpPr>
            <p:spPr>
              <a:xfrm>
                <a:off x="5558370" y="3919407"/>
                <a:ext cx="2607830" cy="644407"/>
              </a:xfrm>
              <a:prstGeom prst="rect">
                <a:avLst/>
              </a:prstGeom>
              <a:blipFill>
                <a:blip r:embed="rId6"/>
                <a:stretch>
                  <a:fillRect t="-149020" b="-21960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4A40B6-2DF8-5942-9C33-28759663C818}"/>
                  </a:ext>
                </a:extLst>
              </p:cNvPr>
              <p:cNvSpPr txBox="1"/>
              <p:nvPr/>
            </p:nvSpPr>
            <p:spPr>
              <a:xfrm>
                <a:off x="6834853" y="4589441"/>
                <a:ext cx="14861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m:t>
                      </m:r>
                      <m:r>
                        <a:rPr lang="en-AU" i="1">
                          <a:latin typeface="Cambria Math" panose="02040503050406030204" pitchFamily="18" charset="0"/>
                        </a:rPr>
                        <m:t>0.173343</m:t>
                      </m:r>
                      <m:r>
                        <a:rPr lang="en-AU" b="0" i="1" smtClean="0">
                          <a:latin typeface="Cambria Math" panose="02040503050406030204" pitchFamily="18" charset="0"/>
                        </a:rPr>
                        <m:t>…</m:t>
                      </m:r>
                    </m:oMath>
                  </m:oMathPara>
                </a14:m>
                <a:endParaRPr lang="en-AU" dirty="0"/>
              </a:p>
            </p:txBody>
          </p:sp>
        </mc:Choice>
        <mc:Fallback xmlns="">
          <p:sp>
            <p:nvSpPr>
              <p:cNvPr id="13" name="TextBox 12">
                <a:extLst>
                  <a:ext uri="{FF2B5EF4-FFF2-40B4-BE49-F238E27FC236}">
                    <a16:creationId xmlns:a16="http://schemas.microsoft.com/office/drawing/2014/main" id="{DE4A40B6-2DF8-5942-9C33-28759663C818}"/>
                  </a:ext>
                </a:extLst>
              </p:cNvPr>
              <p:cNvSpPr txBox="1">
                <a:spLocks noRot="1" noChangeAspect="1" noMove="1" noResize="1" noEditPoints="1" noAdjustHandles="1" noChangeArrowheads="1" noChangeShapeType="1" noTextEdit="1"/>
              </p:cNvSpPr>
              <p:nvPr/>
            </p:nvSpPr>
            <p:spPr>
              <a:xfrm>
                <a:off x="6834853" y="4589441"/>
                <a:ext cx="1486111" cy="338554"/>
              </a:xfrm>
              <a:prstGeom prst="rect">
                <a:avLst/>
              </a:prstGeom>
              <a:blipFill>
                <a:blip r:embed="rId7"/>
                <a:stretch>
                  <a:fillRect/>
                </a:stretch>
              </a:blipFill>
            </p:spPr>
            <p:txBody>
              <a:bodyPr/>
              <a:lstStyle/>
              <a:p>
                <a:r>
                  <a:rPr lang="en-AU">
                    <a:noFill/>
                  </a:rPr>
                  <a:t> </a:t>
                </a:r>
              </a:p>
            </p:txBody>
          </p:sp>
        </mc:Fallback>
      </mc:AlternateContent>
      <p:cxnSp>
        <p:nvCxnSpPr>
          <p:cNvPr id="15" name="Straight Arrow Connector 14">
            <a:extLst>
              <a:ext uri="{FF2B5EF4-FFF2-40B4-BE49-F238E27FC236}">
                <a16:creationId xmlns:a16="http://schemas.microsoft.com/office/drawing/2014/main" id="{C02ED7B7-9A6A-E844-98D5-632212D3A6FD}"/>
              </a:ext>
            </a:extLst>
          </p:cNvPr>
          <p:cNvCxnSpPr>
            <a:cxnSpLocks/>
          </p:cNvCxnSpPr>
          <p:nvPr/>
        </p:nvCxnSpPr>
        <p:spPr>
          <a:xfrm flipH="1">
            <a:off x="6868440" y="5046860"/>
            <a:ext cx="229994" cy="7429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8445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Continuous Random Variables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6" name="Content Placeholder 2"/>
              <p:cNvSpPr txBox="1">
                <a:spLocks noChangeArrowheads="1"/>
              </p:cNvSpPr>
              <p:nvPr/>
            </p:nvSpPr>
            <p:spPr bwMode="auto">
              <a:xfrm>
                <a:off x="228600" y="1412875"/>
                <a:ext cx="8375848" cy="4495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1325" indent="-3429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S PGothic" panose="020B0600070205080204" pitchFamily="34" charset="-128"/>
                    <a:cs typeface="+mn-cs"/>
                  </a:defRPr>
                </a:lvl1pPr>
                <a:lvl2pPr marL="906463" indent="-285750" algn="l" rtl="0" eaLnBrk="0" fontAlgn="base" hangingPunct="0">
                  <a:spcBef>
                    <a:spcPct val="20000"/>
                  </a:spcBef>
                  <a:spcAft>
                    <a:spcPct val="0"/>
                  </a:spcAft>
                  <a:buFont typeface="Wingdings" panose="05000000000000000000" pitchFamily="2" charset="2"/>
                  <a:buChar char="o"/>
                  <a:defRPr sz="2400">
                    <a:solidFill>
                      <a:schemeClr val="tx1"/>
                    </a:solidFill>
                    <a:latin typeface="+mn-lt"/>
                    <a:ea typeface="Arial" charset="0"/>
                    <a:cs typeface="+mn-cs"/>
                  </a:defRPr>
                </a:lvl2pPr>
                <a:lvl3pPr marL="131445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Arial" charset="0"/>
                    <a:cs typeface="+mn-cs"/>
                  </a:defRPr>
                </a:lvl3pPr>
                <a:lvl4pPr marL="1722438" indent="-228600" algn="l" rtl="0" eaLnBrk="0" fontAlgn="base" hangingPunct="0">
                  <a:spcBef>
                    <a:spcPct val="20000"/>
                  </a:spcBef>
                  <a:spcAft>
                    <a:spcPct val="0"/>
                  </a:spcAft>
                  <a:buFont typeface="Wingdings" panose="05000000000000000000" pitchFamily="2" charset="2"/>
                  <a:buChar char="Ø"/>
                  <a:defRPr sz="1600">
                    <a:solidFill>
                      <a:schemeClr val="tx1"/>
                    </a:solidFill>
                    <a:latin typeface="+mn-lt"/>
                    <a:ea typeface="MS PGothic" panose="020B0600070205080204" pitchFamily="34" charset="-128"/>
                    <a:cs typeface="Tahoma" charset="0"/>
                  </a:defRPr>
                </a:lvl4pPr>
                <a:lvl5pPr marL="2130425"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Arial" charset="0"/>
                    <a:ea typeface="MS PGothic" panose="020B0600070205080204" pitchFamily="34" charset="-128"/>
                    <a:cs typeface="Tahoma" charset="0"/>
                  </a:defRPr>
                </a:lvl5pPr>
                <a:lvl6pPr marL="25876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6pPr>
                <a:lvl7pPr marL="30448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7pPr>
                <a:lvl8pPr marL="35020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8pPr>
                <a:lvl9pPr marL="39592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9pPr>
              </a:lstStyle>
              <a:p>
                <a:pPr marL="98425" indent="0">
                  <a:buNone/>
                  <a:defRPr/>
                </a:pPr>
                <a:r>
                  <a:rPr lang="en-US" altLang="ko-KR" sz="2000" kern="0" dirty="0">
                    <a:solidFill>
                      <a:srgbClr val="0070C0"/>
                    </a:solidFill>
                    <a:ea typeface="굴림" pitchFamily="6" charset="-127"/>
                  </a:rPr>
                  <a:t>Continuous</a:t>
                </a:r>
                <a:r>
                  <a:rPr lang="en-US" altLang="ko-KR" sz="2000" kern="0" dirty="0">
                    <a:ea typeface="굴림" pitchFamily="6" charset="-127"/>
                  </a:rPr>
                  <a:t> random variables </a:t>
                </a:r>
                <a14:m>
                  <m:oMath xmlns:m="http://schemas.openxmlformats.org/officeDocument/2006/math">
                    <m:r>
                      <a:rPr lang="en-US" altLang="ko-KR" sz="2000" i="1" kern="0" dirty="0" smtClean="0">
                        <a:latin typeface="Cambria Math" panose="02040503050406030204" pitchFamily="18" charset="0"/>
                        <a:ea typeface="굴림" pitchFamily="6" charset="-127"/>
                      </a:rPr>
                      <m:t>𝑋</m:t>
                    </m:r>
                  </m:oMath>
                </a14:m>
                <a:r>
                  <a:rPr lang="en-US" altLang="ko-KR" sz="2000" kern="0" dirty="0">
                    <a:ea typeface="굴림" pitchFamily="6" charset="-127"/>
                  </a:rPr>
                  <a:t> with domain </a:t>
                </a:r>
                <a14:m>
                  <m:oMath xmlns:m="http://schemas.openxmlformats.org/officeDocument/2006/math">
                    <m:sSub>
                      <m:sSubPr>
                        <m:ctrlPr>
                          <a:rPr lang="en-AU" altLang="ko-KR" sz="2000" b="0" i="1" kern="0" smtClean="0">
                            <a:latin typeface="Cambria Math" panose="02040503050406030204" pitchFamily="18" charset="0"/>
                            <a:ea typeface="Cambria Math" panose="02040503050406030204" pitchFamily="18" charset="0"/>
                          </a:rPr>
                        </m:ctrlPr>
                      </m:sSubPr>
                      <m:e>
                        <m:r>
                          <a:rPr lang="en-AU" altLang="ko-KR" sz="2000" b="0" i="1" kern="0" smtClean="0">
                            <a:latin typeface="Cambria Math" panose="02040503050406030204" pitchFamily="18" charset="0"/>
                            <a:ea typeface="Cambria Math" panose="02040503050406030204" pitchFamily="18" charset="0"/>
                          </a:rPr>
                          <m:t>𝐷</m:t>
                        </m:r>
                      </m:e>
                      <m:sub>
                        <m:r>
                          <a:rPr lang="en-AU" altLang="ko-KR" sz="2000" b="0" i="1" kern="0" smtClean="0">
                            <a:latin typeface="Cambria Math" panose="02040503050406030204" pitchFamily="18" charset="0"/>
                            <a:ea typeface="Cambria Math" panose="02040503050406030204" pitchFamily="18" charset="0"/>
                          </a:rPr>
                          <m:t>𝑋</m:t>
                        </m:r>
                      </m:sub>
                    </m:sSub>
                    <m:r>
                      <a:rPr lang="en-AU" altLang="ko-KR" sz="2000" i="1" kern="0">
                        <a:latin typeface="Cambria Math" panose="02040503050406030204" pitchFamily="18" charset="0"/>
                        <a:ea typeface="Cambria Math" panose="02040503050406030204" pitchFamily="18" charset="0"/>
                      </a:rPr>
                      <m:t>⊆</m:t>
                    </m:r>
                    <m:r>
                      <a:rPr lang="en-US" altLang="ko-KR" sz="2000" i="1" kern="0" smtClean="0">
                        <a:latin typeface="Cambria Math" panose="02040503050406030204" pitchFamily="18" charset="0"/>
                        <a:ea typeface="Cambria Math" panose="02040503050406030204" pitchFamily="18" charset="0"/>
                      </a:rPr>
                      <m:t>ℝ</m:t>
                    </m:r>
                  </m:oMath>
                </a14:m>
                <a:r>
                  <a:rPr lang="en-US" altLang="ko-KR" sz="2000" kern="0" dirty="0">
                    <a:ea typeface="굴림" pitchFamily="6" charset="-127"/>
                  </a:rPr>
                  <a:t> and </a:t>
                </a:r>
                <a14:m>
                  <m:oMath xmlns:m="http://schemas.openxmlformats.org/officeDocument/2006/math">
                    <m:r>
                      <a:rPr lang="en-US" altLang="ko-KR" sz="2000" i="1" kern="0" dirty="0" smtClean="0">
                        <a:latin typeface="Cambria Math" panose="02040503050406030204" pitchFamily="18" charset="0"/>
                        <a:ea typeface="굴림" pitchFamily="6" charset="-127"/>
                      </a:rPr>
                      <m:t>𝑃</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𝑋</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𝑥</m:t>
                    </m:r>
                    <m:r>
                      <a:rPr lang="en-US" altLang="ko-KR" sz="2000" i="1" kern="0" dirty="0" smtClean="0">
                        <a:latin typeface="Cambria Math" panose="02040503050406030204" pitchFamily="18" charset="0"/>
                        <a:ea typeface="굴림" pitchFamily="6" charset="-127"/>
                      </a:rPr>
                      <m:t>)=0</m:t>
                    </m:r>
                  </m:oMath>
                </a14:m>
                <a:endParaRPr lang="en-US" altLang="ko-KR" sz="2000" kern="0" dirty="0">
                  <a:ea typeface="굴림" pitchFamily="6" charset="-127"/>
                </a:endParaRPr>
              </a:p>
              <a:p>
                <a:pPr marL="98425" indent="0">
                  <a:spcBef>
                    <a:spcPts val="3024"/>
                  </a:spcBef>
                  <a:buNone/>
                  <a:defRPr/>
                </a:pPr>
                <a:r>
                  <a:rPr lang="en-US" altLang="ko-KR" sz="2000" kern="0" dirty="0">
                    <a:ea typeface="굴림" pitchFamily="6" charset="-127"/>
                  </a:rPr>
                  <a:t>Distribution given by </a:t>
                </a:r>
                <a:r>
                  <a:rPr lang="en-US" altLang="ko-KR" sz="2000" b="1" kern="0" dirty="0">
                    <a:ea typeface="굴림" pitchFamily="6" charset="-127"/>
                  </a:rPr>
                  <a:t>probability density function (pdf) </a:t>
                </a:r>
                <a14:m>
                  <m:oMath xmlns:m="http://schemas.openxmlformats.org/officeDocument/2006/math">
                    <m:r>
                      <a:rPr lang="en-US" altLang="ko-KR" sz="2000" i="1" kern="0" dirty="0" smtClean="0">
                        <a:solidFill>
                          <a:srgbClr val="0070C0"/>
                        </a:solidFill>
                        <a:latin typeface="Cambria Math" panose="02040503050406030204" pitchFamily="18" charset="0"/>
                        <a:ea typeface="굴림" pitchFamily="6" charset="-127"/>
                      </a:rPr>
                      <m:t>𝑝</m:t>
                    </m:r>
                    <m:d>
                      <m:dPr>
                        <m:ctrlPr>
                          <a:rPr lang="en-US" altLang="ko-KR" sz="2000" i="1" kern="0" dirty="0" smtClean="0">
                            <a:solidFill>
                              <a:srgbClr val="0070C0"/>
                            </a:solidFill>
                            <a:latin typeface="Cambria Math" panose="02040503050406030204" pitchFamily="18" charset="0"/>
                            <a:ea typeface="굴림" pitchFamily="6" charset="-127"/>
                          </a:rPr>
                        </m:ctrlPr>
                      </m:dPr>
                      <m:e>
                        <m:r>
                          <a:rPr lang="en-US" altLang="ko-KR" sz="2000" i="1" kern="0" dirty="0" smtClean="0">
                            <a:solidFill>
                              <a:srgbClr val="0070C0"/>
                            </a:solidFill>
                            <a:latin typeface="Cambria Math" panose="02040503050406030204" pitchFamily="18" charset="0"/>
                            <a:ea typeface="굴림" pitchFamily="6" charset="-127"/>
                          </a:rPr>
                          <m:t>𝑥</m:t>
                        </m:r>
                      </m:e>
                    </m:d>
                    <m:r>
                      <a:rPr lang="en-AU" altLang="ko-KR" sz="2000" i="1" kern="0" dirty="0">
                        <a:solidFill>
                          <a:srgbClr val="0070C0"/>
                        </a:solidFill>
                        <a:latin typeface="Cambria Math" panose="02040503050406030204" pitchFamily="18" charset="0"/>
                        <a:ea typeface="굴림" pitchFamily="6" charset="-127"/>
                      </a:rPr>
                      <m:t>≥</m:t>
                    </m:r>
                    <m:r>
                      <a:rPr lang="en-US" altLang="ko-KR" sz="2000" i="1" kern="0" dirty="0" smtClean="0">
                        <a:solidFill>
                          <a:srgbClr val="0070C0"/>
                        </a:solidFill>
                        <a:latin typeface="Cambria Math" panose="02040503050406030204" pitchFamily="18" charset="0"/>
                        <a:ea typeface="굴림" pitchFamily="6" charset="-127"/>
                      </a:rPr>
                      <m:t>0</m:t>
                    </m:r>
                  </m:oMath>
                </a14:m>
                <a:r>
                  <a:rPr lang="en-US" altLang="ko-KR" sz="2000" kern="0" dirty="0">
                    <a:ea typeface="굴림" pitchFamily="6" charset="-127"/>
                  </a:rPr>
                  <a:t> that describes probability of event </a:t>
                </a:r>
                <a14:m>
                  <m:oMath xmlns:m="http://schemas.openxmlformats.org/officeDocument/2006/math">
                    <m:r>
                      <a:rPr lang="en-AU" altLang="ko-KR" sz="2000" i="1" kern="0" dirty="0" smtClean="0">
                        <a:solidFill>
                          <a:srgbClr val="0070C0"/>
                        </a:solidFill>
                        <a:latin typeface="Cambria Math" panose="02040503050406030204" pitchFamily="18" charset="0"/>
                        <a:ea typeface="굴림" pitchFamily="6" charset="-127"/>
                      </a:rPr>
                      <m:t>𝑎</m:t>
                    </m:r>
                    <m:r>
                      <a:rPr lang="en-AU" altLang="ko-KR" sz="2000" i="1" kern="0" dirty="0" smtClean="0">
                        <a:solidFill>
                          <a:srgbClr val="0070C0"/>
                        </a:solidFill>
                        <a:latin typeface="Cambria Math" panose="02040503050406030204" pitchFamily="18" charset="0"/>
                        <a:ea typeface="Cambria Math" panose="02040503050406030204" pitchFamily="18" charset="0"/>
                      </a:rPr>
                      <m:t>≤</m:t>
                    </m:r>
                    <m:r>
                      <a:rPr lang="en-US" altLang="ko-KR" sz="2000" i="1" kern="0" dirty="0" smtClean="0">
                        <a:solidFill>
                          <a:srgbClr val="0070C0"/>
                        </a:solidFill>
                        <a:latin typeface="Cambria Math" panose="02040503050406030204" pitchFamily="18" charset="0"/>
                        <a:ea typeface="굴림" pitchFamily="6" charset="-127"/>
                      </a:rPr>
                      <m:t>𝑋</m:t>
                    </m:r>
                    <m:r>
                      <a:rPr lang="en-US" altLang="ko-KR" sz="2000" i="1" kern="0" dirty="0" smtClean="0">
                        <a:solidFill>
                          <a:srgbClr val="0070C0"/>
                        </a:solidFill>
                        <a:latin typeface="Cambria Math" panose="02040503050406030204" pitchFamily="18" charset="0"/>
                        <a:ea typeface="Cambria Math" panose="02040503050406030204" pitchFamily="18" charset="0"/>
                      </a:rPr>
                      <m:t>≤</m:t>
                    </m:r>
                    <m:r>
                      <a:rPr lang="en-AU" altLang="ko-KR" sz="2000" b="0" i="1" kern="0" dirty="0" smtClean="0">
                        <a:solidFill>
                          <a:srgbClr val="0070C0"/>
                        </a:solidFill>
                        <a:latin typeface="Cambria Math" panose="02040503050406030204" pitchFamily="18" charset="0"/>
                        <a:ea typeface="굴림" pitchFamily="6" charset="-127"/>
                      </a:rPr>
                      <m:t>𝑏</m:t>
                    </m:r>
                  </m:oMath>
                </a14:m>
                <a:r>
                  <a:rPr lang="en-US" altLang="ko-KR" sz="2000" kern="0" dirty="0">
                    <a:solidFill>
                      <a:srgbClr val="0070C0"/>
                    </a:solidFill>
                    <a:ea typeface="굴림" pitchFamily="6" charset="-127"/>
                  </a:rPr>
                  <a:t> </a:t>
                </a:r>
                <a:r>
                  <a:rPr lang="en-US" altLang="ko-KR" sz="2000" kern="0" dirty="0">
                    <a:ea typeface="굴림" pitchFamily="6" charset="-127"/>
                  </a:rPr>
                  <a:t>by integration</a:t>
                </a:r>
              </a:p>
              <a:p>
                <a:pPr marL="98425" indent="0">
                  <a:buNone/>
                  <a:defRPr/>
                </a:pPr>
                <a14:m>
                  <m:oMathPara xmlns:m="http://schemas.openxmlformats.org/officeDocument/2006/math">
                    <m:oMathParaPr>
                      <m:jc m:val="centerGroup"/>
                    </m:oMathParaPr>
                    <m:oMath xmlns:m="http://schemas.openxmlformats.org/officeDocument/2006/math">
                      <m:r>
                        <a:rPr lang="en-AU" altLang="ko-KR" sz="2000" b="0" i="1" kern="0" smtClean="0">
                          <a:solidFill>
                            <a:schemeClr val="tx1"/>
                          </a:solidFill>
                          <a:latin typeface="Cambria Math" panose="02040503050406030204" pitchFamily="18" charset="0"/>
                          <a:ea typeface="굴림" pitchFamily="6" charset="-127"/>
                        </a:rPr>
                        <m:t>𝑃</m:t>
                      </m:r>
                      <m:d>
                        <m:dPr>
                          <m:ctrlPr>
                            <a:rPr lang="en-AU" altLang="ko-KR" sz="2000" b="0" i="1" kern="0" smtClean="0">
                              <a:solidFill>
                                <a:schemeClr val="tx1"/>
                              </a:solidFill>
                              <a:latin typeface="Cambria Math" panose="02040503050406030204" pitchFamily="18" charset="0"/>
                              <a:ea typeface="굴림" pitchFamily="6" charset="-127"/>
                            </a:rPr>
                          </m:ctrlPr>
                        </m:dPr>
                        <m:e>
                          <m:r>
                            <a:rPr lang="en-AU" altLang="ko-KR" sz="2000" i="1" kern="0" dirty="0">
                              <a:solidFill>
                                <a:schemeClr val="tx1"/>
                              </a:solidFill>
                              <a:latin typeface="Cambria Math" panose="02040503050406030204" pitchFamily="18" charset="0"/>
                              <a:ea typeface="굴림" pitchFamily="6" charset="-127"/>
                            </a:rPr>
                            <m:t>𝑎</m:t>
                          </m:r>
                          <m:r>
                            <a:rPr lang="en-AU" altLang="ko-KR" sz="2000" i="1" kern="0" dirty="0">
                              <a:solidFill>
                                <a:schemeClr val="tx1"/>
                              </a:solidFill>
                              <a:latin typeface="Cambria Math" panose="02040503050406030204" pitchFamily="18" charset="0"/>
                              <a:ea typeface="Cambria Math" panose="02040503050406030204" pitchFamily="18" charset="0"/>
                            </a:rPr>
                            <m:t>≤</m:t>
                          </m:r>
                          <m:r>
                            <a:rPr lang="en-US" altLang="ko-KR" sz="2000" i="1" kern="0" dirty="0">
                              <a:solidFill>
                                <a:schemeClr val="tx1"/>
                              </a:solidFill>
                              <a:latin typeface="Cambria Math" panose="02040503050406030204" pitchFamily="18" charset="0"/>
                              <a:ea typeface="굴림" pitchFamily="6" charset="-127"/>
                            </a:rPr>
                            <m:t>𝑋</m:t>
                          </m:r>
                          <m:r>
                            <a:rPr lang="en-US" altLang="ko-KR" sz="2000" i="1" kern="0" dirty="0">
                              <a:solidFill>
                                <a:schemeClr val="tx1"/>
                              </a:solidFill>
                              <a:latin typeface="Cambria Math" panose="02040503050406030204" pitchFamily="18" charset="0"/>
                              <a:ea typeface="Cambria Math" panose="02040503050406030204" pitchFamily="18" charset="0"/>
                            </a:rPr>
                            <m:t>≤</m:t>
                          </m:r>
                          <m:r>
                            <a:rPr lang="en-AU" altLang="ko-KR" sz="2000" i="1" kern="0" dirty="0">
                              <a:solidFill>
                                <a:schemeClr val="tx1"/>
                              </a:solidFill>
                              <a:latin typeface="Cambria Math" panose="02040503050406030204" pitchFamily="18" charset="0"/>
                              <a:ea typeface="굴림" pitchFamily="6" charset="-127"/>
                            </a:rPr>
                            <m:t>𝑏</m:t>
                          </m:r>
                        </m:e>
                      </m:d>
                      <m:r>
                        <a:rPr lang="en-AU" altLang="ko-KR" sz="2000" b="0" i="1" kern="0" smtClean="0">
                          <a:solidFill>
                            <a:schemeClr val="tx1"/>
                          </a:solidFill>
                          <a:latin typeface="Cambria Math" panose="02040503050406030204" pitchFamily="18" charset="0"/>
                          <a:ea typeface="굴림" pitchFamily="6" charset="-127"/>
                        </a:rPr>
                        <m:t>=</m:t>
                      </m:r>
                      <m:nary>
                        <m:naryPr>
                          <m:ctrlPr>
                            <a:rPr lang="en-AU" altLang="ko-KR" sz="2000" i="1" kern="0">
                              <a:solidFill>
                                <a:schemeClr val="tx1"/>
                              </a:solidFill>
                              <a:latin typeface="Cambria Math" panose="02040503050406030204" pitchFamily="18" charset="0"/>
                              <a:ea typeface="굴림" pitchFamily="6" charset="-127"/>
                            </a:rPr>
                          </m:ctrlPr>
                        </m:naryPr>
                        <m:sub>
                          <m:r>
                            <a:rPr lang="en-AU" altLang="ko-KR" sz="2000" b="0" i="1" kern="0" smtClean="0">
                              <a:solidFill>
                                <a:schemeClr val="tx1"/>
                              </a:solidFill>
                              <a:latin typeface="Cambria Math" panose="02040503050406030204" pitchFamily="18" charset="0"/>
                              <a:ea typeface="Cambria Math" panose="02040503050406030204" pitchFamily="18" charset="0"/>
                            </a:rPr>
                            <m:t>𝑎</m:t>
                          </m:r>
                        </m:sub>
                        <m:sup>
                          <m:r>
                            <a:rPr lang="en-AU" altLang="ko-KR" sz="2000" b="0" i="1" kern="0" smtClean="0">
                              <a:solidFill>
                                <a:schemeClr val="tx1"/>
                              </a:solidFill>
                              <a:latin typeface="Cambria Math" panose="02040503050406030204" pitchFamily="18" charset="0"/>
                              <a:ea typeface="Cambria Math" panose="02040503050406030204" pitchFamily="18" charset="0"/>
                            </a:rPr>
                            <m:t>𝑏</m:t>
                          </m:r>
                        </m:sup>
                        <m:e>
                          <m:r>
                            <a:rPr lang="en-AU" altLang="ko-KR" sz="2000" i="1" kern="0" smtClean="0">
                              <a:solidFill>
                                <a:srgbClr val="0070C0"/>
                              </a:solidFill>
                              <a:latin typeface="Cambria Math" panose="02040503050406030204" pitchFamily="18" charset="0"/>
                              <a:ea typeface="굴림" pitchFamily="6" charset="-127"/>
                            </a:rPr>
                            <m:t>𝑝</m:t>
                          </m:r>
                          <m:d>
                            <m:dPr>
                              <m:ctrlPr>
                                <a:rPr lang="en-AU" altLang="ko-KR" sz="2000" i="1" kern="0">
                                  <a:solidFill>
                                    <a:srgbClr val="0070C0"/>
                                  </a:solidFill>
                                  <a:latin typeface="Cambria Math" panose="02040503050406030204" pitchFamily="18" charset="0"/>
                                  <a:ea typeface="굴림" pitchFamily="6" charset="-127"/>
                                </a:rPr>
                              </m:ctrlPr>
                            </m:dPr>
                            <m:e>
                              <m:r>
                                <a:rPr lang="en-AU" altLang="ko-KR" sz="2000" i="1" kern="0">
                                  <a:solidFill>
                                    <a:srgbClr val="0070C0"/>
                                  </a:solidFill>
                                  <a:latin typeface="Cambria Math" panose="02040503050406030204" pitchFamily="18" charset="0"/>
                                  <a:ea typeface="굴림" pitchFamily="6" charset="-127"/>
                                </a:rPr>
                                <m:t>𝑥</m:t>
                              </m:r>
                            </m:e>
                          </m:d>
                          <m:r>
                            <a:rPr lang="en-AU" altLang="ko-KR" sz="2000" i="1" kern="0">
                              <a:solidFill>
                                <a:schemeClr val="tx1"/>
                              </a:solidFill>
                              <a:latin typeface="Cambria Math" panose="02040503050406030204" pitchFamily="18" charset="0"/>
                              <a:ea typeface="굴림" pitchFamily="6" charset="-127"/>
                            </a:rPr>
                            <m:t>𝑑𝑥</m:t>
                          </m:r>
                        </m:e>
                      </m:nary>
                    </m:oMath>
                  </m:oMathPara>
                </a14:m>
                <a:endParaRPr lang="en-US" altLang="ko-KR" sz="2000" kern="0" dirty="0">
                  <a:ea typeface="굴림" pitchFamily="6" charset="-127"/>
                </a:endParaRPr>
              </a:p>
              <a:p>
                <a:pPr marL="98425" indent="0">
                  <a:buNone/>
                  <a:defRPr/>
                </a:pPr>
                <a:endParaRPr lang="en-US" altLang="ko-KR" sz="2000" kern="0" dirty="0">
                  <a:ea typeface="굴림" pitchFamily="6" charset="-127"/>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bwMode="auto">
              <a:xfrm>
                <a:off x="228600" y="1412875"/>
                <a:ext cx="8375848" cy="4495800"/>
              </a:xfrm>
              <a:prstGeom prst="rect">
                <a:avLst/>
              </a:prstGeom>
              <a:blipFill>
                <a:blip r:embed="rId3"/>
                <a:stretch>
                  <a:fillRect t="-5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1FBA98E-F7FF-014B-9288-006D3AE451B2}"/>
                  </a:ext>
                </a:extLst>
              </p:cNvPr>
              <p:cNvSpPr txBox="1"/>
              <p:nvPr/>
            </p:nvSpPr>
            <p:spPr>
              <a:xfrm>
                <a:off x="369540" y="3697404"/>
                <a:ext cx="4046984" cy="1908086"/>
              </a:xfrm>
              <a:prstGeom prst="rect">
                <a:avLst/>
              </a:prstGeom>
              <a:noFill/>
            </p:spPr>
            <p:txBody>
              <a:bodyPr wrap="square" rtlCol="0">
                <a:spAutoFit/>
              </a:bodyPr>
              <a:lstStyle/>
              <a:p>
                <a:r>
                  <a:rPr lang="en-US" altLang="ko-KR" sz="2000" b="1" kern="0" dirty="0"/>
                  <a:t>Example:</a:t>
                </a:r>
                <a:r>
                  <a:rPr lang="en-US" altLang="ko-KR" sz="2000" kern="0" dirty="0"/>
                  <a:t> time until you receive first email on random workday</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0" i="1" kern="0" smtClean="0">
                          <a:latin typeface="Cambria Math" panose="02040503050406030204" pitchFamily="18" charset="0"/>
                        </a:rPr>
                        <m:t>𝑝</m:t>
                      </m:r>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𝑥</m:t>
                          </m:r>
                        </m:e>
                      </m:d>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func>
                        <m:funcPr>
                          <m:ctrlPr>
                            <a:rPr lang="en-AU" sz="2000" b="0" i="1" kern="0" smtClean="0">
                              <a:latin typeface="Cambria Math" panose="02040503050406030204" pitchFamily="18" charset="0"/>
                            </a:rPr>
                          </m:ctrlPr>
                        </m:funcPr>
                        <m:fName>
                          <m:r>
                            <m:rPr>
                              <m:sty m:val="p"/>
                            </m:rPr>
                            <a:rPr lang="en-AU" sz="2000" b="0" i="0" kern="0" smtClean="0">
                              <a:latin typeface="Cambria Math" panose="02040503050406030204" pitchFamily="18" charset="0"/>
                            </a:rPr>
                            <m:t>exp</m:t>
                          </m:r>
                        </m:fName>
                        <m:e>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r>
                                <a:rPr lang="en-AU" sz="2000" b="0" i="1" kern="0" smtClean="0">
                                  <a:latin typeface="Cambria Math" panose="02040503050406030204" pitchFamily="18" charset="0"/>
                                </a:rPr>
                                <m:t>𝑥</m:t>
                              </m:r>
                            </m:e>
                          </m:d>
                        </m:e>
                      </m:func>
                    </m:oMath>
                  </m:oMathPara>
                </a14:m>
                <a:endParaRPr lang="en-AU" sz="2000" b="0" kern="0" dirty="0"/>
              </a:p>
              <a:p>
                <a:endParaRPr lang="en-US" sz="2000" kern="0" dirty="0"/>
              </a:p>
            </p:txBody>
          </p:sp>
        </mc:Choice>
        <mc:Fallback xmlns="">
          <p:sp>
            <p:nvSpPr>
              <p:cNvPr id="7" name="TextBox 6">
                <a:extLst>
                  <a:ext uri="{FF2B5EF4-FFF2-40B4-BE49-F238E27FC236}">
                    <a16:creationId xmlns:a16="http://schemas.microsoft.com/office/drawing/2014/main" id="{91FBA98E-F7FF-014B-9288-006D3AE451B2}"/>
                  </a:ext>
                </a:extLst>
              </p:cNvPr>
              <p:cNvSpPr txBox="1">
                <a:spLocks noRot="1" noChangeAspect="1" noMove="1" noResize="1" noEditPoints="1" noAdjustHandles="1" noChangeArrowheads="1" noChangeShapeType="1" noTextEdit="1"/>
              </p:cNvSpPr>
              <p:nvPr/>
            </p:nvSpPr>
            <p:spPr>
              <a:xfrm>
                <a:off x="369540" y="3697404"/>
                <a:ext cx="4046984" cy="1908086"/>
              </a:xfrm>
              <a:prstGeom prst="rect">
                <a:avLst/>
              </a:prstGeom>
              <a:blipFill>
                <a:blip r:embed="rId4"/>
                <a:stretch>
                  <a:fillRect l="-1567" t="-198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1809F39-9DB2-BD42-B5BB-ACBAC541EEFD}"/>
              </a:ext>
            </a:extLst>
          </p:cNvPr>
          <p:cNvPicPr>
            <a:picLocks noChangeAspect="1"/>
          </p:cNvPicPr>
          <p:nvPr/>
        </p:nvPicPr>
        <p:blipFill>
          <a:blip r:embed="rId5"/>
          <a:stretch>
            <a:fillRect/>
          </a:stretch>
        </p:blipFill>
        <p:spPr>
          <a:xfrm>
            <a:off x="4644008" y="3660775"/>
            <a:ext cx="3975100" cy="3009900"/>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AB4DBAF-1F05-764D-850D-7EF75F63F736}"/>
                  </a:ext>
                </a:extLst>
              </p:cNvPr>
              <p:cNvSpPr/>
              <p:nvPr/>
            </p:nvSpPr>
            <p:spPr>
              <a:xfrm>
                <a:off x="5868144" y="4365104"/>
                <a:ext cx="2262414" cy="404341"/>
              </a:xfrm>
              <a:prstGeom prst="rect">
                <a:avLst/>
              </a:prstGeom>
            </p:spPr>
            <p:txBody>
              <a:bodyPr wrap="none">
                <a:spAutoFit/>
              </a:bodyPr>
              <a:lstStyle/>
              <a:p>
                <a:r>
                  <a:rPr lang="en-US" altLang="ko-KR" kern="0" dirty="0"/>
                  <a:t>require </a:t>
                </a:r>
                <a14:m>
                  <m:oMath xmlns:m="http://schemas.openxmlformats.org/officeDocument/2006/math">
                    <m:nary>
                      <m:naryPr>
                        <m:ctrlPr>
                          <a:rPr lang="en-AU" altLang="ko-KR" i="1" kern="0">
                            <a:latin typeface="Cambria Math" panose="02040503050406030204" pitchFamily="18" charset="0"/>
                          </a:rPr>
                        </m:ctrlPr>
                      </m:naryPr>
                      <m:sub>
                        <m:r>
                          <m:rPr>
                            <m:brk m:alnAt="23"/>
                          </m:rPr>
                          <a:rPr lang="en-AU" altLang="ko-KR" i="1" kern="0">
                            <a:latin typeface="Cambria Math" panose="02040503050406030204" pitchFamily="18" charset="0"/>
                          </a:rPr>
                          <m:t>−</m:t>
                        </m:r>
                        <m:r>
                          <a:rPr lang="en-AU" altLang="ko-KR" i="1" kern="0">
                            <a:latin typeface="Cambria Math" panose="02040503050406030204" pitchFamily="18" charset="0"/>
                            <a:ea typeface="Cambria Math" panose="02040503050406030204" pitchFamily="18" charset="0"/>
                          </a:rPr>
                          <m:t>∞</m:t>
                        </m:r>
                      </m:sub>
                      <m:sup>
                        <m:r>
                          <a:rPr lang="en-AU" altLang="ko-KR" i="1" kern="0">
                            <a:latin typeface="Cambria Math" panose="02040503050406030204" pitchFamily="18" charset="0"/>
                            <a:ea typeface="Cambria Math" panose="02040503050406030204" pitchFamily="18" charset="0"/>
                          </a:rPr>
                          <m:t>∞</m:t>
                        </m:r>
                      </m:sup>
                      <m:e>
                        <m:r>
                          <a:rPr lang="en-AU" altLang="ko-KR" i="1" kern="0">
                            <a:solidFill>
                              <a:srgbClr val="0070C0"/>
                            </a:solidFill>
                            <a:latin typeface="Cambria Math" panose="02040503050406030204" pitchFamily="18" charset="0"/>
                          </a:rPr>
                          <m:t>𝑝</m:t>
                        </m:r>
                        <m:d>
                          <m:dPr>
                            <m:ctrlPr>
                              <a:rPr lang="en-AU" altLang="ko-KR" i="1" kern="0">
                                <a:solidFill>
                                  <a:srgbClr val="0070C0"/>
                                </a:solidFill>
                                <a:latin typeface="Cambria Math" panose="02040503050406030204" pitchFamily="18" charset="0"/>
                              </a:rPr>
                            </m:ctrlPr>
                          </m:dPr>
                          <m:e>
                            <m:r>
                              <a:rPr lang="en-AU" altLang="ko-KR" i="1" kern="0">
                                <a:solidFill>
                                  <a:srgbClr val="0070C0"/>
                                </a:solidFill>
                                <a:latin typeface="Cambria Math" panose="02040503050406030204" pitchFamily="18" charset="0"/>
                              </a:rPr>
                              <m:t>𝑥</m:t>
                            </m:r>
                          </m:e>
                        </m:d>
                        <m:r>
                          <a:rPr lang="en-AU" altLang="ko-KR" i="1" kern="0">
                            <a:latin typeface="Cambria Math" panose="02040503050406030204" pitchFamily="18" charset="0"/>
                          </a:rPr>
                          <m:t>𝑑𝑥</m:t>
                        </m:r>
                      </m:e>
                    </m:nary>
                    <m:r>
                      <a:rPr lang="en-AU" altLang="ko-KR" i="1" kern="0">
                        <a:latin typeface="Cambria Math" panose="02040503050406030204" pitchFamily="18" charset="0"/>
                      </a:rPr>
                      <m:t>=1</m:t>
                    </m:r>
                  </m:oMath>
                </a14:m>
                <a:endParaRPr lang="en-AU" dirty="0"/>
              </a:p>
            </p:txBody>
          </p:sp>
        </mc:Choice>
        <mc:Fallback xmlns="">
          <p:sp>
            <p:nvSpPr>
              <p:cNvPr id="2" name="Rectangle 1">
                <a:extLst>
                  <a:ext uri="{FF2B5EF4-FFF2-40B4-BE49-F238E27FC236}">
                    <a16:creationId xmlns:a16="http://schemas.microsoft.com/office/drawing/2014/main" id="{1AB4DBAF-1F05-764D-850D-7EF75F63F736}"/>
                  </a:ext>
                </a:extLst>
              </p:cNvPr>
              <p:cNvSpPr>
                <a:spLocks noRot="1" noChangeAspect="1" noMove="1" noResize="1" noEditPoints="1" noAdjustHandles="1" noChangeArrowheads="1" noChangeShapeType="1" noTextEdit="1"/>
              </p:cNvSpPr>
              <p:nvPr/>
            </p:nvSpPr>
            <p:spPr>
              <a:xfrm>
                <a:off x="5868144" y="4365104"/>
                <a:ext cx="2262414" cy="404341"/>
              </a:xfrm>
              <a:prstGeom prst="rect">
                <a:avLst/>
              </a:prstGeom>
              <a:blipFill>
                <a:blip r:embed="rId6"/>
                <a:stretch>
                  <a:fillRect l="-1117" t="-100000" b="-160606"/>
                </a:stretch>
              </a:blipFill>
            </p:spPr>
            <p:txBody>
              <a:bodyPr/>
              <a:lstStyle/>
              <a:p>
                <a:r>
                  <a:rPr lang="en-AU">
                    <a:noFill/>
                  </a:rPr>
                  <a:t> </a:t>
                </a:r>
              </a:p>
            </p:txBody>
          </p:sp>
        </mc:Fallback>
      </mc:AlternateContent>
      <p:cxnSp>
        <p:nvCxnSpPr>
          <p:cNvPr id="8" name="Straight Arrow Connector 7">
            <a:extLst>
              <a:ext uri="{FF2B5EF4-FFF2-40B4-BE49-F238E27FC236}">
                <a16:creationId xmlns:a16="http://schemas.microsoft.com/office/drawing/2014/main" id="{9F747BD6-9B77-374D-99B5-AFF07E86F811}"/>
              </a:ext>
            </a:extLst>
          </p:cNvPr>
          <p:cNvCxnSpPr>
            <a:cxnSpLocks/>
          </p:cNvCxnSpPr>
          <p:nvPr/>
        </p:nvCxnSpPr>
        <p:spPr>
          <a:xfrm flipH="1">
            <a:off x="6084168" y="4789785"/>
            <a:ext cx="720080" cy="969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57241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Continuous Random Variables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6" name="Content Placeholder 2"/>
              <p:cNvSpPr txBox="1">
                <a:spLocks noChangeArrowheads="1"/>
              </p:cNvSpPr>
              <p:nvPr/>
            </p:nvSpPr>
            <p:spPr bwMode="auto">
              <a:xfrm>
                <a:off x="228600" y="1412875"/>
                <a:ext cx="8375848" cy="4495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1325" indent="-3429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S PGothic" panose="020B0600070205080204" pitchFamily="34" charset="-128"/>
                    <a:cs typeface="+mn-cs"/>
                  </a:defRPr>
                </a:lvl1pPr>
                <a:lvl2pPr marL="906463" indent="-285750" algn="l" rtl="0" eaLnBrk="0" fontAlgn="base" hangingPunct="0">
                  <a:spcBef>
                    <a:spcPct val="20000"/>
                  </a:spcBef>
                  <a:spcAft>
                    <a:spcPct val="0"/>
                  </a:spcAft>
                  <a:buFont typeface="Wingdings" panose="05000000000000000000" pitchFamily="2" charset="2"/>
                  <a:buChar char="o"/>
                  <a:defRPr sz="2400">
                    <a:solidFill>
                      <a:schemeClr val="tx1"/>
                    </a:solidFill>
                    <a:latin typeface="+mn-lt"/>
                    <a:ea typeface="Arial" charset="0"/>
                    <a:cs typeface="+mn-cs"/>
                  </a:defRPr>
                </a:lvl2pPr>
                <a:lvl3pPr marL="131445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Arial" charset="0"/>
                    <a:cs typeface="+mn-cs"/>
                  </a:defRPr>
                </a:lvl3pPr>
                <a:lvl4pPr marL="1722438" indent="-228600" algn="l" rtl="0" eaLnBrk="0" fontAlgn="base" hangingPunct="0">
                  <a:spcBef>
                    <a:spcPct val="20000"/>
                  </a:spcBef>
                  <a:spcAft>
                    <a:spcPct val="0"/>
                  </a:spcAft>
                  <a:buFont typeface="Wingdings" panose="05000000000000000000" pitchFamily="2" charset="2"/>
                  <a:buChar char="Ø"/>
                  <a:defRPr sz="1600">
                    <a:solidFill>
                      <a:schemeClr val="tx1"/>
                    </a:solidFill>
                    <a:latin typeface="+mn-lt"/>
                    <a:ea typeface="MS PGothic" panose="020B0600070205080204" pitchFamily="34" charset="-128"/>
                    <a:cs typeface="Tahoma" charset="0"/>
                  </a:defRPr>
                </a:lvl4pPr>
                <a:lvl5pPr marL="2130425"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Arial" charset="0"/>
                    <a:ea typeface="MS PGothic" panose="020B0600070205080204" pitchFamily="34" charset="-128"/>
                    <a:cs typeface="Tahoma" charset="0"/>
                  </a:defRPr>
                </a:lvl5pPr>
                <a:lvl6pPr marL="25876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6pPr>
                <a:lvl7pPr marL="30448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7pPr>
                <a:lvl8pPr marL="35020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8pPr>
                <a:lvl9pPr marL="3959225" indent="-228600" algn="l" rtl="0" eaLnBrk="0" fontAlgn="base" hangingPunct="0">
                  <a:spcBef>
                    <a:spcPct val="20000"/>
                  </a:spcBef>
                  <a:spcAft>
                    <a:spcPct val="0"/>
                  </a:spcAft>
                  <a:buFont typeface="Wingdings" charset="0"/>
                  <a:buChar char="»"/>
                  <a:defRPr sz="2000">
                    <a:solidFill>
                      <a:schemeClr val="tx1"/>
                    </a:solidFill>
                    <a:latin typeface="Arial" charset="0"/>
                    <a:ea typeface="+mn-ea"/>
                    <a:cs typeface="Tahoma" charset="0"/>
                  </a:defRPr>
                </a:lvl9pPr>
              </a:lstStyle>
              <a:p>
                <a:pPr marL="98425" indent="0">
                  <a:buNone/>
                  <a:defRPr/>
                </a:pPr>
                <a:r>
                  <a:rPr lang="en-US" altLang="ko-KR" sz="2000" kern="0" dirty="0">
                    <a:solidFill>
                      <a:srgbClr val="0070C0"/>
                    </a:solidFill>
                    <a:ea typeface="굴림" pitchFamily="6" charset="-127"/>
                  </a:rPr>
                  <a:t>Continuous</a:t>
                </a:r>
                <a:r>
                  <a:rPr lang="en-US" altLang="ko-KR" sz="2000" kern="0" dirty="0">
                    <a:ea typeface="굴림" pitchFamily="6" charset="-127"/>
                  </a:rPr>
                  <a:t> random variables </a:t>
                </a:r>
                <a14:m>
                  <m:oMath xmlns:m="http://schemas.openxmlformats.org/officeDocument/2006/math">
                    <m:r>
                      <a:rPr lang="en-US" altLang="ko-KR" sz="2000" i="1" kern="0" dirty="0" smtClean="0">
                        <a:latin typeface="Cambria Math" panose="02040503050406030204" pitchFamily="18" charset="0"/>
                        <a:ea typeface="굴림" pitchFamily="6" charset="-127"/>
                      </a:rPr>
                      <m:t>𝑋</m:t>
                    </m:r>
                  </m:oMath>
                </a14:m>
                <a:r>
                  <a:rPr lang="en-US" altLang="ko-KR" sz="2000" kern="0" dirty="0">
                    <a:ea typeface="굴림" pitchFamily="6" charset="-127"/>
                  </a:rPr>
                  <a:t> with domain </a:t>
                </a:r>
                <a14:m>
                  <m:oMath xmlns:m="http://schemas.openxmlformats.org/officeDocument/2006/math">
                    <m:sSub>
                      <m:sSubPr>
                        <m:ctrlPr>
                          <a:rPr lang="en-AU" altLang="ko-KR" sz="2000" b="0" i="1" kern="0" smtClean="0">
                            <a:latin typeface="Cambria Math" panose="02040503050406030204" pitchFamily="18" charset="0"/>
                            <a:ea typeface="Cambria Math" panose="02040503050406030204" pitchFamily="18" charset="0"/>
                          </a:rPr>
                        </m:ctrlPr>
                      </m:sSubPr>
                      <m:e>
                        <m:r>
                          <a:rPr lang="en-AU" altLang="ko-KR" sz="2000" b="0" i="1" kern="0" smtClean="0">
                            <a:latin typeface="Cambria Math" panose="02040503050406030204" pitchFamily="18" charset="0"/>
                            <a:ea typeface="Cambria Math" panose="02040503050406030204" pitchFamily="18" charset="0"/>
                          </a:rPr>
                          <m:t>𝐷</m:t>
                        </m:r>
                      </m:e>
                      <m:sub>
                        <m:r>
                          <a:rPr lang="en-AU" altLang="ko-KR" sz="2000" b="0" i="1" kern="0" smtClean="0">
                            <a:latin typeface="Cambria Math" panose="02040503050406030204" pitchFamily="18" charset="0"/>
                            <a:ea typeface="Cambria Math" panose="02040503050406030204" pitchFamily="18" charset="0"/>
                          </a:rPr>
                          <m:t>𝑋</m:t>
                        </m:r>
                      </m:sub>
                    </m:sSub>
                    <m:r>
                      <a:rPr lang="en-AU" altLang="ko-KR" sz="2000" i="1" kern="0">
                        <a:latin typeface="Cambria Math" panose="02040503050406030204" pitchFamily="18" charset="0"/>
                        <a:ea typeface="Cambria Math" panose="02040503050406030204" pitchFamily="18" charset="0"/>
                      </a:rPr>
                      <m:t>⊆</m:t>
                    </m:r>
                    <m:r>
                      <a:rPr lang="en-US" altLang="ko-KR" sz="2000" i="1" kern="0" smtClean="0">
                        <a:latin typeface="Cambria Math" panose="02040503050406030204" pitchFamily="18" charset="0"/>
                        <a:ea typeface="Cambria Math" panose="02040503050406030204" pitchFamily="18" charset="0"/>
                      </a:rPr>
                      <m:t>ℝ</m:t>
                    </m:r>
                  </m:oMath>
                </a14:m>
                <a:r>
                  <a:rPr lang="en-US" altLang="ko-KR" sz="2000" kern="0" dirty="0">
                    <a:ea typeface="굴림" pitchFamily="6" charset="-127"/>
                  </a:rPr>
                  <a:t> and </a:t>
                </a:r>
                <a14:m>
                  <m:oMath xmlns:m="http://schemas.openxmlformats.org/officeDocument/2006/math">
                    <m:r>
                      <a:rPr lang="en-US" altLang="ko-KR" sz="2000" i="1" kern="0" dirty="0" smtClean="0">
                        <a:latin typeface="Cambria Math" panose="02040503050406030204" pitchFamily="18" charset="0"/>
                        <a:ea typeface="굴림" pitchFamily="6" charset="-127"/>
                      </a:rPr>
                      <m:t>𝑃</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𝑋</m:t>
                    </m:r>
                    <m:r>
                      <a:rPr lang="en-US" altLang="ko-KR" sz="2000" i="1" kern="0" dirty="0" smtClean="0">
                        <a:latin typeface="Cambria Math" panose="02040503050406030204" pitchFamily="18" charset="0"/>
                        <a:ea typeface="굴림" pitchFamily="6" charset="-127"/>
                      </a:rPr>
                      <m:t>=</m:t>
                    </m:r>
                    <m:r>
                      <a:rPr lang="en-US" altLang="ko-KR" sz="2000" i="1" kern="0" dirty="0" smtClean="0">
                        <a:latin typeface="Cambria Math" panose="02040503050406030204" pitchFamily="18" charset="0"/>
                        <a:ea typeface="굴림" pitchFamily="6" charset="-127"/>
                      </a:rPr>
                      <m:t>𝑥</m:t>
                    </m:r>
                    <m:r>
                      <a:rPr lang="en-US" altLang="ko-KR" sz="2000" i="1" kern="0" dirty="0" smtClean="0">
                        <a:latin typeface="Cambria Math" panose="02040503050406030204" pitchFamily="18" charset="0"/>
                        <a:ea typeface="굴림" pitchFamily="6" charset="-127"/>
                      </a:rPr>
                      <m:t>)=0</m:t>
                    </m:r>
                  </m:oMath>
                </a14:m>
                <a:endParaRPr lang="en-US" altLang="ko-KR" sz="2000" kern="0" dirty="0">
                  <a:ea typeface="굴림" pitchFamily="6" charset="-127"/>
                </a:endParaRPr>
              </a:p>
              <a:p>
                <a:pPr marL="98425" indent="0">
                  <a:spcBef>
                    <a:spcPts val="3024"/>
                  </a:spcBef>
                  <a:buNone/>
                  <a:defRPr/>
                </a:pPr>
                <a:r>
                  <a:rPr lang="en-US" altLang="ko-KR" sz="2000" kern="0" dirty="0">
                    <a:ea typeface="굴림" pitchFamily="6" charset="-127"/>
                  </a:rPr>
                  <a:t>Distribution given by </a:t>
                </a:r>
                <a:r>
                  <a:rPr lang="en-US" altLang="ko-KR" sz="2000" b="1" kern="0" dirty="0">
                    <a:ea typeface="굴림" pitchFamily="6" charset="-127"/>
                  </a:rPr>
                  <a:t>probability density function (pdf) </a:t>
                </a:r>
                <a14:m>
                  <m:oMath xmlns:m="http://schemas.openxmlformats.org/officeDocument/2006/math">
                    <m:r>
                      <a:rPr lang="en-US" altLang="ko-KR" sz="2000" i="1" kern="0" dirty="0" smtClean="0">
                        <a:solidFill>
                          <a:srgbClr val="0070C0"/>
                        </a:solidFill>
                        <a:latin typeface="Cambria Math" panose="02040503050406030204" pitchFamily="18" charset="0"/>
                        <a:ea typeface="굴림" pitchFamily="6" charset="-127"/>
                      </a:rPr>
                      <m:t>𝑝</m:t>
                    </m:r>
                    <m:d>
                      <m:dPr>
                        <m:ctrlPr>
                          <a:rPr lang="en-US" altLang="ko-KR" sz="2000" i="1" kern="0" dirty="0" smtClean="0">
                            <a:solidFill>
                              <a:srgbClr val="0070C0"/>
                            </a:solidFill>
                            <a:latin typeface="Cambria Math" panose="02040503050406030204" pitchFamily="18" charset="0"/>
                            <a:ea typeface="굴림" pitchFamily="6" charset="-127"/>
                          </a:rPr>
                        </m:ctrlPr>
                      </m:dPr>
                      <m:e>
                        <m:r>
                          <a:rPr lang="en-US" altLang="ko-KR" sz="2000" i="1" kern="0" dirty="0" smtClean="0">
                            <a:solidFill>
                              <a:srgbClr val="0070C0"/>
                            </a:solidFill>
                            <a:latin typeface="Cambria Math" panose="02040503050406030204" pitchFamily="18" charset="0"/>
                            <a:ea typeface="굴림" pitchFamily="6" charset="-127"/>
                          </a:rPr>
                          <m:t>𝑥</m:t>
                        </m:r>
                      </m:e>
                    </m:d>
                    <m:r>
                      <a:rPr lang="en-AU" altLang="ko-KR" sz="2000" i="1" kern="0" dirty="0">
                        <a:solidFill>
                          <a:srgbClr val="0070C0"/>
                        </a:solidFill>
                        <a:latin typeface="Cambria Math" panose="02040503050406030204" pitchFamily="18" charset="0"/>
                        <a:ea typeface="굴림" pitchFamily="6" charset="-127"/>
                      </a:rPr>
                      <m:t>≥</m:t>
                    </m:r>
                    <m:r>
                      <a:rPr lang="en-US" altLang="ko-KR" sz="2000" i="1" kern="0" dirty="0" smtClean="0">
                        <a:solidFill>
                          <a:srgbClr val="0070C0"/>
                        </a:solidFill>
                        <a:latin typeface="Cambria Math" panose="02040503050406030204" pitchFamily="18" charset="0"/>
                        <a:ea typeface="굴림" pitchFamily="6" charset="-127"/>
                      </a:rPr>
                      <m:t>0</m:t>
                    </m:r>
                  </m:oMath>
                </a14:m>
                <a:r>
                  <a:rPr lang="en-US" altLang="ko-KR" sz="2000" kern="0" dirty="0">
                    <a:ea typeface="굴림" pitchFamily="6" charset="-127"/>
                  </a:rPr>
                  <a:t> that describes probability of event </a:t>
                </a:r>
                <a14:m>
                  <m:oMath xmlns:m="http://schemas.openxmlformats.org/officeDocument/2006/math">
                    <m:r>
                      <a:rPr lang="en-AU" altLang="ko-KR" sz="2000" i="1" kern="0" dirty="0" smtClean="0">
                        <a:solidFill>
                          <a:srgbClr val="0070C0"/>
                        </a:solidFill>
                        <a:latin typeface="Cambria Math" panose="02040503050406030204" pitchFamily="18" charset="0"/>
                        <a:ea typeface="굴림" pitchFamily="6" charset="-127"/>
                      </a:rPr>
                      <m:t>𝑎</m:t>
                    </m:r>
                    <m:r>
                      <a:rPr lang="en-AU" altLang="ko-KR" sz="2000" i="1" kern="0" dirty="0" smtClean="0">
                        <a:solidFill>
                          <a:srgbClr val="0070C0"/>
                        </a:solidFill>
                        <a:latin typeface="Cambria Math" panose="02040503050406030204" pitchFamily="18" charset="0"/>
                        <a:ea typeface="Cambria Math" panose="02040503050406030204" pitchFamily="18" charset="0"/>
                      </a:rPr>
                      <m:t>≤</m:t>
                    </m:r>
                    <m:r>
                      <a:rPr lang="en-US" altLang="ko-KR" sz="2000" i="1" kern="0" dirty="0" smtClean="0">
                        <a:solidFill>
                          <a:srgbClr val="0070C0"/>
                        </a:solidFill>
                        <a:latin typeface="Cambria Math" panose="02040503050406030204" pitchFamily="18" charset="0"/>
                        <a:ea typeface="굴림" pitchFamily="6" charset="-127"/>
                      </a:rPr>
                      <m:t>𝑋</m:t>
                    </m:r>
                    <m:r>
                      <a:rPr lang="en-US" altLang="ko-KR" sz="2000" i="1" kern="0" dirty="0" smtClean="0">
                        <a:solidFill>
                          <a:srgbClr val="0070C0"/>
                        </a:solidFill>
                        <a:latin typeface="Cambria Math" panose="02040503050406030204" pitchFamily="18" charset="0"/>
                        <a:ea typeface="Cambria Math" panose="02040503050406030204" pitchFamily="18" charset="0"/>
                      </a:rPr>
                      <m:t>≤</m:t>
                    </m:r>
                    <m:r>
                      <a:rPr lang="en-AU" altLang="ko-KR" sz="2000" b="0" i="1" kern="0" dirty="0" smtClean="0">
                        <a:solidFill>
                          <a:srgbClr val="0070C0"/>
                        </a:solidFill>
                        <a:latin typeface="Cambria Math" panose="02040503050406030204" pitchFamily="18" charset="0"/>
                        <a:ea typeface="굴림" pitchFamily="6" charset="-127"/>
                      </a:rPr>
                      <m:t>𝑏</m:t>
                    </m:r>
                  </m:oMath>
                </a14:m>
                <a:r>
                  <a:rPr lang="en-US" altLang="ko-KR" sz="2000" kern="0" dirty="0">
                    <a:solidFill>
                      <a:srgbClr val="0070C0"/>
                    </a:solidFill>
                    <a:ea typeface="굴림" pitchFamily="6" charset="-127"/>
                  </a:rPr>
                  <a:t> </a:t>
                </a:r>
                <a:r>
                  <a:rPr lang="en-US" altLang="ko-KR" sz="2000" kern="0" dirty="0">
                    <a:ea typeface="굴림" pitchFamily="6" charset="-127"/>
                  </a:rPr>
                  <a:t>by integration</a:t>
                </a:r>
              </a:p>
              <a:p>
                <a:pPr marL="98425" indent="0">
                  <a:buNone/>
                  <a:defRPr/>
                </a:pPr>
                <a14:m>
                  <m:oMathPara xmlns:m="http://schemas.openxmlformats.org/officeDocument/2006/math">
                    <m:oMathParaPr>
                      <m:jc m:val="centerGroup"/>
                    </m:oMathParaPr>
                    <m:oMath xmlns:m="http://schemas.openxmlformats.org/officeDocument/2006/math">
                      <m:r>
                        <a:rPr lang="en-AU" altLang="ko-KR" sz="2000" b="0" i="1" kern="0" smtClean="0">
                          <a:solidFill>
                            <a:schemeClr val="tx1"/>
                          </a:solidFill>
                          <a:latin typeface="Cambria Math" panose="02040503050406030204" pitchFamily="18" charset="0"/>
                          <a:ea typeface="굴림" pitchFamily="6" charset="-127"/>
                        </a:rPr>
                        <m:t>𝑃</m:t>
                      </m:r>
                      <m:d>
                        <m:dPr>
                          <m:ctrlPr>
                            <a:rPr lang="en-AU" altLang="ko-KR" sz="2000" b="0" i="1" kern="0" smtClean="0">
                              <a:solidFill>
                                <a:schemeClr val="tx1"/>
                              </a:solidFill>
                              <a:latin typeface="Cambria Math" panose="02040503050406030204" pitchFamily="18" charset="0"/>
                              <a:ea typeface="굴림" pitchFamily="6" charset="-127"/>
                            </a:rPr>
                          </m:ctrlPr>
                        </m:dPr>
                        <m:e>
                          <m:r>
                            <a:rPr lang="en-AU" altLang="ko-KR" sz="2000" i="1" kern="0" dirty="0">
                              <a:solidFill>
                                <a:schemeClr val="tx1"/>
                              </a:solidFill>
                              <a:latin typeface="Cambria Math" panose="02040503050406030204" pitchFamily="18" charset="0"/>
                              <a:ea typeface="굴림" pitchFamily="6" charset="-127"/>
                            </a:rPr>
                            <m:t>𝑎</m:t>
                          </m:r>
                          <m:r>
                            <a:rPr lang="en-AU" altLang="ko-KR" sz="2000" i="1" kern="0" dirty="0">
                              <a:solidFill>
                                <a:schemeClr val="tx1"/>
                              </a:solidFill>
                              <a:latin typeface="Cambria Math" panose="02040503050406030204" pitchFamily="18" charset="0"/>
                              <a:ea typeface="Cambria Math" panose="02040503050406030204" pitchFamily="18" charset="0"/>
                            </a:rPr>
                            <m:t>≤</m:t>
                          </m:r>
                          <m:r>
                            <a:rPr lang="en-US" altLang="ko-KR" sz="2000" i="1" kern="0" dirty="0">
                              <a:solidFill>
                                <a:schemeClr val="tx1"/>
                              </a:solidFill>
                              <a:latin typeface="Cambria Math" panose="02040503050406030204" pitchFamily="18" charset="0"/>
                              <a:ea typeface="굴림" pitchFamily="6" charset="-127"/>
                            </a:rPr>
                            <m:t>𝑋</m:t>
                          </m:r>
                          <m:r>
                            <a:rPr lang="en-US" altLang="ko-KR" sz="2000" i="1" kern="0" dirty="0">
                              <a:solidFill>
                                <a:schemeClr val="tx1"/>
                              </a:solidFill>
                              <a:latin typeface="Cambria Math" panose="02040503050406030204" pitchFamily="18" charset="0"/>
                              <a:ea typeface="Cambria Math" panose="02040503050406030204" pitchFamily="18" charset="0"/>
                            </a:rPr>
                            <m:t>≤</m:t>
                          </m:r>
                          <m:r>
                            <a:rPr lang="en-AU" altLang="ko-KR" sz="2000" i="1" kern="0" dirty="0">
                              <a:solidFill>
                                <a:schemeClr val="tx1"/>
                              </a:solidFill>
                              <a:latin typeface="Cambria Math" panose="02040503050406030204" pitchFamily="18" charset="0"/>
                              <a:ea typeface="굴림" pitchFamily="6" charset="-127"/>
                            </a:rPr>
                            <m:t>𝑏</m:t>
                          </m:r>
                        </m:e>
                      </m:d>
                      <m:r>
                        <a:rPr lang="en-AU" altLang="ko-KR" sz="2000" b="0" i="1" kern="0" smtClean="0">
                          <a:solidFill>
                            <a:schemeClr val="tx1"/>
                          </a:solidFill>
                          <a:latin typeface="Cambria Math" panose="02040503050406030204" pitchFamily="18" charset="0"/>
                          <a:ea typeface="굴림" pitchFamily="6" charset="-127"/>
                        </a:rPr>
                        <m:t>=</m:t>
                      </m:r>
                      <m:nary>
                        <m:naryPr>
                          <m:ctrlPr>
                            <a:rPr lang="en-AU" altLang="ko-KR" sz="2000" i="1" kern="0">
                              <a:solidFill>
                                <a:schemeClr val="tx1"/>
                              </a:solidFill>
                              <a:latin typeface="Cambria Math" panose="02040503050406030204" pitchFamily="18" charset="0"/>
                              <a:ea typeface="굴림" pitchFamily="6" charset="-127"/>
                            </a:rPr>
                          </m:ctrlPr>
                        </m:naryPr>
                        <m:sub>
                          <m:r>
                            <a:rPr lang="en-AU" altLang="ko-KR" sz="2000" b="0" i="1" kern="0" smtClean="0">
                              <a:solidFill>
                                <a:schemeClr val="tx1"/>
                              </a:solidFill>
                              <a:latin typeface="Cambria Math" panose="02040503050406030204" pitchFamily="18" charset="0"/>
                              <a:ea typeface="Cambria Math" panose="02040503050406030204" pitchFamily="18" charset="0"/>
                            </a:rPr>
                            <m:t>𝑎</m:t>
                          </m:r>
                        </m:sub>
                        <m:sup>
                          <m:r>
                            <a:rPr lang="en-AU" altLang="ko-KR" sz="2000" b="0" i="1" kern="0" smtClean="0">
                              <a:solidFill>
                                <a:schemeClr val="tx1"/>
                              </a:solidFill>
                              <a:latin typeface="Cambria Math" panose="02040503050406030204" pitchFamily="18" charset="0"/>
                              <a:ea typeface="Cambria Math" panose="02040503050406030204" pitchFamily="18" charset="0"/>
                            </a:rPr>
                            <m:t>𝑏</m:t>
                          </m:r>
                        </m:sup>
                        <m:e>
                          <m:r>
                            <a:rPr lang="en-AU" altLang="ko-KR" sz="2000" i="1" kern="0" smtClean="0">
                              <a:solidFill>
                                <a:srgbClr val="0070C0"/>
                              </a:solidFill>
                              <a:latin typeface="Cambria Math" panose="02040503050406030204" pitchFamily="18" charset="0"/>
                              <a:ea typeface="굴림" pitchFamily="6" charset="-127"/>
                            </a:rPr>
                            <m:t>𝑝</m:t>
                          </m:r>
                          <m:d>
                            <m:dPr>
                              <m:ctrlPr>
                                <a:rPr lang="en-AU" altLang="ko-KR" sz="2000" i="1" kern="0">
                                  <a:solidFill>
                                    <a:srgbClr val="0070C0"/>
                                  </a:solidFill>
                                  <a:latin typeface="Cambria Math" panose="02040503050406030204" pitchFamily="18" charset="0"/>
                                  <a:ea typeface="굴림" pitchFamily="6" charset="-127"/>
                                </a:rPr>
                              </m:ctrlPr>
                            </m:dPr>
                            <m:e>
                              <m:r>
                                <a:rPr lang="en-AU" altLang="ko-KR" sz="2000" i="1" kern="0">
                                  <a:solidFill>
                                    <a:srgbClr val="0070C0"/>
                                  </a:solidFill>
                                  <a:latin typeface="Cambria Math" panose="02040503050406030204" pitchFamily="18" charset="0"/>
                                  <a:ea typeface="굴림" pitchFamily="6" charset="-127"/>
                                </a:rPr>
                                <m:t>𝑥</m:t>
                              </m:r>
                            </m:e>
                          </m:d>
                          <m:r>
                            <a:rPr lang="en-AU" altLang="ko-KR" sz="2000" i="1" kern="0">
                              <a:solidFill>
                                <a:schemeClr val="tx1"/>
                              </a:solidFill>
                              <a:latin typeface="Cambria Math" panose="02040503050406030204" pitchFamily="18" charset="0"/>
                              <a:ea typeface="굴림" pitchFamily="6" charset="-127"/>
                            </a:rPr>
                            <m:t>𝑑𝑥</m:t>
                          </m:r>
                        </m:e>
                      </m:nary>
                    </m:oMath>
                  </m:oMathPara>
                </a14:m>
                <a:endParaRPr lang="en-US" altLang="ko-KR" sz="2000" kern="0" dirty="0">
                  <a:ea typeface="굴림" pitchFamily="6" charset="-127"/>
                </a:endParaRPr>
              </a:p>
              <a:p>
                <a:pPr marL="98425" indent="0">
                  <a:buNone/>
                  <a:defRPr/>
                </a:pPr>
                <a:endParaRPr lang="en-US" altLang="ko-KR" sz="2000" kern="0" dirty="0">
                  <a:ea typeface="굴림" pitchFamily="6" charset="-127"/>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bwMode="auto">
              <a:xfrm>
                <a:off x="228600" y="1412875"/>
                <a:ext cx="8375848" cy="4495800"/>
              </a:xfrm>
              <a:prstGeom prst="rect">
                <a:avLst/>
              </a:prstGeom>
              <a:blipFill>
                <a:blip r:embed="rId3"/>
                <a:stretch>
                  <a:fillRect t="-5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1FBA98E-F7FF-014B-9288-006D3AE451B2}"/>
                  </a:ext>
                </a:extLst>
              </p:cNvPr>
              <p:cNvSpPr txBox="1"/>
              <p:nvPr/>
            </p:nvSpPr>
            <p:spPr>
              <a:xfrm>
                <a:off x="369540" y="3697404"/>
                <a:ext cx="4046984" cy="1908086"/>
              </a:xfrm>
              <a:prstGeom prst="rect">
                <a:avLst/>
              </a:prstGeom>
              <a:noFill/>
            </p:spPr>
            <p:txBody>
              <a:bodyPr wrap="square" rtlCol="0">
                <a:spAutoFit/>
              </a:bodyPr>
              <a:lstStyle/>
              <a:p>
                <a:r>
                  <a:rPr lang="en-US" altLang="ko-KR" sz="2000" b="1" kern="0" dirty="0"/>
                  <a:t>Example:</a:t>
                </a:r>
                <a:r>
                  <a:rPr lang="en-US" altLang="ko-KR" sz="2000" kern="0" dirty="0"/>
                  <a:t> time until you receive first email on random workday</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0" i="1" kern="0" smtClean="0">
                          <a:latin typeface="Cambria Math" panose="02040503050406030204" pitchFamily="18" charset="0"/>
                        </a:rPr>
                        <m:t>𝑝</m:t>
                      </m:r>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𝑥</m:t>
                          </m:r>
                        </m:e>
                      </m:d>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func>
                        <m:funcPr>
                          <m:ctrlPr>
                            <a:rPr lang="en-AU" sz="2000" b="0" i="1" kern="0" smtClean="0">
                              <a:latin typeface="Cambria Math" panose="02040503050406030204" pitchFamily="18" charset="0"/>
                            </a:rPr>
                          </m:ctrlPr>
                        </m:funcPr>
                        <m:fName>
                          <m:r>
                            <m:rPr>
                              <m:sty m:val="p"/>
                            </m:rPr>
                            <a:rPr lang="en-AU" sz="2000" b="0" i="0" kern="0" smtClean="0">
                              <a:latin typeface="Cambria Math" panose="02040503050406030204" pitchFamily="18" charset="0"/>
                            </a:rPr>
                            <m:t>exp</m:t>
                          </m:r>
                        </m:fName>
                        <m:e>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r>
                                <a:rPr lang="en-AU" sz="2000" b="0" i="1" kern="0" smtClean="0">
                                  <a:latin typeface="Cambria Math" panose="02040503050406030204" pitchFamily="18" charset="0"/>
                                </a:rPr>
                                <m:t>𝑥</m:t>
                              </m:r>
                            </m:e>
                          </m:d>
                        </m:e>
                      </m:func>
                    </m:oMath>
                  </m:oMathPara>
                </a14:m>
                <a:endParaRPr lang="en-AU" sz="2000" b="0" kern="0" dirty="0"/>
              </a:p>
              <a:p>
                <a:endParaRPr lang="en-US" sz="2000" kern="0" dirty="0"/>
              </a:p>
            </p:txBody>
          </p:sp>
        </mc:Choice>
        <mc:Fallback xmlns="">
          <p:sp>
            <p:nvSpPr>
              <p:cNvPr id="7" name="TextBox 6">
                <a:extLst>
                  <a:ext uri="{FF2B5EF4-FFF2-40B4-BE49-F238E27FC236}">
                    <a16:creationId xmlns:a16="http://schemas.microsoft.com/office/drawing/2014/main" id="{91FBA98E-F7FF-014B-9288-006D3AE451B2}"/>
                  </a:ext>
                </a:extLst>
              </p:cNvPr>
              <p:cNvSpPr txBox="1">
                <a:spLocks noRot="1" noChangeAspect="1" noMove="1" noResize="1" noEditPoints="1" noAdjustHandles="1" noChangeArrowheads="1" noChangeShapeType="1" noTextEdit="1"/>
              </p:cNvSpPr>
              <p:nvPr/>
            </p:nvSpPr>
            <p:spPr>
              <a:xfrm>
                <a:off x="369540" y="3697404"/>
                <a:ext cx="4046984" cy="1908086"/>
              </a:xfrm>
              <a:prstGeom prst="rect">
                <a:avLst/>
              </a:prstGeom>
              <a:blipFill>
                <a:blip r:embed="rId4"/>
                <a:stretch>
                  <a:fillRect l="-1567" t="-198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1809F39-9DB2-BD42-B5BB-ACBAC541EEFD}"/>
              </a:ext>
            </a:extLst>
          </p:cNvPr>
          <p:cNvPicPr>
            <a:picLocks noChangeAspect="1"/>
          </p:cNvPicPr>
          <p:nvPr/>
        </p:nvPicPr>
        <p:blipFill>
          <a:blip r:embed="rId5"/>
          <a:stretch>
            <a:fillRect/>
          </a:stretch>
        </p:blipFill>
        <p:spPr>
          <a:xfrm>
            <a:off x="4644008" y="3660775"/>
            <a:ext cx="3975100" cy="3009900"/>
          </a:xfrm>
          <a:prstGeom prst="rect">
            <a:avLst/>
          </a:prstGeom>
        </p:spPr>
      </p:pic>
      <p:sp>
        <p:nvSpPr>
          <p:cNvPr id="2" name="Rectangle 1">
            <a:extLst>
              <a:ext uri="{FF2B5EF4-FFF2-40B4-BE49-F238E27FC236}">
                <a16:creationId xmlns:a16="http://schemas.microsoft.com/office/drawing/2014/main" id="{1AB4DBAF-1F05-764D-850D-7EF75F63F736}"/>
              </a:ext>
            </a:extLst>
          </p:cNvPr>
          <p:cNvSpPr/>
          <p:nvPr/>
        </p:nvSpPr>
        <p:spPr>
          <a:xfrm>
            <a:off x="6244266" y="3793393"/>
            <a:ext cx="2272091" cy="1815882"/>
          </a:xfrm>
          <a:prstGeom prst="rect">
            <a:avLst/>
          </a:prstGeom>
        </p:spPr>
        <p:txBody>
          <a:bodyPr wrap="square">
            <a:spAutoFit/>
          </a:bodyPr>
          <a:lstStyle/>
          <a:p>
            <a:r>
              <a:rPr lang="en-AU" altLang="ko-KR" b="1" kern="0" dirty="0"/>
              <a:t>Attention:</a:t>
            </a:r>
            <a:r>
              <a:rPr lang="en-AU" altLang="ko-KR" kern="0" dirty="0"/>
              <a:t> densities are </a:t>
            </a:r>
            <a:r>
              <a:rPr lang="en-AU" altLang="ko-KR" i="1" kern="0" dirty="0"/>
              <a:t>not</a:t>
            </a:r>
            <a:r>
              <a:rPr lang="en-AU" altLang="ko-KR" kern="0" dirty="0"/>
              <a:t> probabilities, e.g., not bounded by 1</a:t>
            </a:r>
          </a:p>
          <a:p>
            <a:endParaRPr lang="en-AU" kern="0" dirty="0"/>
          </a:p>
          <a:p>
            <a:r>
              <a:rPr lang="en-AU" kern="0" dirty="0"/>
              <a:t>…but can often be used like probabilities (e.g., Bayes’ theorem)</a:t>
            </a:r>
            <a:endParaRPr lang="en-AU" dirty="0"/>
          </a:p>
        </p:txBody>
      </p:sp>
      <p:cxnSp>
        <p:nvCxnSpPr>
          <p:cNvPr id="8" name="Straight Arrow Connector 7">
            <a:extLst>
              <a:ext uri="{FF2B5EF4-FFF2-40B4-BE49-F238E27FC236}">
                <a16:creationId xmlns:a16="http://schemas.microsoft.com/office/drawing/2014/main" id="{9F747BD6-9B77-374D-99B5-AFF07E86F811}"/>
              </a:ext>
            </a:extLst>
          </p:cNvPr>
          <p:cNvCxnSpPr>
            <a:cxnSpLocks/>
          </p:cNvCxnSpPr>
          <p:nvPr/>
        </p:nvCxnSpPr>
        <p:spPr>
          <a:xfrm flipH="1" flipV="1">
            <a:off x="5436098" y="4152039"/>
            <a:ext cx="808168" cy="1410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0418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Expected (Mean) Values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21C93F-EB0B-B543-BFEB-6EC95DE5452F}"/>
                  </a:ext>
                </a:extLst>
              </p:cNvPr>
              <p:cNvSpPr txBox="1"/>
              <p:nvPr/>
            </p:nvSpPr>
            <p:spPr>
              <a:xfrm>
                <a:off x="369540" y="3697404"/>
                <a:ext cx="4046984" cy="1908086"/>
              </a:xfrm>
              <a:prstGeom prst="rect">
                <a:avLst/>
              </a:prstGeom>
              <a:noFill/>
            </p:spPr>
            <p:txBody>
              <a:bodyPr wrap="square" rtlCol="0">
                <a:spAutoFit/>
              </a:bodyPr>
              <a:lstStyle/>
              <a:p>
                <a:r>
                  <a:rPr lang="en-US" altLang="ko-KR" sz="2000" b="1" kern="0" dirty="0"/>
                  <a:t>Question:</a:t>
                </a:r>
                <a:r>
                  <a:rPr lang="en-US" altLang="ko-KR" sz="2000" kern="0" dirty="0"/>
                  <a:t> when do I receive my first email “on average”</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0" i="1" kern="0" smtClean="0">
                          <a:latin typeface="Cambria Math" panose="02040503050406030204" pitchFamily="18" charset="0"/>
                        </a:rPr>
                        <m:t>𝑝</m:t>
                      </m:r>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𝑥</m:t>
                          </m:r>
                        </m:e>
                      </m:d>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func>
                        <m:funcPr>
                          <m:ctrlPr>
                            <a:rPr lang="en-AU" sz="2000" b="0" i="1" kern="0" smtClean="0">
                              <a:latin typeface="Cambria Math" panose="02040503050406030204" pitchFamily="18" charset="0"/>
                            </a:rPr>
                          </m:ctrlPr>
                        </m:funcPr>
                        <m:fName>
                          <m:r>
                            <m:rPr>
                              <m:sty m:val="p"/>
                            </m:rPr>
                            <a:rPr lang="en-AU" sz="2000" b="0" i="0" kern="0" smtClean="0">
                              <a:latin typeface="Cambria Math" panose="02040503050406030204" pitchFamily="18" charset="0"/>
                            </a:rPr>
                            <m:t>exp</m:t>
                          </m:r>
                        </m:fName>
                        <m:e>
                          <m:d>
                            <m:dPr>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3</m:t>
                                  </m:r>
                                </m:num>
                                <m:den>
                                  <m:r>
                                    <a:rPr lang="en-AU" sz="2000" b="0" i="1" kern="0" smtClean="0">
                                      <a:latin typeface="Cambria Math" panose="02040503050406030204" pitchFamily="18" charset="0"/>
                                    </a:rPr>
                                    <m:t>2</m:t>
                                  </m:r>
                                </m:den>
                              </m:f>
                              <m:r>
                                <a:rPr lang="en-AU" sz="2000" b="0" i="1" kern="0" smtClean="0">
                                  <a:latin typeface="Cambria Math" panose="02040503050406030204" pitchFamily="18" charset="0"/>
                                </a:rPr>
                                <m:t>𝑥</m:t>
                              </m:r>
                            </m:e>
                          </m:d>
                        </m:e>
                      </m:func>
                    </m:oMath>
                  </m:oMathPara>
                </a14:m>
                <a:endParaRPr lang="en-AU" sz="2000" b="0" kern="0" dirty="0"/>
              </a:p>
              <a:p>
                <a:endParaRPr lang="en-US" sz="2000" kern="0" dirty="0"/>
              </a:p>
            </p:txBody>
          </p:sp>
        </mc:Choice>
        <mc:Fallback xmlns="">
          <p:sp>
            <p:nvSpPr>
              <p:cNvPr id="5" name="TextBox 4">
                <a:extLst>
                  <a:ext uri="{FF2B5EF4-FFF2-40B4-BE49-F238E27FC236}">
                    <a16:creationId xmlns:a16="http://schemas.microsoft.com/office/drawing/2014/main" id="{9721C93F-EB0B-B543-BFEB-6EC95DE5452F}"/>
                  </a:ext>
                </a:extLst>
              </p:cNvPr>
              <p:cNvSpPr txBox="1">
                <a:spLocks noRot="1" noChangeAspect="1" noMove="1" noResize="1" noEditPoints="1" noAdjustHandles="1" noChangeArrowheads="1" noChangeShapeType="1" noTextEdit="1"/>
              </p:cNvSpPr>
              <p:nvPr/>
            </p:nvSpPr>
            <p:spPr>
              <a:xfrm>
                <a:off x="369540" y="3697404"/>
                <a:ext cx="4046984" cy="1908086"/>
              </a:xfrm>
              <a:prstGeom prst="rect">
                <a:avLst/>
              </a:prstGeom>
              <a:blipFill>
                <a:blip r:embed="rId4"/>
                <a:stretch>
                  <a:fillRect l="-1250" t="-1325" r="-312"/>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CAB4B716-6FE5-E147-A168-0940620C71F1}"/>
              </a:ext>
            </a:extLst>
          </p:cNvPr>
          <p:cNvPicPr>
            <a:picLocks noChangeAspect="1"/>
          </p:cNvPicPr>
          <p:nvPr/>
        </p:nvPicPr>
        <p:blipFill>
          <a:blip r:embed="rId5"/>
          <a:stretch>
            <a:fillRect/>
          </a:stretch>
        </p:blipFill>
        <p:spPr>
          <a:xfrm>
            <a:off x="4644008" y="3660775"/>
            <a:ext cx="3975100" cy="3009900"/>
          </a:xfrm>
          <a:prstGeom prst="rect">
            <a:avLst/>
          </a:prstGeom>
        </p:spPr>
      </p:pic>
      <p:grpSp>
        <p:nvGrpSpPr>
          <p:cNvPr id="13" name="Group 12">
            <a:extLst>
              <a:ext uri="{FF2B5EF4-FFF2-40B4-BE49-F238E27FC236}">
                <a16:creationId xmlns:a16="http://schemas.microsoft.com/office/drawing/2014/main" id="{FE23C69C-C0CD-357D-FCBC-3178F4621C17}"/>
              </a:ext>
            </a:extLst>
          </p:cNvPr>
          <p:cNvGrpSpPr/>
          <p:nvPr/>
        </p:nvGrpSpPr>
        <p:grpSpPr>
          <a:xfrm>
            <a:off x="6012160" y="3789040"/>
            <a:ext cx="2161689" cy="2389510"/>
            <a:chOff x="6012160" y="3789040"/>
            <a:chExt cx="2161689" cy="238951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871DC2C-D4FD-4343-8C33-1A1DAC76ECA9}"/>
                    </a:ext>
                  </a:extLst>
                </p:cNvPr>
                <p:cNvSpPr/>
                <p:nvPr/>
              </p:nvSpPr>
              <p:spPr>
                <a:xfrm>
                  <a:off x="6444208" y="4026339"/>
                  <a:ext cx="1729641" cy="6251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trlPr>
                              <a:rPr lang="en-AU" altLang="ko-KR" i="1" kern="0">
                                <a:latin typeface="Cambria Math" panose="02040503050406030204" pitchFamily="18" charset="0"/>
                              </a:rPr>
                            </m:ctrlPr>
                          </m:naryPr>
                          <m:sub>
                            <m:r>
                              <a:rPr lang="en-AU" altLang="ko-KR" b="0" i="1" kern="0" smtClean="0">
                                <a:latin typeface="Cambria Math" panose="02040503050406030204" pitchFamily="18" charset="0"/>
                              </a:rPr>
                              <m:t>0</m:t>
                            </m:r>
                          </m:sub>
                          <m:sup>
                            <m:r>
                              <a:rPr lang="en-AU" altLang="ko-KR" i="1" kern="0">
                                <a:latin typeface="Cambria Math" panose="02040503050406030204" pitchFamily="18" charset="0"/>
                                <a:ea typeface="Cambria Math" panose="02040503050406030204" pitchFamily="18" charset="0"/>
                              </a:rPr>
                              <m:t>∞</m:t>
                            </m:r>
                          </m:sup>
                          <m:e>
                            <m:r>
                              <a:rPr lang="en-AU" altLang="ko-KR" b="0" i="1" kern="0" smtClean="0">
                                <a:latin typeface="Cambria Math" panose="02040503050406030204" pitchFamily="18" charset="0"/>
                                <a:ea typeface="Cambria Math" panose="02040503050406030204" pitchFamily="18" charset="0"/>
                              </a:rPr>
                              <m:t>𝑥</m:t>
                            </m:r>
                            <m:r>
                              <a:rPr lang="en-AU" altLang="ko-KR" b="0" i="1" kern="0" smtClean="0">
                                <a:latin typeface="Cambria Math" panose="02040503050406030204" pitchFamily="18" charset="0"/>
                                <a:ea typeface="Cambria Math" panose="02040503050406030204" pitchFamily="18" charset="0"/>
                              </a:rPr>
                              <m:t> </m:t>
                            </m:r>
                            <m:r>
                              <a:rPr lang="en-AU" altLang="ko-KR" i="1" kern="0">
                                <a:solidFill>
                                  <a:srgbClr val="0070C0"/>
                                </a:solidFill>
                                <a:latin typeface="Cambria Math" panose="02040503050406030204" pitchFamily="18" charset="0"/>
                              </a:rPr>
                              <m:t>𝑝</m:t>
                            </m:r>
                            <m:d>
                              <m:dPr>
                                <m:ctrlPr>
                                  <a:rPr lang="en-AU" altLang="ko-KR" i="1" kern="0">
                                    <a:solidFill>
                                      <a:srgbClr val="0070C0"/>
                                    </a:solidFill>
                                    <a:latin typeface="Cambria Math" panose="02040503050406030204" pitchFamily="18" charset="0"/>
                                  </a:rPr>
                                </m:ctrlPr>
                              </m:dPr>
                              <m:e>
                                <m:r>
                                  <a:rPr lang="en-AU" altLang="ko-KR" i="1" kern="0">
                                    <a:solidFill>
                                      <a:srgbClr val="0070C0"/>
                                    </a:solidFill>
                                    <a:latin typeface="Cambria Math" panose="02040503050406030204" pitchFamily="18" charset="0"/>
                                  </a:rPr>
                                  <m:t>𝑥</m:t>
                                </m:r>
                              </m:e>
                            </m:d>
                            <m:r>
                              <a:rPr lang="en-AU" altLang="ko-KR" i="1" kern="0">
                                <a:latin typeface="Cambria Math" panose="02040503050406030204" pitchFamily="18" charset="0"/>
                              </a:rPr>
                              <m:t>𝑑𝑥</m:t>
                            </m:r>
                          </m:e>
                        </m:nary>
                        <m:r>
                          <a:rPr lang="en-AU" altLang="ko-KR" i="1" kern="0">
                            <a:latin typeface="Cambria Math" panose="02040503050406030204" pitchFamily="18" charset="0"/>
                          </a:rPr>
                          <m:t>=</m:t>
                        </m:r>
                        <m:f>
                          <m:fPr>
                            <m:ctrlPr>
                              <a:rPr lang="en-AU" altLang="ko-KR" b="0" i="1" kern="0" smtClean="0">
                                <a:latin typeface="Cambria Math" panose="02040503050406030204" pitchFamily="18" charset="0"/>
                              </a:rPr>
                            </m:ctrlPr>
                          </m:fPr>
                          <m:num>
                            <m:r>
                              <a:rPr lang="en-AU" altLang="ko-KR" b="0" i="1" kern="0" smtClean="0">
                                <a:latin typeface="Cambria Math" panose="02040503050406030204" pitchFamily="18" charset="0"/>
                              </a:rPr>
                              <m:t>2</m:t>
                            </m:r>
                          </m:num>
                          <m:den>
                            <m:r>
                              <a:rPr lang="en-AU" altLang="ko-KR" b="0" i="1" kern="0" smtClean="0">
                                <a:latin typeface="Cambria Math" panose="02040503050406030204" pitchFamily="18" charset="0"/>
                              </a:rPr>
                              <m:t>3</m:t>
                            </m:r>
                          </m:den>
                        </m:f>
                      </m:oMath>
                    </m:oMathPara>
                  </a14:m>
                  <a:endParaRPr lang="en-AU" dirty="0"/>
                </a:p>
              </p:txBody>
            </p:sp>
          </mc:Choice>
          <mc:Fallback xmlns="">
            <p:sp>
              <p:nvSpPr>
                <p:cNvPr id="8" name="Rectangle 7">
                  <a:extLst>
                    <a:ext uri="{FF2B5EF4-FFF2-40B4-BE49-F238E27FC236}">
                      <a16:creationId xmlns:a16="http://schemas.microsoft.com/office/drawing/2014/main" id="{E871DC2C-D4FD-4343-8C33-1A1DAC76ECA9}"/>
                    </a:ext>
                  </a:extLst>
                </p:cNvPr>
                <p:cNvSpPr>
                  <a:spLocks noRot="1" noChangeAspect="1" noMove="1" noResize="1" noEditPoints="1" noAdjustHandles="1" noChangeArrowheads="1" noChangeShapeType="1" noTextEdit="1"/>
                </p:cNvSpPr>
                <p:nvPr/>
              </p:nvSpPr>
              <p:spPr>
                <a:xfrm>
                  <a:off x="6444208" y="4026339"/>
                  <a:ext cx="1729641" cy="625108"/>
                </a:xfrm>
                <a:prstGeom prst="rect">
                  <a:avLst/>
                </a:prstGeom>
                <a:blipFill>
                  <a:blip r:embed="rId6"/>
                  <a:stretch>
                    <a:fillRect l="-42336" t="-150980" b="-217647"/>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F78FA0B2-9AEA-4140-96D2-94514BF81F1E}"/>
                </a:ext>
              </a:extLst>
            </p:cNvPr>
            <p:cNvCxnSpPr>
              <a:cxnSpLocks/>
            </p:cNvCxnSpPr>
            <p:nvPr/>
          </p:nvCxnSpPr>
          <p:spPr>
            <a:xfrm flipV="1">
              <a:off x="6012160" y="3789040"/>
              <a:ext cx="0" cy="2389510"/>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03524991-B987-C142-8EF0-8677F7A952EB}"/>
                </a:ext>
              </a:extLst>
            </p:cNvPr>
            <p:cNvCxnSpPr>
              <a:cxnSpLocks/>
            </p:cNvCxnSpPr>
            <p:nvPr/>
          </p:nvCxnSpPr>
          <p:spPr>
            <a:xfrm flipH="1">
              <a:off x="6012160" y="4651447"/>
              <a:ext cx="936104" cy="11538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0E4970-3AFE-8FD5-0CBB-BA42D6168203}"/>
                  </a:ext>
                </a:extLst>
              </p:cNvPr>
              <p:cNvSpPr txBox="1"/>
              <p:nvPr/>
            </p:nvSpPr>
            <p:spPr>
              <a:xfrm>
                <a:off x="347240" y="1655180"/>
                <a:ext cx="5850769" cy="400110"/>
              </a:xfrm>
              <a:prstGeom prst="rect">
                <a:avLst/>
              </a:prstGeom>
              <a:noFill/>
            </p:spPr>
            <p:txBody>
              <a:bodyPr wrap="none" rtlCol="0">
                <a:spAutoFit/>
              </a:bodyPr>
              <a:lstStyle/>
              <a:p>
                <a:r>
                  <a:rPr lang="en-AU" sz="2000" dirty="0"/>
                  <a:t>If </a:t>
                </a:r>
                <a14:m>
                  <m:oMath xmlns:m="http://schemas.openxmlformats.org/officeDocument/2006/math">
                    <m:sSub>
                      <m:sSubPr>
                        <m:ctrlPr>
                          <a:rPr lang="en-AU" sz="2000" i="1" dirty="0" smtClean="0">
                            <a:latin typeface="Cambria Math" panose="02040503050406030204" pitchFamily="18" charset="0"/>
                          </a:rPr>
                        </m:ctrlPr>
                      </m:sSubPr>
                      <m:e>
                        <m:r>
                          <a:rPr lang="en-AU" sz="2000" i="1" dirty="0" smtClean="0">
                            <a:latin typeface="Cambria Math" panose="02040503050406030204" pitchFamily="18" charset="0"/>
                          </a:rPr>
                          <m:t>𝐷</m:t>
                        </m:r>
                      </m:e>
                      <m:sub>
                        <m:r>
                          <a:rPr lang="en-AU" sz="2000" i="1" dirty="0" smtClean="0">
                            <a:latin typeface="Cambria Math" panose="02040503050406030204" pitchFamily="18" charset="0"/>
                          </a:rPr>
                          <m:t>𝑋</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ea typeface="Cambria Math" panose="02040503050406030204" pitchFamily="18" charset="0"/>
                      </a:rPr>
                      <m:t>ℝ</m:t>
                    </m:r>
                  </m:oMath>
                </a14:m>
                <a:r>
                  <a:rPr lang="en-AU" sz="2000" dirty="0"/>
                  <a:t>, we define </a:t>
                </a:r>
                <a:r>
                  <a:rPr lang="en-AU" sz="2000" dirty="0">
                    <a:solidFill>
                      <a:srgbClr val="0070C0"/>
                    </a:solidFill>
                  </a:rPr>
                  <a:t>expected value </a:t>
                </a:r>
                <a14:m>
                  <m:oMath xmlns:m="http://schemas.openxmlformats.org/officeDocument/2006/math">
                    <m:r>
                      <a:rPr lang="en-AU" sz="2000" b="1" i="0" dirty="0" smtClean="0">
                        <a:latin typeface="Cambria Math" panose="02040503050406030204" pitchFamily="18" charset="0"/>
                      </a:rPr>
                      <m:t>𝐄</m:t>
                    </m:r>
                    <m:r>
                      <a:rPr lang="en-AU" sz="2000" b="0" i="0" dirty="0" smtClean="0">
                        <a:latin typeface="Cambria Math" panose="02040503050406030204" pitchFamily="18" charset="0"/>
                      </a:rPr>
                      <m:t>[</m:t>
                    </m:r>
                    <m:r>
                      <a:rPr lang="en-AU" sz="2000" i="1" dirty="0">
                        <a:latin typeface="Cambria Math" panose="02040503050406030204" pitchFamily="18" charset="0"/>
                      </a:rPr>
                      <m:t>𝑋</m:t>
                    </m:r>
                    <m:r>
                      <a:rPr lang="en-AU" sz="2000" b="0" i="1" dirty="0" smtClean="0">
                        <a:latin typeface="Cambria Math" panose="02040503050406030204" pitchFamily="18" charset="0"/>
                      </a:rPr>
                      <m:t>]</m:t>
                    </m:r>
                  </m:oMath>
                </a14:m>
                <a:r>
                  <a:rPr lang="en-AU" sz="2000" dirty="0"/>
                  <a:t> of </a:t>
                </a:r>
                <a14:m>
                  <m:oMath xmlns:m="http://schemas.openxmlformats.org/officeDocument/2006/math">
                    <m:r>
                      <a:rPr lang="en-AU" sz="2000" i="1" dirty="0" smtClean="0">
                        <a:latin typeface="Cambria Math" panose="02040503050406030204" pitchFamily="18" charset="0"/>
                      </a:rPr>
                      <m:t>𝑋</m:t>
                    </m:r>
                  </m:oMath>
                </a14:m>
                <a:r>
                  <a:rPr lang="en-AU" sz="2000" dirty="0"/>
                  <a:t> as:</a:t>
                </a:r>
              </a:p>
            </p:txBody>
          </p:sp>
        </mc:Choice>
        <mc:Fallback xmlns="">
          <p:sp>
            <p:nvSpPr>
              <p:cNvPr id="2" name="TextBox 1">
                <a:extLst>
                  <a:ext uri="{FF2B5EF4-FFF2-40B4-BE49-F238E27FC236}">
                    <a16:creationId xmlns:a16="http://schemas.microsoft.com/office/drawing/2014/main" id="{7B0E4970-3AFE-8FD5-0CBB-BA42D6168203}"/>
                  </a:ext>
                </a:extLst>
              </p:cNvPr>
              <p:cNvSpPr txBox="1">
                <a:spLocks noRot="1" noChangeAspect="1" noMove="1" noResize="1" noEditPoints="1" noAdjustHandles="1" noChangeArrowheads="1" noChangeShapeType="1" noTextEdit="1"/>
              </p:cNvSpPr>
              <p:nvPr/>
            </p:nvSpPr>
            <p:spPr>
              <a:xfrm>
                <a:off x="347240" y="1655180"/>
                <a:ext cx="5850769" cy="400110"/>
              </a:xfrm>
              <a:prstGeom prst="rect">
                <a:avLst/>
              </a:prstGeom>
              <a:blipFill>
                <a:blip r:embed="rId7"/>
                <a:stretch>
                  <a:fillRect l="-1082" t="-9375" r="-216"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B51F722-4C3E-E040-2A30-E43AB6C88F76}"/>
                  </a:ext>
                </a:extLst>
              </p:cNvPr>
              <p:cNvSpPr txBox="1"/>
              <p:nvPr/>
            </p:nvSpPr>
            <p:spPr>
              <a:xfrm>
                <a:off x="1512969" y="2057390"/>
                <a:ext cx="2105256" cy="679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e>
                      </m:d>
                      <m:r>
                        <a:rPr lang="en-AU" sz="1800" b="0" i="1" smtClean="0">
                          <a:latin typeface="Cambria Math" panose="02040503050406030204" pitchFamily="18" charset="0"/>
                        </a:rPr>
                        <m:t>=</m:t>
                      </m:r>
                      <m:nary>
                        <m:naryPr>
                          <m:ctrlPr>
                            <a:rPr lang="en-AU" sz="1800" b="0" i="1" smtClean="0">
                              <a:latin typeface="Cambria Math" panose="02040503050406030204" pitchFamily="18" charset="0"/>
                            </a:rPr>
                          </m:ctrlPr>
                        </m:naryPr>
                        <m:sub>
                          <m:sSub>
                            <m:sSubPr>
                              <m:ctrlPr>
                                <a:rPr lang="en-AU" sz="1800" b="0" i="1" smtClean="0">
                                  <a:latin typeface="Cambria Math" panose="02040503050406030204" pitchFamily="18" charset="0"/>
                                </a:rPr>
                              </m:ctrlPr>
                            </m:sSubPr>
                            <m:e>
                              <m:r>
                                <a:rPr lang="en-AU" sz="1800" b="0" i="1" smtClean="0">
                                  <a:latin typeface="Cambria Math" panose="02040503050406030204" pitchFamily="18" charset="0"/>
                                </a:rPr>
                                <m:t>𝐷</m:t>
                              </m:r>
                            </m:e>
                            <m:sub>
                              <m:r>
                                <a:rPr lang="en-AU" sz="1800" b="0" i="1" smtClean="0">
                                  <a:latin typeface="Cambria Math" panose="02040503050406030204" pitchFamily="18" charset="0"/>
                                </a:rPr>
                                <m:t>𝑋</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r>
                        <a:rPr lang="en-AU" sz="1800" b="0" i="1" smtClean="0">
                          <a:latin typeface="Cambria Math" panose="02040503050406030204" pitchFamily="18" charset="0"/>
                        </a:rPr>
                        <m:t>𝑑𝑥</m:t>
                      </m:r>
                    </m:oMath>
                  </m:oMathPara>
                </a14:m>
                <a:endParaRPr lang="en-AU" sz="1800" dirty="0"/>
              </a:p>
            </p:txBody>
          </p:sp>
        </mc:Choice>
        <mc:Fallback xmlns="">
          <p:sp>
            <p:nvSpPr>
              <p:cNvPr id="4" name="TextBox 3">
                <a:extLst>
                  <a:ext uri="{FF2B5EF4-FFF2-40B4-BE49-F238E27FC236}">
                    <a16:creationId xmlns:a16="http://schemas.microsoft.com/office/drawing/2014/main" id="{1B51F722-4C3E-E040-2A30-E43AB6C88F76}"/>
                  </a:ext>
                </a:extLst>
              </p:cNvPr>
              <p:cNvSpPr txBox="1">
                <a:spLocks noRot="1" noChangeAspect="1" noMove="1" noResize="1" noEditPoints="1" noAdjustHandles="1" noChangeArrowheads="1" noChangeShapeType="1" noTextEdit="1"/>
              </p:cNvSpPr>
              <p:nvPr/>
            </p:nvSpPr>
            <p:spPr>
              <a:xfrm>
                <a:off x="1512969" y="2057390"/>
                <a:ext cx="2105256" cy="679866"/>
              </a:xfrm>
              <a:prstGeom prst="rect">
                <a:avLst/>
              </a:prstGeom>
              <a:blipFill>
                <a:blip r:embed="rId8"/>
                <a:stretch>
                  <a:fillRect l="-9581" t="-160000" r="-1198" b="-2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F099FB-E8C5-D172-961A-BF2D737A7CC6}"/>
                  </a:ext>
                </a:extLst>
              </p:cNvPr>
              <p:cNvSpPr txBox="1"/>
              <p:nvPr/>
            </p:nvSpPr>
            <p:spPr>
              <a:xfrm>
                <a:off x="5095310" y="2102062"/>
                <a:ext cx="2180533" cy="625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e>
                      </m:d>
                      <m:r>
                        <a:rPr lang="en-AU" sz="1800" b="0" i="1" smtClean="0">
                          <a:latin typeface="Cambria Math" panose="02040503050406030204" pitchFamily="18" charset="0"/>
                        </a:rPr>
                        <m:t>=</m:t>
                      </m:r>
                      <m:nary>
                        <m:naryPr>
                          <m:chr m:val="∑"/>
                          <m:limLoc m:val="subSup"/>
                          <m:ctrlPr>
                            <a:rPr lang="en-AU" sz="1800" b="0" i="1" smtClean="0">
                              <a:latin typeface="Cambria Math" panose="02040503050406030204" pitchFamily="18" charset="0"/>
                            </a:rPr>
                          </m:ctrlPr>
                        </m:naryPr>
                        <m:sub>
                          <m:r>
                            <m:rPr>
                              <m:brk m:alnAt="25"/>
                            </m:rPr>
                            <a:rPr lang="en-AU" sz="1800" b="0" i="1" smtClean="0">
                              <a:latin typeface="Cambria Math" panose="02040503050406030204" pitchFamily="18" charset="0"/>
                            </a:rPr>
                            <m:t>𝑥</m:t>
                          </m:r>
                          <m:r>
                            <a:rPr lang="en-AU" sz="1800" b="0" i="1" smtClean="0">
                              <a:latin typeface="Cambria Math" panose="02040503050406030204" pitchFamily="18" charset="0"/>
                              <a:ea typeface="Cambria Math" panose="02040503050406030204" pitchFamily="18" charset="0"/>
                            </a:rPr>
                            <m:t>∈</m:t>
                          </m:r>
                          <m:sSub>
                            <m:sSubPr>
                              <m:ctrlPr>
                                <a:rPr lang="en-AU" sz="1800" b="0" i="1" smtClean="0">
                                  <a:latin typeface="Cambria Math" panose="02040503050406030204" pitchFamily="18" charset="0"/>
                                  <a:ea typeface="Cambria Math" panose="02040503050406030204" pitchFamily="18" charset="0"/>
                                </a:rPr>
                              </m:ctrlPr>
                            </m:sSubPr>
                            <m:e>
                              <m:r>
                                <m:rPr>
                                  <m:brk m:alnAt="25"/>
                                </m:rPr>
                                <a:rPr lang="en-AU" sz="1800" b="0" i="1" smtClean="0">
                                  <a:latin typeface="Cambria Math" panose="02040503050406030204" pitchFamily="18" charset="0"/>
                                  <a:ea typeface="Cambria Math" panose="02040503050406030204" pitchFamily="18" charset="0"/>
                                </a:rPr>
                                <m:t>𝐷</m:t>
                              </m:r>
                            </m:e>
                            <m:sub>
                              <m:r>
                                <m:rPr>
                                  <m:brk m:alnAt="25"/>
                                </m:rPr>
                                <a:rPr lang="en-AU" sz="1800" b="0" i="1" smtClean="0">
                                  <a:latin typeface="Cambria Math" panose="02040503050406030204" pitchFamily="18" charset="0"/>
                                  <a:ea typeface="Cambria Math" panose="02040503050406030204" pitchFamily="18" charset="0"/>
                                </a:rPr>
                                <m:t>𝑥</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oMath>
                  </m:oMathPara>
                </a14:m>
                <a:endParaRPr lang="en-AU" sz="1800" dirty="0"/>
              </a:p>
            </p:txBody>
          </p:sp>
        </mc:Choice>
        <mc:Fallback xmlns="">
          <p:sp>
            <p:nvSpPr>
              <p:cNvPr id="9" name="TextBox 8">
                <a:extLst>
                  <a:ext uri="{FF2B5EF4-FFF2-40B4-BE49-F238E27FC236}">
                    <a16:creationId xmlns:a16="http://schemas.microsoft.com/office/drawing/2014/main" id="{F5F099FB-E8C5-D172-961A-BF2D737A7CC6}"/>
                  </a:ext>
                </a:extLst>
              </p:cNvPr>
              <p:cNvSpPr txBox="1">
                <a:spLocks noRot="1" noChangeAspect="1" noMove="1" noResize="1" noEditPoints="1" noAdjustHandles="1" noChangeArrowheads="1" noChangeShapeType="1" noTextEdit="1"/>
              </p:cNvSpPr>
              <p:nvPr/>
            </p:nvSpPr>
            <p:spPr>
              <a:xfrm>
                <a:off x="5095310" y="2102062"/>
                <a:ext cx="2180533" cy="625492"/>
              </a:xfrm>
              <a:prstGeom prst="rect">
                <a:avLst/>
              </a:prstGeom>
              <a:blipFill>
                <a:blip r:embed="rId9"/>
                <a:stretch>
                  <a:fillRect l="-3468" t="-152000" r="-2312" b="-226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FDA0680-C6B7-2EA1-E2AA-AED1FD0BFD90}"/>
              </a:ext>
            </a:extLst>
          </p:cNvPr>
          <p:cNvSpPr txBox="1"/>
          <p:nvPr/>
        </p:nvSpPr>
        <p:spPr>
          <a:xfrm>
            <a:off x="5749773" y="2873235"/>
            <a:ext cx="1070101" cy="338554"/>
          </a:xfrm>
          <a:prstGeom prst="rect">
            <a:avLst/>
          </a:prstGeom>
          <a:noFill/>
        </p:spPr>
        <p:txBody>
          <a:bodyPr wrap="none" rtlCol="0">
            <a:spAutoFit/>
          </a:bodyPr>
          <a:lstStyle/>
          <a:p>
            <a:r>
              <a:rPr lang="en-AU" dirty="0">
                <a:solidFill>
                  <a:srgbClr val="FF0000"/>
                </a:solidFill>
              </a:rPr>
              <a:t>discrete X</a:t>
            </a:r>
          </a:p>
        </p:txBody>
      </p:sp>
      <p:sp>
        <p:nvSpPr>
          <p:cNvPr id="12" name="TextBox 11">
            <a:extLst>
              <a:ext uri="{FF2B5EF4-FFF2-40B4-BE49-F238E27FC236}">
                <a16:creationId xmlns:a16="http://schemas.microsoft.com/office/drawing/2014/main" id="{6CB17468-3242-045E-B1B6-40FBE26B900E}"/>
              </a:ext>
            </a:extLst>
          </p:cNvPr>
          <p:cNvSpPr txBox="1"/>
          <p:nvPr/>
        </p:nvSpPr>
        <p:spPr>
          <a:xfrm>
            <a:off x="1806909" y="2881111"/>
            <a:ext cx="1348446" cy="338554"/>
          </a:xfrm>
          <a:prstGeom prst="rect">
            <a:avLst/>
          </a:prstGeom>
          <a:noFill/>
        </p:spPr>
        <p:txBody>
          <a:bodyPr wrap="none" rtlCol="0">
            <a:spAutoFit/>
          </a:bodyPr>
          <a:lstStyle/>
          <a:p>
            <a:r>
              <a:rPr lang="en-AU" dirty="0">
                <a:solidFill>
                  <a:srgbClr val="FF0000"/>
                </a:solidFill>
              </a:rPr>
              <a:t>continuous X</a:t>
            </a:r>
          </a:p>
        </p:txBody>
      </p:sp>
      <p:sp>
        <p:nvSpPr>
          <p:cNvPr id="14" name="TextBox 13">
            <a:extLst>
              <a:ext uri="{FF2B5EF4-FFF2-40B4-BE49-F238E27FC236}">
                <a16:creationId xmlns:a16="http://schemas.microsoft.com/office/drawing/2014/main" id="{27FFD561-01DF-3902-FDD0-73CF16DC4757}"/>
              </a:ext>
            </a:extLst>
          </p:cNvPr>
          <p:cNvSpPr txBox="1"/>
          <p:nvPr/>
        </p:nvSpPr>
        <p:spPr>
          <a:xfrm>
            <a:off x="531341" y="5906530"/>
            <a:ext cx="3070841" cy="338554"/>
          </a:xfrm>
          <a:prstGeom prst="rect">
            <a:avLst/>
          </a:prstGeom>
          <a:noFill/>
        </p:spPr>
        <p:txBody>
          <a:bodyPr wrap="none" rtlCol="0">
            <a:spAutoFit/>
          </a:bodyPr>
          <a:lstStyle/>
          <a:p>
            <a:r>
              <a:rPr lang="en-US" dirty="0"/>
              <a:t>See Activity 0.2 for more details</a:t>
            </a:r>
          </a:p>
        </p:txBody>
      </p:sp>
    </p:spTree>
    <p:extLst>
      <p:ext uri="{BB962C8B-B14F-4D97-AF65-F5344CB8AC3E}">
        <p14:creationId xmlns:p14="http://schemas.microsoft.com/office/powerpoint/2010/main" val="196335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Expected (Mean) Values</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21C93F-EB0B-B543-BFEB-6EC95DE5452F}"/>
                  </a:ext>
                </a:extLst>
              </p:cNvPr>
              <p:cNvSpPr txBox="1"/>
              <p:nvPr/>
            </p:nvSpPr>
            <p:spPr>
              <a:xfrm>
                <a:off x="369540" y="3697404"/>
                <a:ext cx="4046984" cy="1900585"/>
              </a:xfrm>
              <a:prstGeom prst="rect">
                <a:avLst/>
              </a:prstGeom>
              <a:noFill/>
            </p:spPr>
            <p:txBody>
              <a:bodyPr wrap="square" rtlCol="0">
                <a:spAutoFit/>
              </a:bodyPr>
              <a:lstStyle/>
              <a:p>
                <a:r>
                  <a:rPr lang="en-US" altLang="ko-KR" sz="2000" b="1" kern="0" dirty="0"/>
                  <a:t>Question:</a:t>
                </a:r>
                <a:r>
                  <a:rPr lang="en-US" altLang="ko-KR" sz="2000" kern="0" dirty="0"/>
                  <a:t> What is the average number of “head” tosses</a:t>
                </a:r>
              </a:p>
              <a:p>
                <a:endParaRPr lang="en-AU" sz="2000" b="0" i="1" kern="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0" kern="0" smtClean="0">
                          <a:latin typeface="Cambria Math" panose="02040503050406030204" pitchFamily="18" charset="0"/>
                        </a:rPr>
                        <m:t>𝐄</m:t>
                      </m:r>
                      <m:d>
                        <m:dPr>
                          <m:begChr m:val="["/>
                          <m:endChr m:val="]"/>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𝑍</m:t>
                          </m:r>
                        </m:e>
                      </m:d>
                      <m:r>
                        <a:rPr lang="en-AU" sz="2000" b="0" i="1" kern="0" smtClean="0">
                          <a:latin typeface="Cambria Math" panose="02040503050406030204" pitchFamily="18" charset="0"/>
                        </a:rPr>
                        <m:t>=0⋅</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4</m:t>
                          </m:r>
                        </m:num>
                        <m:den>
                          <m:r>
                            <a:rPr lang="en-AU" sz="2000" b="0" i="1" kern="0" smtClean="0">
                              <a:latin typeface="Cambria Math" panose="02040503050406030204" pitchFamily="18" charset="0"/>
                            </a:rPr>
                            <m:t>9</m:t>
                          </m:r>
                        </m:den>
                      </m:f>
                      <m:r>
                        <a:rPr lang="en-AU" sz="2000" b="0" i="1" kern="0" smtClean="0">
                          <a:latin typeface="Cambria Math" panose="02040503050406030204" pitchFamily="18" charset="0"/>
                        </a:rPr>
                        <m:t>+1⋅</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4</m:t>
                          </m:r>
                        </m:num>
                        <m:den>
                          <m:r>
                            <a:rPr lang="en-AU" sz="2000" b="0" i="1" kern="0" smtClean="0">
                              <a:latin typeface="Cambria Math" panose="02040503050406030204" pitchFamily="18" charset="0"/>
                            </a:rPr>
                            <m:t>9</m:t>
                          </m:r>
                        </m:den>
                      </m:f>
                      <m:r>
                        <a:rPr lang="en-AU" sz="2000" b="0" i="1" kern="0" smtClean="0">
                          <a:latin typeface="Cambria Math" panose="02040503050406030204" pitchFamily="18" charset="0"/>
                        </a:rPr>
                        <m:t>+2⋅</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1</m:t>
                          </m:r>
                        </m:num>
                        <m:den>
                          <m:r>
                            <a:rPr lang="en-AU" sz="2000" b="0" i="1" kern="0" smtClean="0">
                              <a:latin typeface="Cambria Math" panose="02040503050406030204" pitchFamily="18" charset="0"/>
                            </a:rPr>
                            <m:t>9</m:t>
                          </m:r>
                        </m:den>
                      </m:f>
                      <m:r>
                        <a:rPr lang="en-AU" sz="2000" b="0" i="1" kern="0" smtClea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2</m:t>
                          </m:r>
                        </m:num>
                        <m:den>
                          <m:r>
                            <a:rPr lang="en-AU" sz="2000" b="0" i="1" kern="0" smtClean="0">
                              <a:latin typeface="Cambria Math" panose="02040503050406030204" pitchFamily="18" charset="0"/>
                            </a:rPr>
                            <m:t>3</m:t>
                          </m:r>
                        </m:den>
                      </m:f>
                    </m:oMath>
                  </m:oMathPara>
                </a14:m>
                <a:endParaRPr lang="en-AU" sz="2000" b="0" kern="0" dirty="0"/>
              </a:p>
              <a:p>
                <a:endParaRPr lang="en-US" sz="2000" kern="0" dirty="0"/>
              </a:p>
            </p:txBody>
          </p:sp>
        </mc:Choice>
        <mc:Fallback xmlns="">
          <p:sp>
            <p:nvSpPr>
              <p:cNvPr id="5" name="TextBox 4">
                <a:extLst>
                  <a:ext uri="{FF2B5EF4-FFF2-40B4-BE49-F238E27FC236}">
                    <a16:creationId xmlns:a16="http://schemas.microsoft.com/office/drawing/2014/main" id="{9721C93F-EB0B-B543-BFEB-6EC95DE5452F}"/>
                  </a:ext>
                </a:extLst>
              </p:cNvPr>
              <p:cNvSpPr txBox="1">
                <a:spLocks noRot="1" noChangeAspect="1" noMove="1" noResize="1" noEditPoints="1" noAdjustHandles="1" noChangeArrowheads="1" noChangeShapeType="1" noTextEdit="1"/>
              </p:cNvSpPr>
              <p:nvPr/>
            </p:nvSpPr>
            <p:spPr>
              <a:xfrm>
                <a:off x="369540" y="3697404"/>
                <a:ext cx="4046984" cy="1900585"/>
              </a:xfrm>
              <a:prstGeom prst="rect">
                <a:avLst/>
              </a:prstGeom>
              <a:blipFill>
                <a:blip r:embed="rId3"/>
                <a:stretch>
                  <a:fillRect l="-1567" t="-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0E4970-3AFE-8FD5-0CBB-BA42D6168203}"/>
                  </a:ext>
                </a:extLst>
              </p:cNvPr>
              <p:cNvSpPr txBox="1"/>
              <p:nvPr/>
            </p:nvSpPr>
            <p:spPr>
              <a:xfrm>
                <a:off x="347240" y="1655180"/>
                <a:ext cx="5850769" cy="400110"/>
              </a:xfrm>
              <a:prstGeom prst="rect">
                <a:avLst/>
              </a:prstGeom>
              <a:noFill/>
            </p:spPr>
            <p:txBody>
              <a:bodyPr wrap="none" rtlCol="0">
                <a:spAutoFit/>
              </a:bodyPr>
              <a:lstStyle/>
              <a:p>
                <a:r>
                  <a:rPr lang="en-AU" sz="2000" dirty="0"/>
                  <a:t>If </a:t>
                </a:r>
                <a14:m>
                  <m:oMath xmlns:m="http://schemas.openxmlformats.org/officeDocument/2006/math">
                    <m:sSub>
                      <m:sSubPr>
                        <m:ctrlPr>
                          <a:rPr lang="en-AU" sz="2000" i="1" dirty="0" smtClean="0">
                            <a:latin typeface="Cambria Math" panose="02040503050406030204" pitchFamily="18" charset="0"/>
                          </a:rPr>
                        </m:ctrlPr>
                      </m:sSubPr>
                      <m:e>
                        <m:r>
                          <a:rPr lang="en-AU" sz="2000" i="1" dirty="0" smtClean="0">
                            <a:latin typeface="Cambria Math" panose="02040503050406030204" pitchFamily="18" charset="0"/>
                          </a:rPr>
                          <m:t>𝐷</m:t>
                        </m:r>
                      </m:e>
                      <m:sub>
                        <m:r>
                          <a:rPr lang="en-AU" sz="2000" i="1" dirty="0" smtClean="0">
                            <a:latin typeface="Cambria Math" panose="02040503050406030204" pitchFamily="18" charset="0"/>
                          </a:rPr>
                          <m:t>𝑋</m:t>
                        </m:r>
                      </m:sub>
                    </m:sSub>
                    <m:r>
                      <a:rPr lang="en-AU" sz="2000" b="0" i="1" dirty="0" smtClean="0">
                        <a:latin typeface="Cambria Math" panose="02040503050406030204" pitchFamily="18" charset="0"/>
                      </a:rPr>
                      <m:t>⊆</m:t>
                    </m:r>
                    <m:r>
                      <a:rPr lang="en-AU" sz="2000" b="0" i="1" dirty="0" smtClean="0">
                        <a:latin typeface="Cambria Math" panose="02040503050406030204" pitchFamily="18" charset="0"/>
                        <a:ea typeface="Cambria Math" panose="02040503050406030204" pitchFamily="18" charset="0"/>
                      </a:rPr>
                      <m:t>ℝ</m:t>
                    </m:r>
                  </m:oMath>
                </a14:m>
                <a:r>
                  <a:rPr lang="en-AU" sz="2000" dirty="0"/>
                  <a:t>, we define </a:t>
                </a:r>
                <a:r>
                  <a:rPr lang="en-AU" sz="2000" dirty="0">
                    <a:solidFill>
                      <a:srgbClr val="0070C0"/>
                    </a:solidFill>
                  </a:rPr>
                  <a:t>expected value </a:t>
                </a:r>
                <a14:m>
                  <m:oMath xmlns:m="http://schemas.openxmlformats.org/officeDocument/2006/math">
                    <m:r>
                      <a:rPr lang="en-AU" sz="2000" b="1" i="0" dirty="0" smtClean="0">
                        <a:latin typeface="Cambria Math" panose="02040503050406030204" pitchFamily="18" charset="0"/>
                      </a:rPr>
                      <m:t>𝐄</m:t>
                    </m:r>
                    <m:r>
                      <a:rPr lang="en-AU" sz="2000" b="0" i="0" dirty="0" smtClean="0">
                        <a:latin typeface="Cambria Math" panose="02040503050406030204" pitchFamily="18" charset="0"/>
                      </a:rPr>
                      <m:t>[</m:t>
                    </m:r>
                    <m:r>
                      <a:rPr lang="en-AU" sz="2000" i="1" dirty="0">
                        <a:latin typeface="Cambria Math" panose="02040503050406030204" pitchFamily="18" charset="0"/>
                      </a:rPr>
                      <m:t>𝑋</m:t>
                    </m:r>
                    <m:r>
                      <a:rPr lang="en-AU" sz="2000" b="0" i="1" dirty="0" smtClean="0">
                        <a:latin typeface="Cambria Math" panose="02040503050406030204" pitchFamily="18" charset="0"/>
                      </a:rPr>
                      <m:t>]</m:t>
                    </m:r>
                  </m:oMath>
                </a14:m>
                <a:r>
                  <a:rPr lang="en-AU" sz="2000" dirty="0"/>
                  <a:t> of </a:t>
                </a:r>
                <a14:m>
                  <m:oMath xmlns:m="http://schemas.openxmlformats.org/officeDocument/2006/math">
                    <m:r>
                      <a:rPr lang="en-AU" sz="2000" i="1" dirty="0" smtClean="0">
                        <a:latin typeface="Cambria Math" panose="02040503050406030204" pitchFamily="18" charset="0"/>
                      </a:rPr>
                      <m:t>𝑋</m:t>
                    </m:r>
                  </m:oMath>
                </a14:m>
                <a:r>
                  <a:rPr lang="en-AU" sz="2000" dirty="0"/>
                  <a:t> as:</a:t>
                </a:r>
              </a:p>
            </p:txBody>
          </p:sp>
        </mc:Choice>
        <mc:Fallback xmlns="">
          <p:sp>
            <p:nvSpPr>
              <p:cNvPr id="2" name="TextBox 1">
                <a:extLst>
                  <a:ext uri="{FF2B5EF4-FFF2-40B4-BE49-F238E27FC236}">
                    <a16:creationId xmlns:a16="http://schemas.microsoft.com/office/drawing/2014/main" id="{7B0E4970-3AFE-8FD5-0CBB-BA42D6168203}"/>
                  </a:ext>
                </a:extLst>
              </p:cNvPr>
              <p:cNvSpPr txBox="1">
                <a:spLocks noRot="1" noChangeAspect="1" noMove="1" noResize="1" noEditPoints="1" noAdjustHandles="1" noChangeArrowheads="1" noChangeShapeType="1" noTextEdit="1"/>
              </p:cNvSpPr>
              <p:nvPr/>
            </p:nvSpPr>
            <p:spPr>
              <a:xfrm>
                <a:off x="347240" y="1655180"/>
                <a:ext cx="5850769" cy="400110"/>
              </a:xfrm>
              <a:prstGeom prst="rect">
                <a:avLst/>
              </a:prstGeom>
              <a:blipFill>
                <a:blip r:embed="rId4"/>
                <a:stretch>
                  <a:fillRect l="-1082" t="-9375" r="-216"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B51F722-4C3E-E040-2A30-E43AB6C88F76}"/>
                  </a:ext>
                </a:extLst>
              </p:cNvPr>
              <p:cNvSpPr txBox="1"/>
              <p:nvPr/>
            </p:nvSpPr>
            <p:spPr>
              <a:xfrm>
                <a:off x="1512969" y="2057390"/>
                <a:ext cx="2105256" cy="679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e>
                      </m:d>
                      <m:r>
                        <a:rPr lang="en-AU" sz="1800" b="0" i="1" smtClean="0">
                          <a:latin typeface="Cambria Math" panose="02040503050406030204" pitchFamily="18" charset="0"/>
                        </a:rPr>
                        <m:t>=</m:t>
                      </m:r>
                      <m:nary>
                        <m:naryPr>
                          <m:ctrlPr>
                            <a:rPr lang="en-AU" sz="1800" b="0" i="1" smtClean="0">
                              <a:latin typeface="Cambria Math" panose="02040503050406030204" pitchFamily="18" charset="0"/>
                            </a:rPr>
                          </m:ctrlPr>
                        </m:naryPr>
                        <m:sub>
                          <m:sSub>
                            <m:sSubPr>
                              <m:ctrlPr>
                                <a:rPr lang="en-AU" sz="1800" b="0" i="1" smtClean="0">
                                  <a:latin typeface="Cambria Math" panose="02040503050406030204" pitchFamily="18" charset="0"/>
                                </a:rPr>
                              </m:ctrlPr>
                            </m:sSubPr>
                            <m:e>
                              <m:r>
                                <a:rPr lang="en-AU" sz="1800" b="0" i="1" smtClean="0">
                                  <a:latin typeface="Cambria Math" panose="02040503050406030204" pitchFamily="18" charset="0"/>
                                </a:rPr>
                                <m:t>𝐷</m:t>
                              </m:r>
                            </m:e>
                            <m:sub>
                              <m:r>
                                <a:rPr lang="en-AU" sz="1800" b="0" i="1" smtClean="0">
                                  <a:latin typeface="Cambria Math" panose="02040503050406030204" pitchFamily="18" charset="0"/>
                                </a:rPr>
                                <m:t>𝑋</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r>
                        <a:rPr lang="en-AU" sz="1800" b="0" i="1" smtClean="0">
                          <a:latin typeface="Cambria Math" panose="02040503050406030204" pitchFamily="18" charset="0"/>
                        </a:rPr>
                        <m:t>𝑑𝑥</m:t>
                      </m:r>
                    </m:oMath>
                  </m:oMathPara>
                </a14:m>
                <a:endParaRPr lang="en-AU" sz="1800" dirty="0"/>
              </a:p>
            </p:txBody>
          </p:sp>
        </mc:Choice>
        <mc:Fallback xmlns="">
          <p:sp>
            <p:nvSpPr>
              <p:cNvPr id="4" name="TextBox 3">
                <a:extLst>
                  <a:ext uri="{FF2B5EF4-FFF2-40B4-BE49-F238E27FC236}">
                    <a16:creationId xmlns:a16="http://schemas.microsoft.com/office/drawing/2014/main" id="{1B51F722-4C3E-E040-2A30-E43AB6C88F76}"/>
                  </a:ext>
                </a:extLst>
              </p:cNvPr>
              <p:cNvSpPr txBox="1">
                <a:spLocks noRot="1" noChangeAspect="1" noMove="1" noResize="1" noEditPoints="1" noAdjustHandles="1" noChangeArrowheads="1" noChangeShapeType="1" noTextEdit="1"/>
              </p:cNvSpPr>
              <p:nvPr/>
            </p:nvSpPr>
            <p:spPr>
              <a:xfrm>
                <a:off x="1512969" y="2057390"/>
                <a:ext cx="2105256" cy="679866"/>
              </a:xfrm>
              <a:prstGeom prst="rect">
                <a:avLst/>
              </a:prstGeom>
              <a:blipFill>
                <a:blip r:embed="rId5"/>
                <a:stretch>
                  <a:fillRect l="-9581" t="-160000" r="-1198" b="-2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F099FB-E8C5-D172-961A-BF2D737A7CC6}"/>
                  </a:ext>
                </a:extLst>
              </p:cNvPr>
              <p:cNvSpPr txBox="1"/>
              <p:nvPr/>
            </p:nvSpPr>
            <p:spPr>
              <a:xfrm>
                <a:off x="5095310" y="2102062"/>
                <a:ext cx="2180533" cy="625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e>
                      </m:d>
                      <m:r>
                        <a:rPr lang="en-AU" sz="1800" b="0" i="1" smtClean="0">
                          <a:latin typeface="Cambria Math" panose="02040503050406030204" pitchFamily="18" charset="0"/>
                        </a:rPr>
                        <m:t>=</m:t>
                      </m:r>
                      <m:nary>
                        <m:naryPr>
                          <m:chr m:val="∑"/>
                          <m:limLoc m:val="subSup"/>
                          <m:ctrlPr>
                            <a:rPr lang="en-AU" sz="1800" b="0" i="1" smtClean="0">
                              <a:latin typeface="Cambria Math" panose="02040503050406030204" pitchFamily="18" charset="0"/>
                            </a:rPr>
                          </m:ctrlPr>
                        </m:naryPr>
                        <m:sub>
                          <m:r>
                            <m:rPr>
                              <m:brk m:alnAt="25"/>
                            </m:rPr>
                            <a:rPr lang="en-AU" sz="1800" b="0" i="1" smtClean="0">
                              <a:latin typeface="Cambria Math" panose="02040503050406030204" pitchFamily="18" charset="0"/>
                            </a:rPr>
                            <m:t>𝑥</m:t>
                          </m:r>
                          <m:r>
                            <a:rPr lang="en-AU" sz="1800" b="0" i="1" smtClean="0">
                              <a:latin typeface="Cambria Math" panose="02040503050406030204" pitchFamily="18" charset="0"/>
                              <a:ea typeface="Cambria Math" panose="02040503050406030204" pitchFamily="18" charset="0"/>
                            </a:rPr>
                            <m:t>∈</m:t>
                          </m:r>
                          <m:sSub>
                            <m:sSubPr>
                              <m:ctrlPr>
                                <a:rPr lang="en-AU" sz="1800" b="0" i="1" smtClean="0">
                                  <a:latin typeface="Cambria Math" panose="02040503050406030204" pitchFamily="18" charset="0"/>
                                  <a:ea typeface="Cambria Math" panose="02040503050406030204" pitchFamily="18" charset="0"/>
                                </a:rPr>
                              </m:ctrlPr>
                            </m:sSubPr>
                            <m:e>
                              <m:r>
                                <m:rPr>
                                  <m:brk m:alnAt="25"/>
                                </m:rPr>
                                <a:rPr lang="en-AU" sz="1800" b="0" i="1" smtClean="0">
                                  <a:latin typeface="Cambria Math" panose="02040503050406030204" pitchFamily="18" charset="0"/>
                                  <a:ea typeface="Cambria Math" panose="02040503050406030204" pitchFamily="18" charset="0"/>
                                </a:rPr>
                                <m:t>𝐷</m:t>
                              </m:r>
                            </m:e>
                            <m:sub>
                              <m:r>
                                <m:rPr>
                                  <m:brk m:alnAt="25"/>
                                </m:rPr>
                                <a:rPr lang="en-AU" sz="1800" b="0" i="1" smtClean="0">
                                  <a:latin typeface="Cambria Math" panose="02040503050406030204" pitchFamily="18" charset="0"/>
                                  <a:ea typeface="Cambria Math" panose="02040503050406030204" pitchFamily="18" charset="0"/>
                                </a:rPr>
                                <m:t>𝑥</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e>
                      </m:nary>
                    </m:oMath>
                  </m:oMathPara>
                </a14:m>
                <a:endParaRPr lang="en-AU" sz="1800" dirty="0"/>
              </a:p>
            </p:txBody>
          </p:sp>
        </mc:Choice>
        <mc:Fallback xmlns="">
          <p:sp>
            <p:nvSpPr>
              <p:cNvPr id="9" name="TextBox 8">
                <a:extLst>
                  <a:ext uri="{FF2B5EF4-FFF2-40B4-BE49-F238E27FC236}">
                    <a16:creationId xmlns:a16="http://schemas.microsoft.com/office/drawing/2014/main" id="{F5F099FB-E8C5-D172-961A-BF2D737A7CC6}"/>
                  </a:ext>
                </a:extLst>
              </p:cNvPr>
              <p:cNvSpPr txBox="1">
                <a:spLocks noRot="1" noChangeAspect="1" noMove="1" noResize="1" noEditPoints="1" noAdjustHandles="1" noChangeArrowheads="1" noChangeShapeType="1" noTextEdit="1"/>
              </p:cNvSpPr>
              <p:nvPr/>
            </p:nvSpPr>
            <p:spPr>
              <a:xfrm>
                <a:off x="5095310" y="2102062"/>
                <a:ext cx="2180533" cy="625492"/>
              </a:xfrm>
              <a:prstGeom prst="rect">
                <a:avLst/>
              </a:prstGeom>
              <a:blipFill>
                <a:blip r:embed="rId6"/>
                <a:stretch>
                  <a:fillRect l="-3468" t="-152000" r="-2312" b="-226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FDA0680-C6B7-2EA1-E2AA-AED1FD0BFD90}"/>
              </a:ext>
            </a:extLst>
          </p:cNvPr>
          <p:cNvSpPr txBox="1"/>
          <p:nvPr/>
        </p:nvSpPr>
        <p:spPr>
          <a:xfrm>
            <a:off x="5749773" y="2873235"/>
            <a:ext cx="1070101" cy="338554"/>
          </a:xfrm>
          <a:prstGeom prst="rect">
            <a:avLst/>
          </a:prstGeom>
          <a:noFill/>
        </p:spPr>
        <p:txBody>
          <a:bodyPr wrap="none" rtlCol="0">
            <a:spAutoFit/>
          </a:bodyPr>
          <a:lstStyle/>
          <a:p>
            <a:r>
              <a:rPr lang="en-AU" dirty="0">
                <a:solidFill>
                  <a:srgbClr val="FF0000"/>
                </a:solidFill>
              </a:rPr>
              <a:t>discrete X</a:t>
            </a:r>
          </a:p>
        </p:txBody>
      </p:sp>
      <p:sp>
        <p:nvSpPr>
          <p:cNvPr id="12" name="TextBox 11">
            <a:extLst>
              <a:ext uri="{FF2B5EF4-FFF2-40B4-BE49-F238E27FC236}">
                <a16:creationId xmlns:a16="http://schemas.microsoft.com/office/drawing/2014/main" id="{6CB17468-3242-045E-B1B6-40FBE26B900E}"/>
              </a:ext>
            </a:extLst>
          </p:cNvPr>
          <p:cNvSpPr txBox="1"/>
          <p:nvPr/>
        </p:nvSpPr>
        <p:spPr>
          <a:xfrm>
            <a:off x="1806909" y="2881111"/>
            <a:ext cx="1348446" cy="338554"/>
          </a:xfrm>
          <a:prstGeom prst="rect">
            <a:avLst/>
          </a:prstGeom>
          <a:noFill/>
        </p:spPr>
        <p:txBody>
          <a:bodyPr wrap="none" rtlCol="0">
            <a:spAutoFit/>
          </a:bodyPr>
          <a:lstStyle/>
          <a:p>
            <a:r>
              <a:rPr lang="en-AU" dirty="0">
                <a:solidFill>
                  <a:srgbClr val="FF0000"/>
                </a:solidFill>
              </a:rPr>
              <a:t>continuous X</a:t>
            </a:r>
          </a:p>
        </p:txBody>
      </p:sp>
      <mc:AlternateContent xmlns:mc="http://schemas.openxmlformats.org/markup-compatibility/2006" xmlns:a14="http://schemas.microsoft.com/office/drawing/2010/main">
        <mc:Choice Requires="a14">
          <p:graphicFrame>
            <p:nvGraphicFramePr>
              <p:cNvPr id="6" name="Table 3">
                <a:extLst>
                  <a:ext uri="{FF2B5EF4-FFF2-40B4-BE49-F238E27FC236}">
                    <a16:creationId xmlns:a16="http://schemas.microsoft.com/office/drawing/2014/main" id="{A76D4112-8E88-3683-15D0-46FBF161A6E7}"/>
                  </a:ext>
                </a:extLst>
              </p:cNvPr>
              <p:cNvGraphicFramePr>
                <a:graphicFrameLocks noGrp="1"/>
              </p:cNvGraphicFramePr>
              <p:nvPr>
                <p:extLst>
                  <p:ext uri="{D42A27DB-BD31-4B8C-83A1-F6EECF244321}">
                    <p14:modId xmlns:p14="http://schemas.microsoft.com/office/powerpoint/2010/main" val="231439231"/>
                  </p:ext>
                </p:extLst>
              </p:nvPr>
            </p:nvGraphicFramePr>
            <p:xfrm>
              <a:off x="5759397" y="4038096"/>
              <a:ext cx="1105513" cy="12192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𝑍</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0</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4156083343"/>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1/9</m:t>
                                </m:r>
                              </m:oMath>
                            </m:oMathPara>
                          </a14:m>
                          <a:endParaRPr lang="en-US" sz="1400" dirty="0"/>
                        </a:p>
                      </a:txBody>
                      <a:tcPr/>
                    </a:tc>
                    <a:extLst>
                      <a:ext uri="{0D108BD9-81ED-4DB2-BD59-A6C34878D82A}">
                        <a16:rowId xmlns:a16="http://schemas.microsoft.com/office/drawing/2014/main" val="706057352"/>
                      </a:ext>
                    </a:extLst>
                  </a:tr>
                </a:tbl>
              </a:graphicData>
            </a:graphic>
          </p:graphicFrame>
        </mc:Choice>
        <mc:Fallback xmlns="">
          <p:graphicFrame>
            <p:nvGraphicFramePr>
              <p:cNvPr id="6" name="Table 3">
                <a:extLst>
                  <a:ext uri="{FF2B5EF4-FFF2-40B4-BE49-F238E27FC236}">
                    <a16:creationId xmlns:a16="http://schemas.microsoft.com/office/drawing/2014/main" id="{A76D4112-8E88-3683-15D0-46FBF161A6E7}"/>
                  </a:ext>
                </a:extLst>
              </p:cNvPr>
              <p:cNvGraphicFramePr>
                <a:graphicFrameLocks noGrp="1"/>
              </p:cNvGraphicFramePr>
              <p:nvPr>
                <p:extLst>
                  <p:ext uri="{D42A27DB-BD31-4B8C-83A1-F6EECF244321}">
                    <p14:modId xmlns:p14="http://schemas.microsoft.com/office/powerpoint/2010/main" val="231439231"/>
                  </p:ext>
                </p:extLst>
              </p:nvPr>
            </p:nvGraphicFramePr>
            <p:xfrm>
              <a:off x="5759397" y="4038096"/>
              <a:ext cx="1105513" cy="1219200"/>
            </p:xfrm>
            <a:graphic>
              <a:graphicData uri="http://schemas.openxmlformats.org/drawingml/2006/table">
                <a:tbl>
                  <a:tblPr firstRow="1" bandRow="1">
                    <a:tableStyleId>{EB344D84-9AFB-497E-A393-DC336BA19D2E}</a:tableStyleId>
                  </a:tblPr>
                  <a:tblGrid>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7"/>
                          <a:stretch>
                            <a:fillRect t="-4167" r="-217857" b="-320833"/>
                          </a:stretch>
                        </a:blipFill>
                      </a:tcPr>
                    </a:tc>
                    <a:tc>
                      <a:txBody>
                        <a:bodyPr/>
                        <a:lstStyle/>
                        <a:p>
                          <a:endParaRPr lang="en-US"/>
                        </a:p>
                      </a:txBody>
                      <a:tcPr>
                        <a:blipFill>
                          <a:blip r:embed="rId7"/>
                          <a:stretch>
                            <a:fillRect l="-46667" t="-4167" r="-1667" b="-320833"/>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7"/>
                          <a:stretch>
                            <a:fillRect t="-100000" r="-217857" b="-208000"/>
                          </a:stretch>
                        </a:blipFill>
                      </a:tcPr>
                    </a:tc>
                    <a:tc>
                      <a:txBody>
                        <a:bodyPr/>
                        <a:lstStyle/>
                        <a:p>
                          <a:endParaRPr lang="en-US"/>
                        </a:p>
                      </a:txBody>
                      <a:tcPr>
                        <a:blipFill>
                          <a:blip r:embed="rId7"/>
                          <a:stretch>
                            <a:fillRect l="-46667" t="-100000" r="-1667" b="-208000"/>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7"/>
                          <a:stretch>
                            <a:fillRect t="-208333" r="-217857" b="-116667"/>
                          </a:stretch>
                        </a:blipFill>
                      </a:tcPr>
                    </a:tc>
                    <a:tc>
                      <a:txBody>
                        <a:bodyPr/>
                        <a:lstStyle/>
                        <a:p>
                          <a:endParaRPr lang="en-US"/>
                        </a:p>
                      </a:txBody>
                      <a:tcPr>
                        <a:blipFill>
                          <a:blip r:embed="rId7"/>
                          <a:stretch>
                            <a:fillRect l="-46667" t="-208333" r="-1667" b="-116667"/>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7"/>
                          <a:stretch>
                            <a:fillRect t="-308333" r="-217857" b="-16667"/>
                          </a:stretch>
                        </a:blipFill>
                      </a:tcPr>
                    </a:tc>
                    <a:tc>
                      <a:txBody>
                        <a:bodyPr/>
                        <a:lstStyle/>
                        <a:p>
                          <a:endParaRPr lang="en-US"/>
                        </a:p>
                      </a:txBody>
                      <a:tcPr>
                        <a:blipFill>
                          <a:blip r:embed="rId7"/>
                          <a:stretch>
                            <a:fillRect l="-46667" t="-308333" r="-1667" b="-16667"/>
                          </a:stretch>
                        </a:blipFill>
                      </a:tcPr>
                    </a:tc>
                    <a:extLst>
                      <a:ext uri="{0D108BD9-81ED-4DB2-BD59-A6C34878D82A}">
                        <a16:rowId xmlns:a16="http://schemas.microsoft.com/office/drawing/2014/main" val="706057352"/>
                      </a:ext>
                    </a:extLst>
                  </a:tr>
                </a:tbl>
              </a:graphicData>
            </a:graphic>
          </p:graphicFrame>
        </mc:Fallback>
      </mc:AlternateContent>
    </p:spTree>
    <p:extLst>
      <p:ext uri="{BB962C8B-B14F-4D97-AF65-F5344CB8AC3E}">
        <p14:creationId xmlns:p14="http://schemas.microsoft.com/office/powerpoint/2010/main" val="3820397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idx="4294967295"/>
          </p:nvPr>
        </p:nvSpPr>
        <p:spPr>
          <a:xfrm>
            <a:off x="304800" y="152400"/>
            <a:ext cx="8458200" cy="990600"/>
          </a:xfrm>
        </p:spPr>
        <p:txBody>
          <a:bodyPr/>
          <a:lstStyle/>
          <a:p>
            <a:r>
              <a:rPr lang="en-US" altLang="ko-KR" dirty="0"/>
              <a:t>Conditional Expectation</a:t>
            </a:r>
          </a:p>
        </p:txBody>
      </p:sp>
      <p:sp>
        <p:nvSpPr>
          <p:cNvPr id="25604"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21C93F-EB0B-B543-BFEB-6EC95DE5452F}"/>
                  </a:ext>
                </a:extLst>
              </p:cNvPr>
              <p:cNvSpPr txBox="1"/>
              <p:nvPr/>
            </p:nvSpPr>
            <p:spPr>
              <a:xfrm>
                <a:off x="369540" y="3697404"/>
                <a:ext cx="5066556" cy="3058145"/>
              </a:xfrm>
              <a:prstGeom prst="rect">
                <a:avLst/>
              </a:prstGeom>
              <a:noFill/>
            </p:spPr>
            <p:txBody>
              <a:bodyPr wrap="square" rtlCol="0">
                <a:spAutoFit/>
              </a:bodyPr>
              <a:lstStyle/>
              <a:p>
                <a:r>
                  <a:rPr lang="en-US" altLang="ko-KR" sz="2000" b="1" kern="0" dirty="0"/>
                  <a:t>Question:</a:t>
                </a:r>
                <a:r>
                  <a:rPr lang="en-US" altLang="ko-KR" sz="2000" kern="0" dirty="0"/>
                  <a:t> what is the expected number of “head” outcomes given that the first toss is “tail” / “head”:</a:t>
                </a:r>
                <a:endParaRPr lang="en-AU" sz="2000" b="0" i="1" kern="0"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AU" sz="2000" b="1" i="0" kern="0" smtClean="0">
                          <a:latin typeface="Cambria Math" panose="02040503050406030204" pitchFamily="18" charset="0"/>
                        </a:rPr>
                        <m:t>𝐄</m:t>
                      </m:r>
                      <m:d>
                        <m:dPr>
                          <m:begChr m:val="["/>
                          <m:endChr m:val="|"/>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𝑍</m:t>
                          </m:r>
                          <m:r>
                            <a:rPr lang="en-AU" sz="2000" b="0" i="1" kern="0" smtClean="0">
                              <a:latin typeface="Cambria Math" panose="02040503050406030204" pitchFamily="18" charset="0"/>
                            </a:rPr>
                            <m:t> </m:t>
                          </m:r>
                        </m:e>
                      </m:d>
                      <m:r>
                        <a:rPr lang="en-AU" sz="2000" b="0" i="1" kern="0" smtClean="0">
                          <a:latin typeface="Cambria Math" panose="02040503050406030204" pitchFamily="18" charset="0"/>
                        </a:rPr>
                        <m:t> </m:t>
                      </m:r>
                      <m:r>
                        <a:rPr lang="en-AU" sz="2000" b="0" i="1" kern="0" smtClean="0">
                          <a:latin typeface="Cambria Math" panose="02040503050406030204" pitchFamily="18" charset="0"/>
                        </a:rPr>
                        <m:t>𝑋</m:t>
                      </m:r>
                      <m:r>
                        <a:rPr lang="en-AU" sz="2000" b="0" i="1" kern="0" smtClean="0">
                          <a:latin typeface="Cambria Math" panose="02040503050406030204" pitchFamily="18" charset="0"/>
                        </a:rPr>
                        <m:t>=</m:t>
                      </m:r>
                      <m:r>
                        <a:rPr lang="en-AU" sz="2000" b="0" i="1" kern="0" smtClean="0">
                          <a:latin typeface="Cambria Math" panose="02040503050406030204" pitchFamily="18" charset="0"/>
                        </a:rPr>
                        <m:t>𝑇</m:t>
                      </m:r>
                      <m:r>
                        <a:rPr lang="en-AU" sz="2000" b="0" i="1" kern="0" smtClean="0">
                          <a:latin typeface="Cambria Math" panose="02040503050406030204" pitchFamily="18" charset="0"/>
                        </a:rPr>
                        <m:t>]=0⋅</m:t>
                      </m:r>
                      <m:f>
                        <m:fPr>
                          <m:ctrlPr>
                            <a:rPr lang="en-AU" sz="2000" i="1" kern="0">
                              <a:latin typeface="Cambria Math" panose="02040503050406030204" pitchFamily="18" charset="0"/>
                            </a:rPr>
                          </m:ctrlPr>
                        </m:fPr>
                        <m:num>
                          <m:r>
                            <a:rPr lang="en-AU" sz="2000" b="0" i="1" kern="0" smtClean="0">
                              <a:latin typeface="Cambria Math" panose="02040503050406030204" pitchFamily="18" charset="0"/>
                            </a:rPr>
                            <m:t>2</m:t>
                          </m:r>
                        </m:num>
                        <m:den>
                          <m:r>
                            <a:rPr lang="en-AU" sz="2000" b="0" i="1" kern="0" smtClean="0">
                              <a:latin typeface="Cambria Math" panose="02040503050406030204" pitchFamily="18" charset="0"/>
                            </a:rPr>
                            <m:t>3</m:t>
                          </m:r>
                        </m:den>
                      </m:f>
                      <m:r>
                        <a:rPr lang="en-AU" sz="2000" i="1" kern="0">
                          <a:latin typeface="Cambria Math" panose="02040503050406030204" pitchFamily="18" charset="0"/>
                        </a:rPr>
                        <m:t>+1⋅</m:t>
                      </m:r>
                      <m:f>
                        <m:fPr>
                          <m:ctrlPr>
                            <a:rPr lang="en-AU" sz="2000" i="1" kern="0">
                              <a:latin typeface="Cambria Math" panose="02040503050406030204" pitchFamily="18" charset="0"/>
                            </a:rPr>
                          </m:ctrlPr>
                        </m:fPr>
                        <m:num>
                          <m:r>
                            <a:rPr lang="en-AU" sz="2000" b="0" i="1" kern="0" smtClean="0">
                              <a:latin typeface="Cambria Math" panose="02040503050406030204" pitchFamily="18" charset="0"/>
                            </a:rPr>
                            <m:t>1</m:t>
                          </m:r>
                        </m:num>
                        <m:den>
                          <m:r>
                            <a:rPr lang="en-AU" sz="2000" b="0" i="1" kern="0" smtClean="0">
                              <a:latin typeface="Cambria Math" panose="02040503050406030204" pitchFamily="18" charset="0"/>
                            </a:rPr>
                            <m:t>3</m:t>
                          </m:r>
                        </m:den>
                      </m:f>
                      <m:r>
                        <a:rPr lang="en-AU" sz="2000" i="1" kern="0">
                          <a:latin typeface="Cambria Math" panose="02040503050406030204" pitchFamily="18" charset="0"/>
                        </a:rPr>
                        <m:t>+2⋅</m:t>
                      </m:r>
                      <m:r>
                        <a:rPr lang="en-AU" sz="2000" b="0" i="1" kern="0" smtClean="0">
                          <a:latin typeface="Cambria Math" panose="02040503050406030204" pitchFamily="18" charset="0"/>
                        </a:rPr>
                        <m:t>0</m:t>
                      </m:r>
                      <m:r>
                        <a:rPr lang="en-AU" sz="2000" i="1" kern="0">
                          <a:latin typeface="Cambria Math" panose="02040503050406030204" pitchFamily="18" charset="0"/>
                        </a:rPr>
                        <m:t>=</m:t>
                      </m:r>
                      <m:f>
                        <m:fPr>
                          <m:ctrlPr>
                            <a:rPr lang="en-AU" sz="2000" b="0" i="1" kern="0" smtClean="0">
                              <a:latin typeface="Cambria Math" panose="02040503050406030204" pitchFamily="18" charset="0"/>
                            </a:rPr>
                          </m:ctrlPr>
                        </m:fPr>
                        <m:num>
                          <m:r>
                            <a:rPr lang="en-AU" sz="2000" b="0" i="1" kern="0" smtClean="0">
                              <a:latin typeface="Cambria Math" panose="02040503050406030204" pitchFamily="18" charset="0"/>
                            </a:rPr>
                            <m:t>1</m:t>
                          </m:r>
                        </m:num>
                        <m:den>
                          <m:r>
                            <a:rPr lang="en-AU" sz="2000" b="0" i="1" kern="0" smtClean="0">
                              <a:latin typeface="Cambria Math" panose="02040503050406030204" pitchFamily="18" charset="0"/>
                            </a:rPr>
                            <m:t>3</m:t>
                          </m:r>
                        </m:den>
                      </m:f>
                    </m:oMath>
                  </m:oMathPara>
                </a14:m>
                <a:endParaRPr lang="en-AU" sz="2000" b="0" i="1" kern="0" dirty="0">
                  <a:latin typeface="Cambria Math" panose="02040503050406030204" pitchFamily="18" charset="0"/>
                </a:endParaRPr>
              </a:p>
              <a:p>
                <a:pPr>
                  <a:lnSpc>
                    <a:spcPct val="150000"/>
                  </a:lnSpc>
                  <a:spcBef>
                    <a:spcPts val="1200"/>
                  </a:spcBef>
                </a:pPr>
                <a14:m>
                  <m:oMathPara xmlns:m="http://schemas.openxmlformats.org/officeDocument/2006/math">
                    <m:oMathParaPr>
                      <m:jc m:val="centerGroup"/>
                    </m:oMathParaPr>
                    <m:oMath xmlns:m="http://schemas.openxmlformats.org/officeDocument/2006/math">
                      <m:r>
                        <a:rPr lang="en-AU" sz="2000" b="1" i="0" kern="0" smtClean="0">
                          <a:latin typeface="Cambria Math" panose="02040503050406030204" pitchFamily="18" charset="0"/>
                        </a:rPr>
                        <m:t>𝐄</m:t>
                      </m:r>
                      <m:d>
                        <m:dPr>
                          <m:begChr m:val="["/>
                          <m:endChr m:val="|"/>
                          <m:ctrlPr>
                            <a:rPr lang="en-AU" sz="2000" b="0" i="1" kern="0" smtClean="0">
                              <a:latin typeface="Cambria Math" panose="02040503050406030204" pitchFamily="18" charset="0"/>
                            </a:rPr>
                          </m:ctrlPr>
                        </m:dPr>
                        <m:e>
                          <m:r>
                            <a:rPr lang="en-AU" sz="2000" b="0" i="1" kern="0" smtClean="0">
                              <a:latin typeface="Cambria Math" panose="02040503050406030204" pitchFamily="18" charset="0"/>
                            </a:rPr>
                            <m:t>𝑍</m:t>
                          </m:r>
                          <m:r>
                            <a:rPr lang="en-AU" sz="2000" b="0" i="1" kern="0" smtClean="0">
                              <a:latin typeface="Cambria Math" panose="02040503050406030204" pitchFamily="18" charset="0"/>
                            </a:rPr>
                            <m:t> </m:t>
                          </m:r>
                        </m:e>
                      </m:d>
                      <m:r>
                        <a:rPr lang="en-AU" sz="2000" i="1" kern="0">
                          <a:latin typeface="Cambria Math" panose="02040503050406030204" pitchFamily="18" charset="0"/>
                        </a:rPr>
                        <m:t> </m:t>
                      </m:r>
                      <m:r>
                        <a:rPr lang="en-AU" sz="2000" i="1" kern="0">
                          <a:latin typeface="Cambria Math" panose="02040503050406030204" pitchFamily="18" charset="0"/>
                        </a:rPr>
                        <m:t>𝑋</m:t>
                      </m:r>
                      <m:r>
                        <a:rPr lang="en-AU" sz="2000" i="1" kern="0">
                          <a:latin typeface="Cambria Math" panose="02040503050406030204" pitchFamily="18" charset="0"/>
                        </a:rPr>
                        <m:t>=</m:t>
                      </m:r>
                      <m:r>
                        <a:rPr lang="en-AU" sz="2000" i="1" kern="0">
                          <a:latin typeface="Cambria Math" panose="02040503050406030204" pitchFamily="18" charset="0"/>
                        </a:rPr>
                        <m:t>𝐻</m:t>
                      </m:r>
                      <m:r>
                        <a:rPr lang="en-AU" sz="2000" i="1" kern="0">
                          <a:latin typeface="Cambria Math" panose="02040503050406030204" pitchFamily="18" charset="0"/>
                        </a:rPr>
                        <m:t>]=0⋅0+1⋅</m:t>
                      </m:r>
                      <m:f>
                        <m:fPr>
                          <m:ctrlPr>
                            <a:rPr lang="en-AU" sz="2000" i="1" kern="0">
                              <a:latin typeface="Cambria Math" panose="02040503050406030204" pitchFamily="18" charset="0"/>
                            </a:rPr>
                          </m:ctrlPr>
                        </m:fPr>
                        <m:num>
                          <m:r>
                            <a:rPr lang="en-AU" sz="2000" b="0" i="1" kern="0" smtClean="0">
                              <a:latin typeface="Cambria Math" panose="02040503050406030204" pitchFamily="18" charset="0"/>
                            </a:rPr>
                            <m:t>2</m:t>
                          </m:r>
                        </m:num>
                        <m:den>
                          <m:r>
                            <a:rPr lang="en-AU" sz="2000" b="0" i="1" kern="0" smtClean="0">
                              <a:latin typeface="Cambria Math" panose="02040503050406030204" pitchFamily="18" charset="0"/>
                            </a:rPr>
                            <m:t>3</m:t>
                          </m:r>
                        </m:den>
                      </m:f>
                      <m:r>
                        <a:rPr lang="en-AU" sz="2000" i="1" kern="0">
                          <a:latin typeface="Cambria Math" panose="02040503050406030204" pitchFamily="18" charset="0"/>
                        </a:rPr>
                        <m:t>+2⋅</m:t>
                      </m:r>
                      <m:f>
                        <m:fPr>
                          <m:ctrlPr>
                            <a:rPr lang="en-AU" sz="2000" i="1" kern="0">
                              <a:latin typeface="Cambria Math" panose="02040503050406030204" pitchFamily="18" charset="0"/>
                            </a:rPr>
                          </m:ctrlPr>
                        </m:fPr>
                        <m:num>
                          <m:r>
                            <a:rPr lang="en-AU" sz="2000" i="1" kern="0">
                              <a:latin typeface="Cambria Math" panose="02040503050406030204" pitchFamily="18" charset="0"/>
                            </a:rPr>
                            <m:t>1</m:t>
                          </m:r>
                        </m:num>
                        <m:den>
                          <m:r>
                            <a:rPr lang="en-AU" sz="2000" b="0" i="1" kern="0" smtClean="0">
                              <a:latin typeface="Cambria Math" panose="02040503050406030204" pitchFamily="18" charset="0"/>
                            </a:rPr>
                            <m:t>3</m:t>
                          </m:r>
                        </m:den>
                      </m:f>
                      <m:r>
                        <a:rPr lang="en-AU" sz="2000" i="1" kern="0">
                          <a:latin typeface="Cambria Math" panose="02040503050406030204" pitchFamily="18" charset="0"/>
                        </a:rPr>
                        <m:t>=</m:t>
                      </m:r>
                      <m:f>
                        <m:fPr>
                          <m:ctrlPr>
                            <a:rPr lang="en-AU" sz="2000" i="1" kern="0">
                              <a:latin typeface="Cambria Math" panose="02040503050406030204" pitchFamily="18" charset="0"/>
                            </a:rPr>
                          </m:ctrlPr>
                        </m:fPr>
                        <m:num>
                          <m:r>
                            <a:rPr lang="en-AU" sz="2000" b="0" i="1" kern="0" smtClean="0">
                              <a:latin typeface="Cambria Math" panose="02040503050406030204" pitchFamily="18" charset="0"/>
                            </a:rPr>
                            <m:t>4</m:t>
                          </m:r>
                        </m:num>
                        <m:den>
                          <m:r>
                            <a:rPr lang="en-AU" sz="2000" i="1" kern="0">
                              <a:latin typeface="Cambria Math" panose="02040503050406030204" pitchFamily="18" charset="0"/>
                            </a:rPr>
                            <m:t>3</m:t>
                          </m:r>
                        </m:den>
                      </m:f>
                    </m:oMath>
                  </m:oMathPara>
                </a14:m>
                <a:endParaRPr lang="en-AU" sz="2000" b="0" kern="0" dirty="0"/>
              </a:p>
              <a:p>
                <a:endParaRPr lang="en-US" sz="2000" kern="0" dirty="0"/>
              </a:p>
            </p:txBody>
          </p:sp>
        </mc:Choice>
        <mc:Fallback xmlns="">
          <p:sp>
            <p:nvSpPr>
              <p:cNvPr id="5" name="TextBox 4">
                <a:extLst>
                  <a:ext uri="{FF2B5EF4-FFF2-40B4-BE49-F238E27FC236}">
                    <a16:creationId xmlns:a16="http://schemas.microsoft.com/office/drawing/2014/main" id="{9721C93F-EB0B-B543-BFEB-6EC95DE5452F}"/>
                  </a:ext>
                </a:extLst>
              </p:cNvPr>
              <p:cNvSpPr txBox="1">
                <a:spLocks noRot="1" noChangeAspect="1" noMove="1" noResize="1" noEditPoints="1" noAdjustHandles="1" noChangeArrowheads="1" noChangeShapeType="1" noTextEdit="1"/>
              </p:cNvSpPr>
              <p:nvPr/>
            </p:nvSpPr>
            <p:spPr>
              <a:xfrm>
                <a:off x="369540" y="3697404"/>
                <a:ext cx="5066556" cy="3058145"/>
              </a:xfrm>
              <a:prstGeom prst="rect">
                <a:avLst/>
              </a:prstGeom>
              <a:blipFill>
                <a:blip r:embed="rId3"/>
                <a:stretch>
                  <a:fillRect l="-1250" t="-1245" r="-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0E4970-3AFE-8FD5-0CBB-BA42D6168203}"/>
                  </a:ext>
                </a:extLst>
              </p:cNvPr>
              <p:cNvSpPr txBox="1"/>
              <p:nvPr/>
            </p:nvSpPr>
            <p:spPr>
              <a:xfrm>
                <a:off x="347240" y="1655180"/>
                <a:ext cx="8035790" cy="400110"/>
              </a:xfrm>
              <a:prstGeom prst="rect">
                <a:avLst/>
              </a:prstGeom>
              <a:noFill/>
            </p:spPr>
            <p:txBody>
              <a:bodyPr wrap="none" rtlCol="0">
                <a:spAutoFit/>
              </a:bodyPr>
              <a:lstStyle/>
              <a:p>
                <a:r>
                  <a:rPr lang="en-AU" sz="2000" dirty="0"/>
                  <a:t>For </a:t>
                </a:r>
                <a14:m>
                  <m:oMath xmlns:m="http://schemas.openxmlformats.org/officeDocument/2006/math">
                    <m:r>
                      <a:rPr lang="en-AU" sz="2000" i="1">
                        <a:latin typeface="Cambria Math" panose="02040503050406030204" pitchFamily="18" charset="0"/>
                      </a:rPr>
                      <m:t>𝑦</m:t>
                    </m:r>
                    <m:r>
                      <a:rPr lang="en-AU" sz="2000" b="0" i="1" smtClean="0">
                        <a:latin typeface="Cambria Math" panose="02040503050406030204" pitchFamily="18" charset="0"/>
                      </a:rPr>
                      <m:t>∈</m:t>
                    </m:r>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𝐷</m:t>
                        </m:r>
                      </m:e>
                      <m:sub>
                        <m:r>
                          <a:rPr lang="en-AU" sz="2000" b="0" i="1" smtClean="0">
                            <a:latin typeface="Cambria Math" panose="02040503050406030204" pitchFamily="18" charset="0"/>
                          </a:rPr>
                          <m:t>𝑌</m:t>
                        </m:r>
                      </m:sub>
                    </m:sSub>
                  </m:oMath>
                </a14:m>
                <a:r>
                  <a:rPr lang="en-AU" sz="2000" dirty="0"/>
                  <a:t> with </a:t>
                </a:r>
                <a14:m>
                  <m:oMath xmlns:m="http://schemas.openxmlformats.org/officeDocument/2006/math">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r>
                          <a:rPr lang="en-AU" sz="2000" i="1">
                            <a:latin typeface="Cambria Math" panose="02040503050406030204" pitchFamily="18" charset="0"/>
                          </a:rPr>
                          <m:t>𝑦</m:t>
                        </m:r>
                      </m:e>
                    </m:d>
                    <m:r>
                      <a:rPr lang="en-AU" sz="2000" b="0" i="1" smtClean="0">
                        <a:latin typeface="Cambria Math" panose="02040503050406030204" pitchFamily="18" charset="0"/>
                      </a:rPr>
                      <m:t>&gt;0</m:t>
                    </m:r>
                  </m:oMath>
                </a14:m>
                <a:r>
                  <a:rPr lang="en-AU" sz="2000" dirty="0"/>
                  <a:t>, we can also define </a:t>
                </a:r>
                <a:r>
                  <a:rPr lang="en-AU" sz="2000" dirty="0">
                    <a:solidFill>
                      <a:srgbClr val="0070C0"/>
                    </a:solidFill>
                  </a:rPr>
                  <a:t>conditional expectation</a:t>
                </a:r>
                <a:r>
                  <a:rPr lang="en-AU" sz="2000" dirty="0"/>
                  <a:t>:</a:t>
                </a:r>
              </a:p>
            </p:txBody>
          </p:sp>
        </mc:Choice>
        <mc:Fallback xmlns="">
          <p:sp>
            <p:nvSpPr>
              <p:cNvPr id="2" name="TextBox 1">
                <a:extLst>
                  <a:ext uri="{FF2B5EF4-FFF2-40B4-BE49-F238E27FC236}">
                    <a16:creationId xmlns:a16="http://schemas.microsoft.com/office/drawing/2014/main" id="{7B0E4970-3AFE-8FD5-0CBB-BA42D6168203}"/>
                  </a:ext>
                </a:extLst>
              </p:cNvPr>
              <p:cNvSpPr txBox="1">
                <a:spLocks noRot="1" noChangeAspect="1" noMove="1" noResize="1" noEditPoints="1" noAdjustHandles="1" noChangeArrowheads="1" noChangeShapeType="1" noTextEdit="1"/>
              </p:cNvSpPr>
              <p:nvPr/>
            </p:nvSpPr>
            <p:spPr>
              <a:xfrm>
                <a:off x="347240" y="1655180"/>
                <a:ext cx="8035790" cy="400110"/>
              </a:xfrm>
              <a:prstGeom prst="rect">
                <a:avLst/>
              </a:prstGeom>
              <a:blipFill>
                <a:blip r:embed="rId4"/>
                <a:stretch>
                  <a:fillRect l="-790" t="-9375"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B51F722-4C3E-E040-2A30-E43AB6C88F76}"/>
                  </a:ext>
                </a:extLst>
              </p:cNvPr>
              <p:cNvSpPr txBox="1"/>
              <p:nvPr/>
            </p:nvSpPr>
            <p:spPr>
              <a:xfrm>
                <a:off x="1115616" y="2057390"/>
                <a:ext cx="3170933" cy="679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r>
                            <a:rPr lang="en-AU" sz="1800" b="0" i="1" smtClean="0">
                              <a:latin typeface="Cambria Math" panose="02040503050406030204" pitchFamily="18" charset="0"/>
                            </a:rPr>
                            <m:t> | </m:t>
                          </m:r>
                          <m:r>
                            <a:rPr lang="en-AU" sz="1800" b="0" i="1" smtClean="0">
                              <a:latin typeface="Cambria Math" panose="02040503050406030204" pitchFamily="18" charset="0"/>
                            </a:rPr>
                            <m:t>𝑌</m:t>
                          </m:r>
                          <m:r>
                            <a:rPr lang="en-AU" sz="1800" b="0" i="1" smtClean="0">
                              <a:latin typeface="Cambria Math" panose="02040503050406030204" pitchFamily="18" charset="0"/>
                            </a:rPr>
                            <m:t>=</m:t>
                          </m:r>
                          <m:r>
                            <a:rPr lang="en-AU" sz="1800" b="0" i="1" smtClean="0">
                              <a:latin typeface="Cambria Math" panose="02040503050406030204" pitchFamily="18" charset="0"/>
                            </a:rPr>
                            <m:t>𝑦</m:t>
                          </m:r>
                        </m:e>
                      </m:d>
                      <m:r>
                        <a:rPr lang="en-AU" sz="1800" b="0" i="1" smtClean="0">
                          <a:latin typeface="Cambria Math" panose="02040503050406030204" pitchFamily="18" charset="0"/>
                        </a:rPr>
                        <m:t>=</m:t>
                      </m:r>
                      <m:nary>
                        <m:naryPr>
                          <m:ctrlPr>
                            <a:rPr lang="en-AU" sz="1800" b="0" i="1" smtClean="0">
                              <a:latin typeface="Cambria Math" panose="02040503050406030204" pitchFamily="18" charset="0"/>
                            </a:rPr>
                          </m:ctrlPr>
                        </m:naryPr>
                        <m:sub>
                          <m:sSub>
                            <m:sSubPr>
                              <m:ctrlPr>
                                <a:rPr lang="en-AU" sz="1800" b="0" i="1" smtClean="0">
                                  <a:latin typeface="Cambria Math" panose="02040503050406030204" pitchFamily="18" charset="0"/>
                                </a:rPr>
                              </m:ctrlPr>
                            </m:sSubPr>
                            <m:e>
                              <m:r>
                                <a:rPr lang="en-AU" sz="1800" b="0" i="1" smtClean="0">
                                  <a:latin typeface="Cambria Math" panose="02040503050406030204" pitchFamily="18" charset="0"/>
                                </a:rPr>
                                <m:t>𝐷</m:t>
                              </m:r>
                            </m:e>
                            <m:sub>
                              <m:r>
                                <a:rPr lang="en-AU" sz="1800" b="0" i="1" smtClean="0">
                                  <a:latin typeface="Cambria Math" panose="02040503050406030204" pitchFamily="18" charset="0"/>
                                </a:rPr>
                                <m:t>𝑋</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d>
                            <m:dPr>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𝑥</m:t>
                              </m:r>
                              <m:r>
                                <a:rPr lang="en-AU" sz="1800" b="0" i="1" smtClean="0">
                                  <a:latin typeface="Cambria Math" panose="02040503050406030204" pitchFamily="18" charset="0"/>
                                </a:rPr>
                                <m:t> </m:t>
                              </m:r>
                            </m:e>
                          </m:d>
                          <m:r>
                            <a:rPr lang="en-AU" sz="1800" b="0" i="1" smtClean="0">
                              <a:latin typeface="Cambria Math" panose="02040503050406030204" pitchFamily="18" charset="0"/>
                            </a:rPr>
                            <m:t> </m:t>
                          </m:r>
                          <m:r>
                            <a:rPr lang="en-AU" sz="1800" b="0" i="1" smtClean="0">
                              <a:latin typeface="Cambria Math" panose="02040503050406030204" pitchFamily="18" charset="0"/>
                            </a:rPr>
                            <m:t>𝑦</m:t>
                          </m:r>
                          <m:r>
                            <a:rPr lang="en-AU" sz="1800" b="0" i="1" smtClean="0">
                              <a:latin typeface="Cambria Math" panose="02040503050406030204" pitchFamily="18" charset="0"/>
                            </a:rPr>
                            <m:t>)</m:t>
                          </m:r>
                        </m:e>
                      </m:nary>
                      <m:r>
                        <a:rPr lang="en-AU" sz="1800" b="0" i="1" smtClean="0">
                          <a:latin typeface="Cambria Math" panose="02040503050406030204" pitchFamily="18" charset="0"/>
                        </a:rPr>
                        <m:t>𝑑𝑥</m:t>
                      </m:r>
                    </m:oMath>
                  </m:oMathPara>
                </a14:m>
                <a:endParaRPr lang="en-AU" sz="1800" dirty="0"/>
              </a:p>
            </p:txBody>
          </p:sp>
        </mc:Choice>
        <mc:Fallback xmlns="">
          <p:sp>
            <p:nvSpPr>
              <p:cNvPr id="4" name="TextBox 3">
                <a:extLst>
                  <a:ext uri="{FF2B5EF4-FFF2-40B4-BE49-F238E27FC236}">
                    <a16:creationId xmlns:a16="http://schemas.microsoft.com/office/drawing/2014/main" id="{1B51F722-4C3E-E040-2A30-E43AB6C88F76}"/>
                  </a:ext>
                </a:extLst>
              </p:cNvPr>
              <p:cNvSpPr txBox="1">
                <a:spLocks noRot="1" noChangeAspect="1" noMove="1" noResize="1" noEditPoints="1" noAdjustHandles="1" noChangeArrowheads="1" noChangeShapeType="1" noTextEdit="1"/>
              </p:cNvSpPr>
              <p:nvPr/>
            </p:nvSpPr>
            <p:spPr>
              <a:xfrm>
                <a:off x="1115616" y="2057390"/>
                <a:ext cx="3170933" cy="679866"/>
              </a:xfrm>
              <a:prstGeom prst="rect">
                <a:avLst/>
              </a:prstGeom>
              <a:blipFill>
                <a:blip r:embed="rId5"/>
                <a:stretch>
                  <a:fillRect l="-797" t="-160000" r="-797" b="-2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F099FB-E8C5-D172-961A-BF2D737A7CC6}"/>
                  </a:ext>
                </a:extLst>
              </p:cNvPr>
              <p:cNvSpPr txBox="1"/>
              <p:nvPr/>
            </p:nvSpPr>
            <p:spPr>
              <a:xfrm>
                <a:off x="4697957" y="2102062"/>
                <a:ext cx="3246210" cy="625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800" b="1" i="0" smtClean="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𝑋</m:t>
                          </m:r>
                          <m:r>
                            <a:rPr lang="en-AU" sz="1800" b="0" i="1" smtClean="0">
                              <a:latin typeface="Cambria Math" panose="02040503050406030204" pitchFamily="18" charset="0"/>
                            </a:rPr>
                            <m:t> | </m:t>
                          </m:r>
                          <m:r>
                            <a:rPr lang="en-AU" sz="1800" b="0" i="1" smtClean="0">
                              <a:latin typeface="Cambria Math" panose="02040503050406030204" pitchFamily="18" charset="0"/>
                            </a:rPr>
                            <m:t>𝑌</m:t>
                          </m:r>
                          <m:r>
                            <a:rPr lang="en-AU" sz="1800" b="0" i="1" smtClean="0">
                              <a:latin typeface="Cambria Math" panose="02040503050406030204" pitchFamily="18" charset="0"/>
                            </a:rPr>
                            <m:t>=</m:t>
                          </m:r>
                          <m:r>
                            <a:rPr lang="en-AU" sz="1800" b="0" i="1" smtClean="0">
                              <a:latin typeface="Cambria Math" panose="02040503050406030204" pitchFamily="18" charset="0"/>
                            </a:rPr>
                            <m:t>𝑦</m:t>
                          </m:r>
                        </m:e>
                      </m:d>
                      <m:r>
                        <a:rPr lang="en-AU" sz="1800" b="0" i="1" smtClean="0">
                          <a:latin typeface="Cambria Math" panose="02040503050406030204" pitchFamily="18" charset="0"/>
                        </a:rPr>
                        <m:t>=</m:t>
                      </m:r>
                      <m:nary>
                        <m:naryPr>
                          <m:chr m:val="∑"/>
                          <m:limLoc m:val="subSup"/>
                          <m:ctrlPr>
                            <a:rPr lang="en-AU" sz="1800" b="0" i="1" smtClean="0">
                              <a:latin typeface="Cambria Math" panose="02040503050406030204" pitchFamily="18" charset="0"/>
                            </a:rPr>
                          </m:ctrlPr>
                        </m:naryPr>
                        <m:sub>
                          <m:r>
                            <m:rPr>
                              <m:brk m:alnAt="25"/>
                            </m:rPr>
                            <a:rPr lang="en-AU" sz="1800" b="0" i="1" smtClean="0">
                              <a:latin typeface="Cambria Math" panose="02040503050406030204" pitchFamily="18" charset="0"/>
                            </a:rPr>
                            <m:t>𝑥</m:t>
                          </m:r>
                          <m:r>
                            <a:rPr lang="en-AU" sz="1800" b="0" i="1" smtClean="0">
                              <a:latin typeface="Cambria Math" panose="02040503050406030204" pitchFamily="18" charset="0"/>
                              <a:ea typeface="Cambria Math" panose="02040503050406030204" pitchFamily="18" charset="0"/>
                            </a:rPr>
                            <m:t>∈</m:t>
                          </m:r>
                          <m:sSub>
                            <m:sSubPr>
                              <m:ctrlPr>
                                <a:rPr lang="en-AU" sz="1800" b="0" i="1" smtClean="0">
                                  <a:latin typeface="Cambria Math" panose="02040503050406030204" pitchFamily="18" charset="0"/>
                                  <a:ea typeface="Cambria Math" panose="02040503050406030204" pitchFamily="18" charset="0"/>
                                </a:rPr>
                              </m:ctrlPr>
                            </m:sSubPr>
                            <m:e>
                              <m:r>
                                <m:rPr>
                                  <m:brk m:alnAt="25"/>
                                </m:rPr>
                                <a:rPr lang="en-AU" sz="1800" b="0" i="1" smtClean="0">
                                  <a:latin typeface="Cambria Math" panose="02040503050406030204" pitchFamily="18" charset="0"/>
                                  <a:ea typeface="Cambria Math" panose="02040503050406030204" pitchFamily="18" charset="0"/>
                                </a:rPr>
                                <m:t>𝐷</m:t>
                              </m:r>
                            </m:e>
                            <m:sub>
                              <m:r>
                                <m:rPr>
                                  <m:brk m:alnAt="25"/>
                                </m:rPr>
                                <a:rPr lang="en-AU" sz="1800" b="0" i="1" smtClean="0">
                                  <a:latin typeface="Cambria Math" panose="02040503050406030204" pitchFamily="18" charset="0"/>
                                  <a:ea typeface="Cambria Math" panose="02040503050406030204" pitchFamily="18" charset="0"/>
                                </a:rPr>
                                <m:t>𝑥</m:t>
                              </m:r>
                            </m:sub>
                          </m:sSub>
                        </m:sub>
                        <m:sup/>
                        <m:e>
                          <m:r>
                            <a:rPr lang="en-AU" sz="1800" b="0" i="1" smtClean="0">
                              <a:latin typeface="Cambria Math" panose="02040503050406030204" pitchFamily="18" charset="0"/>
                            </a:rPr>
                            <m:t>𝑥</m:t>
                          </m:r>
                          <m:r>
                            <a:rPr lang="en-AU" sz="1800" b="0" i="1" smtClean="0">
                              <a:latin typeface="Cambria Math" panose="02040503050406030204" pitchFamily="18" charset="0"/>
                            </a:rPr>
                            <m:t> </m:t>
                          </m:r>
                          <m:r>
                            <a:rPr lang="en-AU" sz="1800" b="0" i="1" smtClean="0">
                              <a:latin typeface="Cambria Math" panose="02040503050406030204" pitchFamily="18" charset="0"/>
                            </a:rPr>
                            <m:t>𝑝</m:t>
                          </m:r>
                          <m:d>
                            <m:dPr>
                              <m:endChr m:val="|"/>
                              <m:ctrlPr>
                                <a:rPr lang="en-AU" sz="1800" b="0" i="1" smtClean="0">
                                  <a:latin typeface="Cambria Math" panose="02040503050406030204" pitchFamily="18" charset="0"/>
                                </a:rPr>
                              </m:ctrlPr>
                            </m:dPr>
                            <m:e>
                              <m:r>
                                <a:rPr lang="en-AU" sz="1800" b="0" i="1" smtClean="0">
                                  <a:latin typeface="Cambria Math" panose="02040503050406030204" pitchFamily="18" charset="0"/>
                                </a:rPr>
                                <m:t>𝑥</m:t>
                              </m:r>
                              <m:r>
                                <a:rPr lang="en-AU" sz="1800" b="0" i="1" smtClean="0">
                                  <a:latin typeface="Cambria Math" panose="02040503050406030204" pitchFamily="18" charset="0"/>
                                </a:rPr>
                                <m:t> </m:t>
                              </m:r>
                            </m:e>
                          </m:d>
                          <m:r>
                            <a:rPr lang="en-AU" sz="1800" b="0" i="1" smtClean="0">
                              <a:latin typeface="Cambria Math" panose="02040503050406030204" pitchFamily="18" charset="0"/>
                            </a:rPr>
                            <m:t> </m:t>
                          </m:r>
                          <m:r>
                            <a:rPr lang="en-AU" sz="1800" b="0" i="1" smtClean="0">
                              <a:latin typeface="Cambria Math" panose="02040503050406030204" pitchFamily="18" charset="0"/>
                            </a:rPr>
                            <m:t>𝑦</m:t>
                          </m:r>
                          <m:r>
                            <a:rPr lang="en-AU" sz="1800" b="0" i="1" smtClean="0">
                              <a:latin typeface="Cambria Math" panose="02040503050406030204" pitchFamily="18" charset="0"/>
                            </a:rPr>
                            <m:t>)</m:t>
                          </m:r>
                        </m:e>
                      </m:nary>
                    </m:oMath>
                  </m:oMathPara>
                </a14:m>
                <a:endParaRPr lang="en-AU" sz="1800" dirty="0"/>
              </a:p>
            </p:txBody>
          </p:sp>
        </mc:Choice>
        <mc:Fallback xmlns="">
          <p:sp>
            <p:nvSpPr>
              <p:cNvPr id="9" name="TextBox 8">
                <a:extLst>
                  <a:ext uri="{FF2B5EF4-FFF2-40B4-BE49-F238E27FC236}">
                    <a16:creationId xmlns:a16="http://schemas.microsoft.com/office/drawing/2014/main" id="{F5F099FB-E8C5-D172-961A-BF2D737A7CC6}"/>
                  </a:ext>
                </a:extLst>
              </p:cNvPr>
              <p:cNvSpPr txBox="1">
                <a:spLocks noRot="1" noChangeAspect="1" noMove="1" noResize="1" noEditPoints="1" noAdjustHandles="1" noChangeArrowheads="1" noChangeShapeType="1" noTextEdit="1"/>
              </p:cNvSpPr>
              <p:nvPr/>
            </p:nvSpPr>
            <p:spPr>
              <a:xfrm>
                <a:off x="4697957" y="2102062"/>
                <a:ext cx="3246210" cy="625492"/>
              </a:xfrm>
              <a:prstGeom prst="rect">
                <a:avLst/>
              </a:prstGeom>
              <a:blipFill>
                <a:blip r:embed="rId6"/>
                <a:stretch>
                  <a:fillRect l="-1172" t="-152000" r="-1953" b="-226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FDA0680-C6B7-2EA1-E2AA-AED1FD0BFD90}"/>
              </a:ext>
            </a:extLst>
          </p:cNvPr>
          <p:cNvSpPr txBox="1"/>
          <p:nvPr/>
        </p:nvSpPr>
        <p:spPr>
          <a:xfrm>
            <a:off x="5749773" y="2873235"/>
            <a:ext cx="1070101" cy="338554"/>
          </a:xfrm>
          <a:prstGeom prst="rect">
            <a:avLst/>
          </a:prstGeom>
          <a:noFill/>
        </p:spPr>
        <p:txBody>
          <a:bodyPr wrap="none" rtlCol="0">
            <a:spAutoFit/>
          </a:bodyPr>
          <a:lstStyle/>
          <a:p>
            <a:r>
              <a:rPr lang="en-AU" dirty="0">
                <a:solidFill>
                  <a:srgbClr val="FF0000"/>
                </a:solidFill>
              </a:rPr>
              <a:t>discrete X</a:t>
            </a:r>
          </a:p>
        </p:txBody>
      </p:sp>
      <p:sp>
        <p:nvSpPr>
          <p:cNvPr id="12" name="TextBox 11">
            <a:extLst>
              <a:ext uri="{FF2B5EF4-FFF2-40B4-BE49-F238E27FC236}">
                <a16:creationId xmlns:a16="http://schemas.microsoft.com/office/drawing/2014/main" id="{6CB17468-3242-045E-B1B6-40FBE26B900E}"/>
              </a:ext>
            </a:extLst>
          </p:cNvPr>
          <p:cNvSpPr txBox="1"/>
          <p:nvPr/>
        </p:nvSpPr>
        <p:spPr>
          <a:xfrm>
            <a:off x="1806909" y="2881111"/>
            <a:ext cx="1348446" cy="338554"/>
          </a:xfrm>
          <a:prstGeom prst="rect">
            <a:avLst/>
          </a:prstGeom>
          <a:noFill/>
        </p:spPr>
        <p:txBody>
          <a:bodyPr wrap="none" rtlCol="0">
            <a:spAutoFit/>
          </a:bodyPr>
          <a:lstStyle/>
          <a:p>
            <a:r>
              <a:rPr lang="en-AU" dirty="0">
                <a:solidFill>
                  <a:srgbClr val="FF0000"/>
                </a:solidFill>
              </a:rPr>
              <a:t>continuous X</a:t>
            </a:r>
          </a:p>
        </p:txBody>
      </p:sp>
      <mc:AlternateContent xmlns:mc="http://schemas.openxmlformats.org/markup-compatibility/2006" xmlns:a14="http://schemas.microsoft.com/office/drawing/2010/main">
        <mc:Choice Requires="a14">
          <p:graphicFrame>
            <p:nvGraphicFramePr>
              <p:cNvPr id="6" name="Table 3">
                <a:extLst>
                  <a:ext uri="{FF2B5EF4-FFF2-40B4-BE49-F238E27FC236}">
                    <a16:creationId xmlns:a16="http://schemas.microsoft.com/office/drawing/2014/main" id="{EC7D6F38-EEFC-AE2F-0AD7-5B26CEFBF1C7}"/>
                  </a:ext>
                </a:extLst>
              </p:cNvPr>
              <p:cNvGraphicFramePr>
                <a:graphicFrameLocks noGrp="1"/>
              </p:cNvGraphicFramePr>
              <p:nvPr>
                <p:extLst>
                  <p:ext uri="{D42A27DB-BD31-4B8C-83A1-F6EECF244321}">
                    <p14:modId xmlns:p14="http://schemas.microsoft.com/office/powerpoint/2010/main" val="3615016508"/>
                  </p:ext>
                </p:extLst>
              </p:nvPr>
            </p:nvGraphicFramePr>
            <p:xfrm>
              <a:off x="6084168" y="4711061"/>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170316">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𝑋</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𝑌</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𝑍</m:t>
                                </m:r>
                              </m:oMath>
                            </m:oMathPara>
                          </a14:m>
                          <a:endParaRPr lang="en-US" sz="1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solidFill>
                                      <a:schemeClr val="tx1"/>
                                    </a:solidFill>
                                    <a:latin typeface="Cambria Math" panose="02040503050406030204" pitchFamily="18" charset="0"/>
                                  </a:rPr>
                                  <m:t>𝑝</m:t>
                                </m:r>
                              </m:oMath>
                            </m:oMathPara>
                          </a14:m>
                          <a:endParaRPr lang="en-US" sz="1400" dirty="0">
                            <a:solidFill>
                              <a:schemeClr val="tx1"/>
                            </a:solidFill>
                          </a:endParaRPr>
                        </a:p>
                      </a:txBody>
                      <a:tcPr/>
                    </a:tc>
                    <a:extLst>
                      <a:ext uri="{0D108BD9-81ED-4DB2-BD59-A6C34878D82A}">
                        <a16:rowId xmlns:a16="http://schemas.microsoft.com/office/drawing/2014/main" val="1138119845"/>
                      </a:ext>
                    </a:extLst>
                  </a:tr>
                  <a:tr h="170316">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US" sz="1400" dirty="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0</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4/9</m:t>
                                </m:r>
                              </m:oMath>
                            </m:oMathPara>
                          </a14:m>
                          <a:endParaRPr lang="en-US" sz="1400" dirty="0"/>
                        </a:p>
                      </a:txBody>
                      <a:tcPr/>
                    </a:tc>
                    <a:extLst>
                      <a:ext uri="{0D108BD9-81ED-4DB2-BD59-A6C34878D82A}">
                        <a16:rowId xmlns:a16="http://schemas.microsoft.com/office/drawing/2014/main" val="1161148645"/>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4156083343"/>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𝑇</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2/9</m:t>
                                </m:r>
                              </m:oMath>
                            </m:oMathPara>
                          </a14:m>
                          <a:endParaRPr lang="en-US" sz="1400" dirty="0"/>
                        </a:p>
                      </a:txBody>
                      <a:tcPr/>
                    </a:tc>
                    <a:extLst>
                      <a:ext uri="{0D108BD9-81ED-4DB2-BD59-A6C34878D82A}">
                        <a16:rowId xmlns:a16="http://schemas.microsoft.com/office/drawing/2014/main" val="2044965008"/>
                      </a:ext>
                    </a:extLst>
                  </a:tr>
                  <a:tr h="170316">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𝐻</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2</m:t>
                                </m:r>
                              </m:oMath>
                            </m:oMathPara>
                          </a14:m>
                          <a:endParaRPr lang="en-US" sz="1400" dirty="0"/>
                        </a:p>
                      </a:txBody>
                      <a:tcPr/>
                    </a:tc>
                    <a:tc>
                      <a:txBody>
                        <a:bodyPr/>
                        <a:lstStyle/>
                        <a:p>
                          <a:pPr/>
                          <a14:m>
                            <m:oMathPara xmlns:m="http://schemas.openxmlformats.org/officeDocument/2006/math">
                              <m:oMathParaPr>
                                <m:jc m:val="centerGroup"/>
                              </m:oMathParaPr>
                              <m:oMath xmlns:m="http://schemas.openxmlformats.org/officeDocument/2006/math">
                                <m:r>
                                  <a:rPr lang="en-AU" sz="1400" b="0" smtClean="0">
                                    <a:latin typeface="Cambria Math" panose="02040503050406030204" pitchFamily="18" charset="0"/>
                                  </a:rPr>
                                  <m:t>1/9</m:t>
                                </m:r>
                              </m:oMath>
                            </m:oMathPara>
                          </a14:m>
                          <a:endParaRPr lang="en-US" sz="1400" dirty="0"/>
                        </a:p>
                      </a:txBody>
                      <a:tcPr/>
                    </a:tc>
                    <a:extLst>
                      <a:ext uri="{0D108BD9-81ED-4DB2-BD59-A6C34878D82A}">
                        <a16:rowId xmlns:a16="http://schemas.microsoft.com/office/drawing/2014/main" val="706057352"/>
                      </a:ext>
                    </a:extLst>
                  </a:tr>
                </a:tbl>
              </a:graphicData>
            </a:graphic>
          </p:graphicFrame>
        </mc:Choice>
        <mc:Fallback xmlns="">
          <p:graphicFrame>
            <p:nvGraphicFramePr>
              <p:cNvPr id="6" name="Table 3">
                <a:extLst>
                  <a:ext uri="{FF2B5EF4-FFF2-40B4-BE49-F238E27FC236}">
                    <a16:creationId xmlns:a16="http://schemas.microsoft.com/office/drawing/2014/main" id="{EC7D6F38-EEFC-AE2F-0AD7-5B26CEFBF1C7}"/>
                  </a:ext>
                </a:extLst>
              </p:cNvPr>
              <p:cNvGraphicFramePr>
                <a:graphicFrameLocks noGrp="1"/>
              </p:cNvGraphicFramePr>
              <p:nvPr>
                <p:extLst>
                  <p:ext uri="{D42A27DB-BD31-4B8C-83A1-F6EECF244321}">
                    <p14:modId xmlns:p14="http://schemas.microsoft.com/office/powerpoint/2010/main" val="3615016508"/>
                  </p:ext>
                </p:extLst>
              </p:nvPr>
            </p:nvGraphicFramePr>
            <p:xfrm>
              <a:off x="6084168" y="4711061"/>
              <a:ext cx="1695450" cy="1524000"/>
            </p:xfrm>
            <a:graphic>
              <a:graphicData uri="http://schemas.openxmlformats.org/drawingml/2006/table">
                <a:tbl>
                  <a:tblPr firstRow="1" bandRow="1">
                    <a:tableStyleId>{EB344D84-9AFB-497E-A393-DC336BA19D2E}</a:tableStyleId>
                  </a:tblPr>
                  <a:tblGrid>
                    <a:gridCol w="294968">
                      <a:extLst>
                        <a:ext uri="{9D8B030D-6E8A-4147-A177-3AD203B41FA5}">
                          <a16:colId xmlns:a16="http://schemas.microsoft.com/office/drawing/2014/main" val="3151231952"/>
                        </a:ext>
                      </a:extLst>
                    </a:gridCol>
                    <a:gridCol w="294969">
                      <a:extLst>
                        <a:ext uri="{9D8B030D-6E8A-4147-A177-3AD203B41FA5}">
                          <a16:colId xmlns:a16="http://schemas.microsoft.com/office/drawing/2014/main" val="483352448"/>
                        </a:ext>
                      </a:extLst>
                    </a:gridCol>
                    <a:gridCol w="353962">
                      <a:extLst>
                        <a:ext uri="{9D8B030D-6E8A-4147-A177-3AD203B41FA5}">
                          <a16:colId xmlns:a16="http://schemas.microsoft.com/office/drawing/2014/main" val="1004832463"/>
                        </a:ext>
                      </a:extLst>
                    </a:gridCol>
                    <a:gridCol w="751551">
                      <a:extLst>
                        <a:ext uri="{9D8B030D-6E8A-4147-A177-3AD203B41FA5}">
                          <a16:colId xmlns:a16="http://schemas.microsoft.com/office/drawing/2014/main" val="944132024"/>
                        </a:ext>
                      </a:extLst>
                    </a:gridCol>
                  </a:tblGrid>
                  <a:tr h="304800">
                    <a:tc>
                      <a:txBody>
                        <a:bodyPr/>
                        <a:lstStyle/>
                        <a:p>
                          <a:endParaRPr lang="en-US"/>
                        </a:p>
                      </a:txBody>
                      <a:tcPr>
                        <a:blipFill>
                          <a:blip r:embed="rId7"/>
                          <a:stretch>
                            <a:fillRect t="-4167" r="-486957" b="-420833"/>
                          </a:stretch>
                        </a:blipFill>
                      </a:tcPr>
                    </a:tc>
                    <a:tc>
                      <a:txBody>
                        <a:bodyPr/>
                        <a:lstStyle/>
                        <a:p>
                          <a:endParaRPr lang="en-US"/>
                        </a:p>
                      </a:txBody>
                      <a:tcPr>
                        <a:blipFill>
                          <a:blip r:embed="rId7"/>
                          <a:stretch>
                            <a:fillRect l="-95833" t="-4167" r="-366667" b="-420833"/>
                          </a:stretch>
                        </a:blipFill>
                      </a:tcPr>
                    </a:tc>
                    <a:tc>
                      <a:txBody>
                        <a:bodyPr/>
                        <a:lstStyle/>
                        <a:p>
                          <a:endParaRPr lang="en-US"/>
                        </a:p>
                      </a:txBody>
                      <a:tcPr>
                        <a:blipFill>
                          <a:blip r:embed="rId7"/>
                          <a:stretch>
                            <a:fillRect l="-167857" t="-4167" r="-214286" b="-420833"/>
                          </a:stretch>
                        </a:blipFill>
                      </a:tcPr>
                    </a:tc>
                    <a:tc>
                      <a:txBody>
                        <a:bodyPr/>
                        <a:lstStyle/>
                        <a:p>
                          <a:endParaRPr lang="en-US"/>
                        </a:p>
                      </a:txBody>
                      <a:tcPr>
                        <a:blipFill>
                          <a:blip r:embed="rId7"/>
                          <a:stretch>
                            <a:fillRect l="-127119" t="-4167" r="-1695" b="-420833"/>
                          </a:stretch>
                        </a:blipFill>
                      </a:tcPr>
                    </a:tc>
                    <a:extLst>
                      <a:ext uri="{0D108BD9-81ED-4DB2-BD59-A6C34878D82A}">
                        <a16:rowId xmlns:a16="http://schemas.microsoft.com/office/drawing/2014/main" val="1138119845"/>
                      </a:ext>
                    </a:extLst>
                  </a:tr>
                  <a:tr h="304800">
                    <a:tc>
                      <a:txBody>
                        <a:bodyPr/>
                        <a:lstStyle/>
                        <a:p>
                          <a:endParaRPr lang="en-US"/>
                        </a:p>
                      </a:txBody>
                      <a:tcPr>
                        <a:blipFill>
                          <a:blip r:embed="rId7"/>
                          <a:stretch>
                            <a:fillRect t="-104167" r="-486957" b="-320833"/>
                          </a:stretch>
                        </a:blipFill>
                      </a:tcPr>
                    </a:tc>
                    <a:tc>
                      <a:txBody>
                        <a:bodyPr/>
                        <a:lstStyle/>
                        <a:p>
                          <a:endParaRPr lang="en-US"/>
                        </a:p>
                      </a:txBody>
                      <a:tcPr>
                        <a:blipFill>
                          <a:blip r:embed="rId7"/>
                          <a:stretch>
                            <a:fillRect l="-95833" t="-104167" r="-366667" b="-320833"/>
                          </a:stretch>
                        </a:blipFill>
                      </a:tcPr>
                    </a:tc>
                    <a:tc>
                      <a:txBody>
                        <a:bodyPr/>
                        <a:lstStyle/>
                        <a:p>
                          <a:endParaRPr lang="en-US"/>
                        </a:p>
                      </a:txBody>
                      <a:tcPr>
                        <a:blipFill>
                          <a:blip r:embed="rId7"/>
                          <a:stretch>
                            <a:fillRect l="-167857" t="-104167" r="-214286" b="-320833"/>
                          </a:stretch>
                        </a:blipFill>
                      </a:tcPr>
                    </a:tc>
                    <a:tc>
                      <a:txBody>
                        <a:bodyPr/>
                        <a:lstStyle/>
                        <a:p>
                          <a:endParaRPr lang="en-US"/>
                        </a:p>
                      </a:txBody>
                      <a:tcPr>
                        <a:blipFill>
                          <a:blip r:embed="rId7"/>
                          <a:stretch>
                            <a:fillRect l="-127119" t="-104167" r="-1695" b="-320833"/>
                          </a:stretch>
                        </a:blipFill>
                      </a:tcPr>
                    </a:tc>
                    <a:extLst>
                      <a:ext uri="{0D108BD9-81ED-4DB2-BD59-A6C34878D82A}">
                        <a16:rowId xmlns:a16="http://schemas.microsoft.com/office/drawing/2014/main" val="1161148645"/>
                      </a:ext>
                    </a:extLst>
                  </a:tr>
                  <a:tr h="304800">
                    <a:tc>
                      <a:txBody>
                        <a:bodyPr/>
                        <a:lstStyle/>
                        <a:p>
                          <a:endParaRPr lang="en-US"/>
                        </a:p>
                      </a:txBody>
                      <a:tcPr>
                        <a:blipFill>
                          <a:blip r:embed="rId7"/>
                          <a:stretch>
                            <a:fillRect t="-196000" r="-486957" b="-208000"/>
                          </a:stretch>
                        </a:blipFill>
                      </a:tcPr>
                    </a:tc>
                    <a:tc>
                      <a:txBody>
                        <a:bodyPr/>
                        <a:lstStyle/>
                        <a:p>
                          <a:endParaRPr lang="en-US"/>
                        </a:p>
                      </a:txBody>
                      <a:tcPr>
                        <a:blipFill>
                          <a:blip r:embed="rId7"/>
                          <a:stretch>
                            <a:fillRect l="-95833" t="-196000" r="-366667" b="-208000"/>
                          </a:stretch>
                        </a:blipFill>
                      </a:tcPr>
                    </a:tc>
                    <a:tc>
                      <a:txBody>
                        <a:bodyPr/>
                        <a:lstStyle/>
                        <a:p>
                          <a:endParaRPr lang="en-US"/>
                        </a:p>
                      </a:txBody>
                      <a:tcPr>
                        <a:blipFill>
                          <a:blip r:embed="rId7"/>
                          <a:stretch>
                            <a:fillRect l="-167857" t="-196000" r="-214286" b="-208000"/>
                          </a:stretch>
                        </a:blipFill>
                      </a:tcPr>
                    </a:tc>
                    <a:tc>
                      <a:txBody>
                        <a:bodyPr/>
                        <a:lstStyle/>
                        <a:p>
                          <a:endParaRPr lang="en-US"/>
                        </a:p>
                      </a:txBody>
                      <a:tcPr>
                        <a:blipFill>
                          <a:blip r:embed="rId7"/>
                          <a:stretch>
                            <a:fillRect l="-127119" t="-196000" r="-1695" b="-208000"/>
                          </a:stretch>
                        </a:blipFill>
                      </a:tcPr>
                    </a:tc>
                    <a:extLst>
                      <a:ext uri="{0D108BD9-81ED-4DB2-BD59-A6C34878D82A}">
                        <a16:rowId xmlns:a16="http://schemas.microsoft.com/office/drawing/2014/main" val="4156083343"/>
                      </a:ext>
                    </a:extLst>
                  </a:tr>
                  <a:tr h="304800">
                    <a:tc>
                      <a:txBody>
                        <a:bodyPr/>
                        <a:lstStyle/>
                        <a:p>
                          <a:endParaRPr lang="en-US"/>
                        </a:p>
                      </a:txBody>
                      <a:tcPr>
                        <a:blipFill>
                          <a:blip r:embed="rId7"/>
                          <a:stretch>
                            <a:fillRect t="-308333" r="-486957" b="-116667"/>
                          </a:stretch>
                        </a:blipFill>
                      </a:tcPr>
                    </a:tc>
                    <a:tc>
                      <a:txBody>
                        <a:bodyPr/>
                        <a:lstStyle/>
                        <a:p>
                          <a:endParaRPr lang="en-US"/>
                        </a:p>
                      </a:txBody>
                      <a:tcPr>
                        <a:blipFill>
                          <a:blip r:embed="rId7"/>
                          <a:stretch>
                            <a:fillRect l="-95833" t="-308333" r="-366667" b="-116667"/>
                          </a:stretch>
                        </a:blipFill>
                      </a:tcPr>
                    </a:tc>
                    <a:tc>
                      <a:txBody>
                        <a:bodyPr/>
                        <a:lstStyle/>
                        <a:p>
                          <a:endParaRPr lang="en-US"/>
                        </a:p>
                      </a:txBody>
                      <a:tcPr>
                        <a:blipFill>
                          <a:blip r:embed="rId7"/>
                          <a:stretch>
                            <a:fillRect l="-167857" t="-308333" r="-214286" b="-116667"/>
                          </a:stretch>
                        </a:blipFill>
                      </a:tcPr>
                    </a:tc>
                    <a:tc>
                      <a:txBody>
                        <a:bodyPr/>
                        <a:lstStyle/>
                        <a:p>
                          <a:endParaRPr lang="en-US"/>
                        </a:p>
                      </a:txBody>
                      <a:tcPr>
                        <a:blipFill>
                          <a:blip r:embed="rId7"/>
                          <a:stretch>
                            <a:fillRect l="-127119" t="-308333" r="-1695" b="-116667"/>
                          </a:stretch>
                        </a:blipFill>
                      </a:tcPr>
                    </a:tc>
                    <a:extLst>
                      <a:ext uri="{0D108BD9-81ED-4DB2-BD59-A6C34878D82A}">
                        <a16:rowId xmlns:a16="http://schemas.microsoft.com/office/drawing/2014/main" val="2044965008"/>
                      </a:ext>
                    </a:extLst>
                  </a:tr>
                  <a:tr h="304800">
                    <a:tc>
                      <a:txBody>
                        <a:bodyPr/>
                        <a:lstStyle/>
                        <a:p>
                          <a:endParaRPr lang="en-US"/>
                        </a:p>
                      </a:txBody>
                      <a:tcPr>
                        <a:blipFill>
                          <a:blip r:embed="rId7"/>
                          <a:stretch>
                            <a:fillRect t="-408333" r="-486957" b="-16667"/>
                          </a:stretch>
                        </a:blipFill>
                      </a:tcPr>
                    </a:tc>
                    <a:tc>
                      <a:txBody>
                        <a:bodyPr/>
                        <a:lstStyle/>
                        <a:p>
                          <a:endParaRPr lang="en-US"/>
                        </a:p>
                      </a:txBody>
                      <a:tcPr>
                        <a:blipFill>
                          <a:blip r:embed="rId7"/>
                          <a:stretch>
                            <a:fillRect l="-95833" t="-408333" r="-366667" b="-16667"/>
                          </a:stretch>
                        </a:blipFill>
                      </a:tcPr>
                    </a:tc>
                    <a:tc>
                      <a:txBody>
                        <a:bodyPr/>
                        <a:lstStyle/>
                        <a:p>
                          <a:endParaRPr lang="en-US"/>
                        </a:p>
                      </a:txBody>
                      <a:tcPr>
                        <a:blipFill>
                          <a:blip r:embed="rId7"/>
                          <a:stretch>
                            <a:fillRect l="-167857" t="-408333" r="-214286" b="-16667"/>
                          </a:stretch>
                        </a:blipFill>
                      </a:tcPr>
                    </a:tc>
                    <a:tc>
                      <a:txBody>
                        <a:bodyPr/>
                        <a:lstStyle/>
                        <a:p>
                          <a:endParaRPr lang="en-US"/>
                        </a:p>
                      </a:txBody>
                      <a:tcPr>
                        <a:blipFill>
                          <a:blip r:embed="rId7"/>
                          <a:stretch>
                            <a:fillRect l="-127119" t="-408333" r="-1695" b="-16667"/>
                          </a:stretch>
                        </a:blipFill>
                      </a:tcPr>
                    </a:tc>
                    <a:extLst>
                      <a:ext uri="{0D108BD9-81ED-4DB2-BD59-A6C34878D82A}">
                        <a16:rowId xmlns:a16="http://schemas.microsoft.com/office/drawing/2014/main" val="706057352"/>
                      </a:ext>
                    </a:extLst>
                  </a:tr>
                </a:tbl>
              </a:graphicData>
            </a:graphic>
          </p:graphicFrame>
        </mc:Fallback>
      </mc:AlternateContent>
    </p:spTree>
    <p:extLst>
      <p:ext uri="{BB962C8B-B14F-4D97-AF65-F5344CB8AC3E}">
        <p14:creationId xmlns:p14="http://schemas.microsoft.com/office/powerpoint/2010/main" val="203901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noChangeArrowheads="1"/>
          </p:cNvSpPr>
          <p:nvPr>
            <p:ph type="title" idx="4294967295"/>
          </p:nvPr>
        </p:nvSpPr>
        <p:spPr>
          <a:xfrm>
            <a:off x="381000" y="2133600"/>
            <a:ext cx="8229600" cy="2514600"/>
          </a:xfrm>
        </p:spPr>
        <p:txBody>
          <a:bodyPr/>
          <a:lstStyle/>
          <a:p>
            <a:pPr algn="ctr"/>
            <a:r>
              <a:rPr lang="en-US" altLang="ko-KR" dirty="0"/>
              <a:t>Probabilistic Models:</a:t>
            </a:r>
            <a:br>
              <a:rPr lang="en-US" altLang="ko-KR" dirty="0"/>
            </a:br>
            <a:r>
              <a:rPr lang="en-US" altLang="ko-KR" dirty="0"/>
              <a:t>Learning about a coin</a:t>
            </a:r>
          </a:p>
        </p:txBody>
      </p:sp>
      <p:sp>
        <p:nvSpPr>
          <p:cNvPr id="27651"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idx="4294967295"/>
          </p:nvPr>
        </p:nvSpPr>
        <p:spPr>
          <a:xfrm>
            <a:off x="304800" y="152400"/>
            <a:ext cx="8458200" cy="990600"/>
          </a:xfrm>
        </p:spPr>
        <p:txBody>
          <a:bodyPr/>
          <a:lstStyle/>
          <a:p>
            <a:r>
              <a:rPr lang="en-US" altLang="ko-KR" dirty="0"/>
              <a:t>Probabilistic Models</a:t>
            </a:r>
          </a:p>
        </p:txBody>
      </p:sp>
      <mc:AlternateContent xmlns:mc="http://schemas.openxmlformats.org/markup-compatibility/2006" xmlns:a14="http://schemas.microsoft.com/office/drawing/2010/main">
        <mc:Choice Requires="a14">
          <p:sp>
            <p:nvSpPr>
              <p:cNvPr id="29699" name="Content Placeholder 2"/>
              <p:cNvSpPr>
                <a:spLocks noGrp="1" noChangeArrowheads="1"/>
              </p:cNvSpPr>
              <p:nvPr>
                <p:ph idx="4294967295"/>
              </p:nvPr>
            </p:nvSpPr>
            <p:spPr>
              <a:xfrm>
                <a:off x="228600" y="1523999"/>
                <a:ext cx="8231188" cy="4829175"/>
              </a:xfrm>
            </p:spPr>
            <p:txBody>
              <a:bodyPr/>
              <a:lstStyle/>
              <a:p>
                <a:pPr marL="98425" indent="0">
                  <a:buNone/>
                </a:pPr>
                <a:r>
                  <a:rPr lang="en-AU" altLang="ko-KR" sz="2000" b="1" dirty="0">
                    <a:cs typeface="Tahoma" panose="020B0604030504040204" pitchFamily="34" charset="0"/>
                  </a:rPr>
                  <a:t>Last week:</a:t>
                </a:r>
                <a:r>
                  <a:rPr lang="en-AU" altLang="ko-KR" sz="2000" dirty="0">
                    <a:cs typeface="Tahoma" panose="020B0604030504040204" pitchFamily="34" charset="0"/>
                  </a:rPr>
                  <a:t> introduced </a:t>
                </a:r>
                <a:r>
                  <a:rPr lang="en-AU" altLang="ko-KR" sz="2000" dirty="0">
                    <a:solidFill>
                      <a:srgbClr val="0070C0"/>
                    </a:solidFill>
                    <a:cs typeface="Tahoma" panose="020B0604030504040204" pitchFamily="34" charset="0"/>
                  </a:rPr>
                  <a:t>predictive models</a:t>
                </a:r>
                <a:r>
                  <a:rPr lang="en-AU" altLang="ko-KR" sz="2000" dirty="0">
                    <a:cs typeface="Tahoma" panose="020B0604030504040204" pitchFamily="34" charset="0"/>
                  </a:rPr>
                  <a:t>, i.e., parameterised prediction functions</a:t>
                </a:r>
              </a:p>
              <a:p>
                <a:pPr marL="98425" indent="0">
                  <a:buNone/>
                </a:pPr>
                <a14:m>
                  <m:oMathPara xmlns:m="http://schemas.openxmlformats.org/officeDocument/2006/math">
                    <m:oMathParaPr>
                      <m:jc m:val="centerGroup"/>
                    </m:oMathParaPr>
                    <m:oMath xmlns:m="http://schemas.openxmlformats.org/officeDocument/2006/math">
                      <m:r>
                        <a:rPr lang="en-AU" altLang="ko-KR" sz="2000" i="1">
                          <a:solidFill>
                            <a:srgbClr val="0070C0"/>
                          </a:solidFill>
                          <a:latin typeface="Cambria Math" panose="02040503050406030204" pitchFamily="18" charset="0"/>
                          <a:cs typeface="Tahoma" panose="020B0604030504040204" pitchFamily="34" charset="0"/>
                        </a:rPr>
                        <m:t>𝑦</m:t>
                      </m:r>
                      <m:d>
                        <m:dPr>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1" i="1">
                              <a:solidFill>
                                <a:srgbClr val="0070C0"/>
                              </a:solidFill>
                              <a:latin typeface="Cambria Math" panose="02040503050406030204" pitchFamily="18" charset="0"/>
                              <a:cs typeface="Tahoma" panose="020B0604030504040204" pitchFamily="34" charset="0"/>
                            </a:rPr>
                            <m:t>𝒙</m:t>
                          </m:r>
                          <m:r>
                            <a:rPr lang="en-AU" altLang="ko-KR" sz="2000" i="1">
                              <a:solidFill>
                                <a:srgbClr val="0070C0"/>
                              </a:solidFill>
                              <a:latin typeface="Cambria Math" panose="02040503050406030204" pitchFamily="18" charset="0"/>
                              <a:cs typeface="Tahoma" panose="020B0604030504040204" pitchFamily="34" charset="0"/>
                            </a:rPr>
                            <m:t>, </m:t>
                          </m:r>
                          <m:r>
                            <a:rPr lang="en-AU" altLang="ko-KR" sz="2000" b="1" i="1">
                              <a:solidFill>
                                <a:srgbClr val="0070C0"/>
                              </a:solidFill>
                              <a:latin typeface="Cambria Math" panose="02040503050406030204" pitchFamily="18" charset="0"/>
                              <a:cs typeface="Tahoma" panose="020B0604030504040204" pitchFamily="34" charset="0"/>
                            </a:rPr>
                            <m:t>𝒘</m:t>
                          </m:r>
                        </m:e>
                      </m:d>
                    </m:oMath>
                  </m:oMathPara>
                </a14:m>
                <a:endParaRPr lang="en-AU" altLang="ko-KR" sz="2000" dirty="0">
                  <a:cs typeface="Tahoma" panose="020B0604030504040204" pitchFamily="34" charset="0"/>
                </a:endParaRPr>
              </a:p>
              <a:p>
                <a:pPr marL="98425" indent="0">
                  <a:spcBef>
                    <a:spcPts val="2424"/>
                  </a:spcBef>
                  <a:spcAft>
                    <a:spcPts val="600"/>
                  </a:spcAft>
                  <a:buNone/>
                </a:pPr>
                <a:r>
                  <a:rPr lang="en-AU" altLang="ko-KR" sz="2000" b="1" dirty="0">
                    <a:cs typeface="Tahoma" panose="020B0604030504040204" pitchFamily="34" charset="0"/>
                  </a:rPr>
                  <a:t>Now:</a:t>
                </a:r>
                <a:r>
                  <a:rPr lang="en-AU" altLang="ko-KR" sz="2000" dirty="0">
                    <a:cs typeface="Tahoma" panose="020B0604030504040204" pitchFamily="34" charset="0"/>
                  </a:rPr>
                  <a:t> </a:t>
                </a:r>
                <a:r>
                  <a:rPr lang="en-AU" altLang="ko-KR" sz="2000" dirty="0">
                    <a:solidFill>
                      <a:srgbClr val="0070C0"/>
                    </a:solidFill>
                    <a:cs typeface="Tahoma" panose="020B0604030504040204" pitchFamily="34" charset="0"/>
                  </a:rPr>
                  <a:t>probabilistic models, </a:t>
                </a:r>
                <a:r>
                  <a:rPr lang="en-AU" altLang="ko-KR" sz="2000" dirty="0">
                    <a:cs typeface="Tahoma" panose="020B0604030504040204" pitchFamily="34" charset="0"/>
                  </a:rPr>
                  <a:t>(conditional) probability distributions that (again) depend on parameters </a:t>
                </a:r>
                <a14:m>
                  <m:oMath xmlns:m="http://schemas.openxmlformats.org/officeDocument/2006/math">
                    <m:r>
                      <a:rPr lang="en-AU" altLang="ko-KR" sz="2000" i="1" dirty="0" smtClean="0">
                        <a:solidFill>
                          <a:srgbClr val="0070C0"/>
                        </a:solidFill>
                        <a:latin typeface="Cambria Math" panose="02040503050406030204" pitchFamily="18" charset="0"/>
                        <a:cs typeface="Tahoma" panose="020B0604030504040204" pitchFamily="34" charset="0"/>
                      </a:rPr>
                      <m:t>𝑤</m:t>
                    </m:r>
                  </m:oMath>
                </a14:m>
                <a:r>
                  <a:rPr lang="en-AU" altLang="ko-KR" sz="2000" dirty="0">
                    <a:cs typeface="Tahoma" panose="020B0604030504040204" pitchFamily="34" charset="0"/>
                  </a:rPr>
                  <a:t> (and features </a:t>
                </a:r>
                <a14:m>
                  <m:oMath xmlns:m="http://schemas.openxmlformats.org/officeDocument/2006/math">
                    <m:r>
                      <a:rPr lang="en-AU" altLang="ko-KR" sz="2000" i="1" dirty="0" smtClean="0">
                        <a:latin typeface="Cambria Math" panose="02040503050406030204" pitchFamily="18" charset="0"/>
                        <a:cs typeface="Tahoma" panose="020B0604030504040204" pitchFamily="34" charset="0"/>
                      </a:rPr>
                      <m:t>𝑥</m:t>
                    </m:r>
                  </m:oMath>
                </a14:m>
                <a:r>
                  <a:rPr lang="en-AU" altLang="ko-KR" sz="2000" dirty="0">
                    <a:cs typeface="Tahoma" panose="020B0604030504040204" pitchFamily="34" charset="0"/>
                  </a:rPr>
                  <a:t>):</a:t>
                </a:r>
              </a:p>
              <a:p>
                <a:pPr marL="98425" indent="0">
                  <a:buNone/>
                </a:pPr>
                <a14:m>
                  <m:oMathPara xmlns:m="http://schemas.openxmlformats.org/officeDocument/2006/math">
                    <m:oMathParaPr>
                      <m:jc m:val="centerGroup"/>
                    </m:oMathParaPr>
                    <m:oMath xmlns:m="http://schemas.openxmlformats.org/officeDocument/2006/math">
                      <m:r>
                        <a:rPr lang="en-AU" altLang="ko-KR" sz="2000" b="0" i="1" smtClean="0">
                          <a:solidFill>
                            <a:srgbClr val="0070C0"/>
                          </a:solidFill>
                          <a:latin typeface="Cambria Math" panose="02040503050406030204" pitchFamily="18" charset="0"/>
                          <a:cs typeface="Tahoma" panose="020B0604030504040204" pitchFamily="34" charset="0"/>
                        </a:rPr>
                        <m:t>𝑝</m:t>
                      </m:r>
                      <m:d>
                        <m:dPr>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0" i="1" smtClean="0">
                              <a:solidFill>
                                <a:srgbClr val="0070C0"/>
                              </a:solidFill>
                              <a:latin typeface="Cambria Math" panose="02040503050406030204" pitchFamily="18" charset="0"/>
                              <a:cs typeface="Tahoma" panose="020B0604030504040204" pitchFamily="34" charset="0"/>
                            </a:rPr>
                            <m:t>𝑦</m:t>
                          </m:r>
                        </m:e>
                        <m:e>
                          <m:r>
                            <a:rPr lang="en-AU" altLang="ko-KR" sz="2000" b="1" i="1" smtClean="0">
                              <a:solidFill>
                                <a:srgbClr val="0070C0"/>
                              </a:solidFill>
                              <a:latin typeface="Cambria Math" panose="02040503050406030204" pitchFamily="18" charset="0"/>
                              <a:cs typeface="Tahoma" panose="020B0604030504040204" pitchFamily="34" charset="0"/>
                            </a:rPr>
                            <m:t>𝒙</m:t>
                          </m:r>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1" i="1" smtClean="0">
                              <a:solidFill>
                                <a:srgbClr val="0070C0"/>
                              </a:solidFill>
                              <a:latin typeface="Cambria Math" panose="02040503050406030204" pitchFamily="18" charset="0"/>
                              <a:cs typeface="Tahoma" panose="020B0604030504040204" pitchFamily="34" charset="0"/>
                            </a:rPr>
                            <m:t>𝒘</m:t>
                          </m:r>
                        </m:e>
                      </m:d>
                    </m:oMath>
                  </m:oMathPara>
                </a14:m>
                <a:endParaRPr lang="en-AU" altLang="ko-KR" sz="2000" dirty="0">
                  <a:cs typeface="Tahoma" panose="020B0604030504040204" pitchFamily="34" charset="0"/>
                </a:endParaRPr>
              </a:p>
              <a:p>
                <a:pPr marL="98425" indent="0">
                  <a:spcBef>
                    <a:spcPts val="2424"/>
                  </a:spcBef>
                  <a:buNone/>
                </a:pPr>
                <a:r>
                  <a:rPr lang="en-AU" altLang="ko-KR" sz="2000" b="1" dirty="0">
                    <a:cs typeface="Tahoma" panose="020B0604030504040204" pitchFamily="34" charset="0"/>
                  </a:rPr>
                  <a:t>Motivation: </a:t>
                </a:r>
                <a:r>
                  <a:rPr lang="en-AU" altLang="ko-KR" sz="2000" dirty="0">
                    <a:cs typeface="Tahoma" panose="020B0604030504040204" pitchFamily="34" charset="0"/>
                  </a:rPr>
                  <a:t>naturally provides predictions, </a:t>
                </a:r>
              </a:p>
              <a:p>
                <a:pPr marL="98425" indent="0" algn="ctr">
                  <a:spcBef>
                    <a:spcPts val="624"/>
                  </a:spcBef>
                  <a:buNone/>
                </a:pPr>
                <a14:m>
                  <m:oMath xmlns:m="http://schemas.openxmlformats.org/officeDocument/2006/math">
                    <m:r>
                      <a:rPr lang="en-AU" altLang="ko-KR" sz="2000" b="0" i="1" smtClean="0">
                        <a:solidFill>
                          <a:srgbClr val="0070C0"/>
                        </a:solidFill>
                        <a:latin typeface="Cambria Math" panose="02040503050406030204" pitchFamily="18" charset="0"/>
                        <a:cs typeface="Tahoma" panose="020B0604030504040204" pitchFamily="34" charset="0"/>
                      </a:rPr>
                      <m:t>𝑦</m:t>
                    </m:r>
                    <m:d>
                      <m:dPr>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1" i="1" smtClean="0">
                            <a:solidFill>
                              <a:srgbClr val="0070C0"/>
                            </a:solidFill>
                            <a:latin typeface="Cambria Math" panose="02040503050406030204" pitchFamily="18" charset="0"/>
                            <a:cs typeface="Tahoma" panose="020B0604030504040204" pitchFamily="34" charset="0"/>
                          </a:rPr>
                          <m:t>𝒙</m:t>
                        </m:r>
                        <m:r>
                          <a:rPr lang="en-AU" altLang="ko-KR" sz="2000" b="0" i="1" smtClean="0">
                            <a:solidFill>
                              <a:srgbClr val="0070C0"/>
                            </a:solidFill>
                            <a:latin typeface="Cambria Math" panose="02040503050406030204" pitchFamily="18" charset="0"/>
                            <a:cs typeface="Tahoma" panose="020B0604030504040204" pitchFamily="34" charset="0"/>
                          </a:rPr>
                          <m:t>,</m:t>
                        </m:r>
                        <m:r>
                          <a:rPr lang="en-AU" altLang="ko-KR" sz="2000" b="1" i="1" smtClean="0">
                            <a:solidFill>
                              <a:srgbClr val="0070C0"/>
                            </a:solidFill>
                            <a:latin typeface="Cambria Math" panose="02040503050406030204" pitchFamily="18" charset="0"/>
                            <a:cs typeface="Tahoma" panose="020B0604030504040204" pitchFamily="34" charset="0"/>
                          </a:rPr>
                          <m:t>𝒘</m:t>
                        </m:r>
                      </m:e>
                    </m:d>
                    <m:r>
                      <a:rPr lang="en-AU" altLang="ko-KR" sz="2000" b="0" i="0" smtClean="0">
                        <a:solidFill>
                          <a:srgbClr val="0070C0"/>
                        </a:solidFill>
                        <a:latin typeface="Cambria Math" panose="02040503050406030204" pitchFamily="18" charset="0"/>
                        <a:cs typeface="Tahoma" panose="020B0604030504040204" pitchFamily="34" charset="0"/>
                      </a:rPr>
                      <m:t>=</m:t>
                    </m:r>
                    <m:r>
                      <a:rPr lang="en-AU" altLang="ko-KR" sz="2000" b="1" i="0" smtClean="0">
                        <a:solidFill>
                          <a:srgbClr val="0070C0"/>
                        </a:solidFill>
                        <a:latin typeface="Cambria Math" panose="02040503050406030204" pitchFamily="18" charset="0"/>
                        <a:cs typeface="Tahoma" panose="020B0604030504040204" pitchFamily="34" charset="0"/>
                      </a:rPr>
                      <m:t>𝐄</m:t>
                    </m:r>
                    <m:d>
                      <m:dPr>
                        <m:begChr m:val="["/>
                        <m:endChr m:val="]"/>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0" i="1" smtClean="0">
                            <a:solidFill>
                              <a:srgbClr val="0070C0"/>
                            </a:solidFill>
                            <a:latin typeface="Cambria Math" panose="02040503050406030204" pitchFamily="18" charset="0"/>
                            <a:cs typeface="Tahoma" panose="020B0604030504040204" pitchFamily="34" charset="0"/>
                          </a:rPr>
                          <m:t>𝑌</m:t>
                        </m:r>
                        <m:r>
                          <a:rPr lang="en-AU" altLang="ko-KR" sz="2000" b="0" i="1" smtClean="0">
                            <a:solidFill>
                              <a:srgbClr val="0070C0"/>
                            </a:solidFill>
                            <a:latin typeface="Cambria Math" panose="02040503050406030204" pitchFamily="18" charset="0"/>
                            <a:cs typeface="Tahoma" panose="020B0604030504040204" pitchFamily="34" charset="0"/>
                          </a:rPr>
                          <m:t> </m:t>
                        </m:r>
                      </m:e>
                      <m:e>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0" i="1" smtClean="0">
                            <a:solidFill>
                              <a:srgbClr val="0070C0"/>
                            </a:solidFill>
                            <a:latin typeface="Cambria Math" panose="02040503050406030204" pitchFamily="18" charset="0"/>
                            <a:cs typeface="Tahoma" panose="020B0604030504040204" pitchFamily="34" charset="0"/>
                          </a:rPr>
                          <m:t>𝑋</m:t>
                        </m:r>
                        <m:r>
                          <a:rPr lang="en-AU" altLang="ko-KR" sz="2000" b="0" i="1" smtClean="0">
                            <a:solidFill>
                              <a:srgbClr val="0070C0"/>
                            </a:solidFill>
                            <a:latin typeface="Cambria Math" panose="02040503050406030204" pitchFamily="18" charset="0"/>
                            <a:cs typeface="Tahoma" panose="020B0604030504040204" pitchFamily="34" charset="0"/>
                          </a:rPr>
                          <m:t>=</m:t>
                        </m:r>
                        <m:r>
                          <a:rPr lang="en-AU" altLang="ko-KR" sz="2000" b="1" i="1" smtClean="0">
                            <a:solidFill>
                              <a:srgbClr val="0070C0"/>
                            </a:solidFill>
                            <a:latin typeface="Cambria Math" panose="02040503050406030204" pitchFamily="18" charset="0"/>
                            <a:cs typeface="Tahoma" panose="020B0604030504040204" pitchFamily="34" charset="0"/>
                          </a:rPr>
                          <m:t>𝒙</m:t>
                        </m:r>
                        <m:r>
                          <a:rPr lang="en-AU" altLang="ko-KR" sz="2000" b="0" i="1" smtClean="0">
                            <a:solidFill>
                              <a:srgbClr val="0070C0"/>
                            </a:solidFill>
                            <a:latin typeface="Cambria Math" panose="02040503050406030204" pitchFamily="18" charset="0"/>
                            <a:cs typeface="Tahoma" panose="020B0604030504040204" pitchFamily="34" charset="0"/>
                          </a:rPr>
                          <m:t>,</m:t>
                        </m:r>
                        <m:r>
                          <a:rPr lang="en-AU" altLang="ko-KR" sz="2000" b="1" i="1" smtClean="0">
                            <a:solidFill>
                              <a:srgbClr val="0070C0"/>
                            </a:solidFill>
                            <a:latin typeface="Cambria Math" panose="02040503050406030204" pitchFamily="18" charset="0"/>
                            <a:cs typeface="Tahoma" panose="020B0604030504040204" pitchFamily="34" charset="0"/>
                          </a:rPr>
                          <m:t>𝒘</m:t>
                        </m:r>
                      </m:e>
                    </m:d>
                  </m:oMath>
                </a14:m>
                <a:r>
                  <a:rPr lang="en-AU" altLang="ko-KR" sz="2000" dirty="0">
                    <a:cs typeface="Tahoma" panose="020B0604030504040204" pitchFamily="34" charset="0"/>
                  </a:rPr>
                  <a:t> or </a:t>
                </a:r>
                <a14:m>
                  <m:oMath xmlns:m="http://schemas.openxmlformats.org/officeDocument/2006/math">
                    <m:r>
                      <a:rPr lang="en-AU" altLang="ko-KR" sz="2000" i="1">
                        <a:solidFill>
                          <a:srgbClr val="0070C0"/>
                        </a:solidFill>
                        <a:latin typeface="Cambria Math" panose="02040503050406030204" pitchFamily="18" charset="0"/>
                        <a:cs typeface="Tahoma" panose="020B0604030504040204" pitchFamily="34" charset="0"/>
                      </a:rPr>
                      <m:t>𝑦</m:t>
                    </m:r>
                    <m:d>
                      <m:dPr>
                        <m:ctrlPr>
                          <a:rPr lang="en-AU" altLang="ko-KR" sz="2000" i="1">
                            <a:solidFill>
                              <a:srgbClr val="0070C0"/>
                            </a:solidFill>
                            <a:latin typeface="Cambria Math" panose="02040503050406030204" pitchFamily="18" charset="0"/>
                            <a:cs typeface="Tahoma" panose="020B0604030504040204" pitchFamily="34" charset="0"/>
                          </a:rPr>
                        </m:ctrlPr>
                      </m:dPr>
                      <m:e>
                        <m:r>
                          <a:rPr lang="en-AU" altLang="ko-KR" sz="2000" b="1" i="1">
                            <a:solidFill>
                              <a:srgbClr val="0070C0"/>
                            </a:solidFill>
                            <a:latin typeface="Cambria Math" panose="02040503050406030204" pitchFamily="18" charset="0"/>
                            <a:cs typeface="Tahoma" panose="020B0604030504040204" pitchFamily="34" charset="0"/>
                          </a:rPr>
                          <m:t>𝒙</m:t>
                        </m:r>
                        <m:r>
                          <a:rPr lang="en-AU" altLang="ko-KR" sz="2000" i="1">
                            <a:solidFill>
                              <a:srgbClr val="0070C0"/>
                            </a:solidFill>
                            <a:latin typeface="Cambria Math" panose="02040503050406030204" pitchFamily="18" charset="0"/>
                            <a:cs typeface="Tahoma" panose="020B0604030504040204" pitchFamily="34" charset="0"/>
                          </a:rPr>
                          <m:t>,</m:t>
                        </m:r>
                        <m:r>
                          <a:rPr lang="en-AU" altLang="ko-KR" sz="2000" b="1" i="1">
                            <a:solidFill>
                              <a:srgbClr val="0070C0"/>
                            </a:solidFill>
                            <a:latin typeface="Cambria Math" panose="02040503050406030204" pitchFamily="18" charset="0"/>
                            <a:cs typeface="Tahoma" panose="020B0604030504040204" pitchFamily="34" charset="0"/>
                          </a:rPr>
                          <m:t>𝒘</m:t>
                        </m:r>
                      </m:e>
                    </m:d>
                    <m:r>
                      <a:rPr lang="en-AU" altLang="ko-KR" sz="2000">
                        <a:solidFill>
                          <a:srgbClr val="0070C0"/>
                        </a:solidFill>
                        <a:latin typeface="Cambria Math" panose="02040503050406030204" pitchFamily="18" charset="0"/>
                        <a:cs typeface="Tahoma" panose="020B0604030504040204" pitchFamily="34" charset="0"/>
                      </a:rPr>
                      <m:t>=</m:t>
                    </m:r>
                    <m:sSub>
                      <m:sSubPr>
                        <m:ctrlPr>
                          <a:rPr lang="en-AU" altLang="ko-KR" sz="2000" b="0" i="1" smtClean="0">
                            <a:solidFill>
                              <a:srgbClr val="0070C0"/>
                            </a:solidFill>
                            <a:latin typeface="Cambria Math" panose="02040503050406030204" pitchFamily="18" charset="0"/>
                            <a:cs typeface="Tahoma" panose="020B0604030504040204" pitchFamily="34" charset="0"/>
                          </a:rPr>
                        </m:ctrlPr>
                      </m:sSubPr>
                      <m:e>
                        <m:r>
                          <m:rPr>
                            <m:sty m:val="p"/>
                          </m:rPr>
                          <a:rPr lang="en-AU" altLang="ko-KR" sz="2000" b="0" i="0" smtClean="0">
                            <a:solidFill>
                              <a:srgbClr val="0070C0"/>
                            </a:solidFill>
                            <a:latin typeface="Cambria Math" panose="02040503050406030204" pitchFamily="18" charset="0"/>
                            <a:cs typeface="Tahoma" panose="020B0604030504040204" pitchFamily="34" charset="0"/>
                          </a:rPr>
                          <m:t>argmax</m:t>
                        </m:r>
                      </m:e>
                      <m:sub>
                        <m:r>
                          <m:rPr>
                            <m:sty m:val="p"/>
                          </m:rPr>
                          <a:rPr lang="en-AU" altLang="ko-KR" sz="2000" b="0" i="0" smtClean="0">
                            <a:solidFill>
                              <a:srgbClr val="0070C0"/>
                            </a:solidFill>
                            <a:latin typeface="Cambria Math" panose="02040503050406030204" pitchFamily="18" charset="0"/>
                            <a:cs typeface="Tahoma" panose="020B0604030504040204" pitchFamily="34" charset="0"/>
                          </a:rPr>
                          <m:t>y</m:t>
                        </m:r>
                      </m:sub>
                    </m:sSub>
                    <m:r>
                      <a:rPr lang="en-AU" altLang="ko-KR" sz="2000" b="0" i="0" smtClean="0">
                        <a:solidFill>
                          <a:srgbClr val="0070C0"/>
                        </a:solidFill>
                        <a:latin typeface="Cambria Math" panose="02040503050406030204" pitchFamily="18" charset="0"/>
                        <a:cs typeface="Tahoma" panose="020B0604030504040204" pitchFamily="34" charset="0"/>
                      </a:rPr>
                      <m:t> </m:t>
                    </m:r>
                    <m:r>
                      <a:rPr lang="en-AU" altLang="ko-KR" sz="2000" b="0" i="1" smtClean="0">
                        <a:solidFill>
                          <a:srgbClr val="0070C0"/>
                        </a:solidFill>
                        <a:latin typeface="Cambria Math" panose="02040503050406030204" pitchFamily="18" charset="0"/>
                        <a:cs typeface="Tahoma" panose="020B0604030504040204" pitchFamily="34" charset="0"/>
                      </a:rPr>
                      <m:t>𝑝</m:t>
                    </m:r>
                    <m:d>
                      <m:dPr>
                        <m:endChr m:val="|"/>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0" i="1" smtClean="0">
                            <a:solidFill>
                              <a:srgbClr val="0070C0"/>
                            </a:solidFill>
                            <a:latin typeface="Cambria Math" panose="02040503050406030204" pitchFamily="18" charset="0"/>
                            <a:cs typeface="Tahoma" panose="020B0604030504040204" pitchFamily="34" charset="0"/>
                          </a:rPr>
                          <m:t>𝑦</m:t>
                        </m:r>
                        <m:r>
                          <a:rPr lang="en-AU" altLang="ko-KR" sz="2000" b="0" i="1" smtClean="0">
                            <a:solidFill>
                              <a:srgbClr val="0070C0"/>
                            </a:solidFill>
                            <a:latin typeface="Cambria Math" panose="02040503050406030204" pitchFamily="18" charset="0"/>
                            <a:cs typeface="Tahoma" panose="020B0604030504040204" pitchFamily="34" charset="0"/>
                          </a:rPr>
                          <m:t> </m:t>
                        </m:r>
                      </m:e>
                    </m:d>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1" i="1" smtClean="0">
                        <a:solidFill>
                          <a:srgbClr val="0070C0"/>
                        </a:solidFill>
                        <a:latin typeface="Cambria Math" panose="02040503050406030204" pitchFamily="18" charset="0"/>
                        <a:cs typeface="Tahoma" panose="020B0604030504040204" pitchFamily="34" charset="0"/>
                      </a:rPr>
                      <m:t>𝒙</m:t>
                    </m:r>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1" i="1" smtClean="0">
                        <a:solidFill>
                          <a:srgbClr val="0070C0"/>
                        </a:solidFill>
                        <a:latin typeface="Cambria Math" panose="02040503050406030204" pitchFamily="18" charset="0"/>
                        <a:cs typeface="Tahoma" panose="020B0604030504040204" pitchFamily="34" charset="0"/>
                      </a:rPr>
                      <m:t>𝒘</m:t>
                    </m:r>
                    <m:r>
                      <a:rPr lang="en-AU" altLang="ko-KR" sz="2000" b="0" i="1" smtClean="0">
                        <a:solidFill>
                          <a:srgbClr val="0070C0"/>
                        </a:solidFill>
                        <a:latin typeface="Cambria Math" panose="02040503050406030204" pitchFamily="18" charset="0"/>
                        <a:cs typeface="Tahoma" panose="020B0604030504040204" pitchFamily="34" charset="0"/>
                      </a:rPr>
                      <m:t>)</m:t>
                    </m:r>
                  </m:oMath>
                </a14:m>
                <a:r>
                  <a:rPr lang="en-AU" altLang="ko-KR" sz="2000" dirty="0">
                    <a:cs typeface="Tahoma" panose="020B0604030504040204" pitchFamily="34" charset="0"/>
                  </a:rPr>
                  <a:t> </a:t>
                </a:r>
              </a:p>
              <a:p>
                <a:pPr marL="98425" indent="0">
                  <a:spcBef>
                    <a:spcPts val="624"/>
                  </a:spcBef>
                  <a:buNone/>
                </a:pPr>
                <a:r>
                  <a:rPr lang="en-AU" altLang="ko-KR" sz="2000" dirty="0">
                    <a:cs typeface="Tahoma" panose="020B0604030504040204" pitchFamily="34" charset="0"/>
                  </a:rPr>
                  <a:t>but also level of certainty</a:t>
                </a:r>
              </a:p>
              <a:p>
                <a:pPr marL="98425" indent="0">
                  <a:spcBef>
                    <a:spcPts val="2424"/>
                  </a:spcBef>
                  <a:buNone/>
                </a:pPr>
                <a:r>
                  <a:rPr lang="en-AU" altLang="ko-KR" sz="2000" b="1" dirty="0">
                    <a:cs typeface="Tahoma" panose="020B0604030504040204" pitchFamily="34" charset="0"/>
                  </a:rPr>
                  <a:t>Note: </a:t>
                </a:r>
                <a:r>
                  <a:rPr lang="en-AU" altLang="ko-KR" sz="2000" dirty="0">
                    <a:cs typeface="Tahoma" panose="020B0604030504040204" pitchFamily="34" charset="0"/>
                  </a:rPr>
                  <a:t>true </a:t>
                </a:r>
                <a14:m>
                  <m:oMath xmlns:m="http://schemas.openxmlformats.org/officeDocument/2006/math">
                    <m:r>
                      <a:rPr lang="en-AU" altLang="ko-KR" sz="2000" b="0" i="1" smtClean="0">
                        <a:latin typeface="Cambria Math" panose="02040503050406030204" pitchFamily="18" charset="0"/>
                        <a:cs typeface="Tahoma" panose="020B0604030504040204" pitchFamily="34" charset="0"/>
                      </a:rPr>
                      <m:t>𝑇</m:t>
                    </m:r>
                    <m:r>
                      <a:rPr lang="en-AU" altLang="ko-KR" sz="2000" b="0" i="1" smtClean="0">
                        <a:latin typeface="Cambria Math" panose="02040503050406030204" pitchFamily="18" charset="0"/>
                        <a:cs typeface="Tahoma" panose="020B0604030504040204" pitchFamily="34" charset="0"/>
                      </a:rPr>
                      <m:t> | </m:t>
                    </m:r>
                    <m:r>
                      <a:rPr lang="en-AU" altLang="ko-KR" sz="2000" b="0" i="1" smtClean="0">
                        <a:latin typeface="Cambria Math" panose="02040503050406030204" pitchFamily="18" charset="0"/>
                        <a:cs typeface="Tahoma" panose="020B0604030504040204" pitchFamily="34" charset="0"/>
                      </a:rPr>
                      <m:t>𝑋</m:t>
                    </m:r>
                  </m:oMath>
                </a14:m>
                <a:r>
                  <a:rPr lang="en-AU" altLang="ko-KR" sz="2400" dirty="0">
                    <a:cs typeface="Tahoma" panose="020B0604030504040204" pitchFamily="34" charset="0"/>
                  </a:rPr>
                  <a:t> </a:t>
                </a:r>
                <a:r>
                  <a:rPr lang="en-AU" altLang="ko-KR" sz="2000" dirty="0">
                    <a:cs typeface="Tahoma" panose="020B0604030504040204" pitchFamily="34" charset="0"/>
                  </a:rPr>
                  <a:t>may follow </a:t>
                </a:r>
                <a14:m>
                  <m:oMath xmlns:m="http://schemas.openxmlformats.org/officeDocument/2006/math">
                    <m:r>
                      <a:rPr lang="en-AU" altLang="ko-KR" sz="2000" i="1" dirty="0" smtClean="0">
                        <a:latin typeface="Cambria Math" panose="02040503050406030204" pitchFamily="18" charset="0"/>
                        <a:cs typeface="Tahoma" panose="020B0604030504040204" pitchFamily="34" charset="0"/>
                      </a:rPr>
                      <m:t>𝑝</m:t>
                    </m:r>
                    <m:r>
                      <a:rPr lang="en-AU" altLang="ko-KR" sz="2000" i="1" dirty="0" smtClean="0">
                        <a:latin typeface="Cambria Math" panose="02040503050406030204" pitchFamily="18" charset="0"/>
                        <a:cs typeface="Tahoma" panose="020B0604030504040204" pitchFamily="34" charset="0"/>
                      </a:rPr>
                      <m:t>(</m:t>
                    </m:r>
                    <m:r>
                      <a:rPr lang="en-AU" altLang="ko-KR" sz="2000" i="1" dirty="0" smtClean="0">
                        <a:latin typeface="Cambria Math" panose="02040503050406030204" pitchFamily="18" charset="0"/>
                        <a:cs typeface="Tahoma" panose="020B0604030504040204" pitchFamily="34" charset="0"/>
                      </a:rPr>
                      <m:t>𝑡</m:t>
                    </m:r>
                    <m:r>
                      <a:rPr lang="en-AU" altLang="ko-KR" sz="2000" i="1" dirty="0" smtClean="0">
                        <a:latin typeface="Cambria Math" panose="02040503050406030204" pitchFamily="18" charset="0"/>
                        <a:cs typeface="Tahoma" panose="020B0604030504040204" pitchFamily="34" charset="0"/>
                      </a:rPr>
                      <m:t> | </m:t>
                    </m:r>
                    <m:r>
                      <a:rPr lang="en-AU" altLang="ko-KR" sz="2000" b="1" i="1" dirty="0" smtClean="0">
                        <a:latin typeface="Cambria Math" panose="02040503050406030204" pitchFamily="18" charset="0"/>
                        <a:cs typeface="Tahoma" panose="020B0604030504040204" pitchFamily="34" charset="0"/>
                      </a:rPr>
                      <m:t>𝒙</m:t>
                    </m:r>
                    <m:r>
                      <a:rPr lang="en-AU" altLang="ko-KR" sz="2000" i="1" dirty="0" smtClean="0">
                        <a:latin typeface="Cambria Math" panose="02040503050406030204" pitchFamily="18" charset="0"/>
                        <a:cs typeface="Tahoma" panose="020B0604030504040204" pitchFamily="34" charset="0"/>
                      </a:rPr>
                      <m:t>, </m:t>
                    </m:r>
                    <m:r>
                      <a:rPr lang="en-AU" altLang="ko-KR" sz="2000" b="1" i="1" dirty="0" smtClean="0">
                        <a:latin typeface="Cambria Math" panose="02040503050406030204" pitchFamily="18" charset="0"/>
                        <a:cs typeface="Tahoma" panose="020B0604030504040204" pitchFamily="34" charset="0"/>
                      </a:rPr>
                      <m:t>𝒘</m:t>
                    </m:r>
                    <m:r>
                      <a:rPr lang="en-AU" altLang="ko-KR" sz="2000" i="1" dirty="0" smtClean="0">
                        <a:latin typeface="Cambria Math" panose="02040503050406030204" pitchFamily="18" charset="0"/>
                        <a:cs typeface="Tahoma" panose="020B0604030504040204" pitchFamily="34" charset="0"/>
                      </a:rPr>
                      <m:t>)</m:t>
                    </m:r>
                  </m:oMath>
                </a14:m>
                <a:r>
                  <a:rPr lang="en-AU" altLang="ko-KR" sz="2000" dirty="0">
                    <a:cs typeface="Tahoma" panose="020B0604030504040204" pitchFamily="34" charset="0"/>
                  </a:rPr>
                  <a:t> for some </a:t>
                </a:r>
                <a14:m>
                  <m:oMath xmlns:m="http://schemas.openxmlformats.org/officeDocument/2006/math">
                    <m:r>
                      <a:rPr lang="en-AU" altLang="ko-KR" sz="2000" b="1" i="1" dirty="0" smtClean="0">
                        <a:latin typeface="Cambria Math" panose="02040503050406030204" pitchFamily="18" charset="0"/>
                        <a:cs typeface="Tahoma" panose="020B0604030504040204" pitchFamily="34" charset="0"/>
                      </a:rPr>
                      <m:t>𝒘</m:t>
                    </m:r>
                  </m:oMath>
                </a14:m>
                <a:r>
                  <a:rPr lang="en-AU" altLang="ko-KR" sz="2000" dirty="0">
                    <a:cs typeface="Tahoma" panose="020B0604030504040204" pitchFamily="34" charset="0"/>
                  </a:rPr>
                  <a:t> (</a:t>
                </a:r>
                <a:r>
                  <a:rPr lang="en-AU" altLang="ko-KR" sz="2000" dirty="0">
                    <a:solidFill>
                      <a:srgbClr val="0070C0"/>
                    </a:solidFill>
                    <a:cs typeface="Tahoma" panose="020B0604030504040204" pitchFamily="34" charset="0"/>
                  </a:rPr>
                  <a:t>well-specified model</a:t>
                </a:r>
                <a:r>
                  <a:rPr lang="en-AU" altLang="ko-KR" sz="2000" dirty="0">
                    <a:cs typeface="Tahoma" panose="020B0604030504040204" pitchFamily="34" charset="0"/>
                  </a:rPr>
                  <a:t>) or not (</a:t>
                </a:r>
                <a:r>
                  <a:rPr lang="en-AU" altLang="ko-KR" sz="2000" dirty="0" err="1">
                    <a:solidFill>
                      <a:srgbClr val="0070C0"/>
                    </a:solidFill>
                    <a:cs typeface="Tahoma" panose="020B0604030504040204" pitchFamily="34" charset="0"/>
                  </a:rPr>
                  <a:t>misspecified</a:t>
                </a:r>
                <a:r>
                  <a:rPr lang="en-AU" altLang="ko-KR" sz="2000" dirty="0">
                    <a:solidFill>
                      <a:srgbClr val="0070C0"/>
                    </a:solidFill>
                    <a:cs typeface="Tahoma" panose="020B0604030504040204" pitchFamily="34" charset="0"/>
                  </a:rPr>
                  <a:t> model</a:t>
                </a:r>
                <a:r>
                  <a:rPr lang="en-AU" altLang="ko-KR" sz="2000" dirty="0">
                    <a:cs typeface="Tahoma" panose="020B0604030504040204" pitchFamily="34" charset="0"/>
                  </a:rPr>
                  <a:t>). Anyway, often write 𝑝(𝑡 | </a:t>
                </a:r>
                <a:r>
                  <a:rPr lang="en-AU" altLang="ko-KR" sz="2000" b="1" dirty="0">
                    <a:cs typeface="Tahoma" panose="020B0604030504040204" pitchFamily="34" charset="0"/>
                  </a:rPr>
                  <a:t>𝑥</a:t>
                </a:r>
                <a:r>
                  <a:rPr lang="en-AU" altLang="ko-KR" sz="2000" dirty="0">
                    <a:cs typeface="Tahoma" panose="020B0604030504040204" pitchFamily="34" charset="0"/>
                  </a:rPr>
                  <a:t>, </a:t>
                </a:r>
                <a:r>
                  <a:rPr lang="en-AU" altLang="ko-KR" sz="2000" b="1" dirty="0">
                    <a:cs typeface="Tahoma" panose="020B0604030504040204" pitchFamily="34" charset="0"/>
                  </a:rPr>
                  <a:t>𝑤</a:t>
                </a:r>
                <a:r>
                  <a:rPr lang="en-AU" altLang="ko-KR" sz="2000" dirty="0">
                    <a:cs typeface="Tahoma" panose="020B0604030504040204" pitchFamily="34" charset="0"/>
                  </a:rPr>
                  <a:t>)</a:t>
                </a:r>
                <a:endParaRPr lang="en-AU" altLang="ko-KR" sz="2400" dirty="0">
                  <a:cs typeface="Tahoma" panose="020B0604030504040204" pitchFamily="34" charset="0"/>
                </a:endParaRPr>
              </a:p>
            </p:txBody>
          </p:sp>
        </mc:Choice>
        <mc:Fallback xmlns="">
          <p:sp>
            <p:nvSpPr>
              <p:cNvPr id="29699" name="Content Placeholder 2"/>
              <p:cNvSpPr>
                <a:spLocks noGrp="1" noRot="1" noChangeAspect="1" noMove="1" noResize="1" noEditPoints="1" noAdjustHandles="1" noChangeArrowheads="1" noChangeShapeType="1" noTextEdit="1"/>
              </p:cNvSpPr>
              <p:nvPr>
                <p:ph idx="4294967295"/>
              </p:nvPr>
            </p:nvSpPr>
            <p:spPr>
              <a:xfrm>
                <a:off x="228600" y="1523999"/>
                <a:ext cx="8231188" cy="4829175"/>
              </a:xfrm>
              <a:blipFill>
                <a:blip r:embed="rId3"/>
                <a:stretch>
                  <a:fillRect t="-787"/>
                </a:stretch>
              </a:blipFill>
            </p:spPr>
            <p:txBody>
              <a:bodyPr/>
              <a:lstStyle/>
              <a:p>
                <a:r>
                  <a:rPr lang="en-US">
                    <a:noFill/>
                  </a:rPr>
                  <a:t> </a:t>
                </a:r>
              </a:p>
            </p:txBody>
          </p:sp>
        </mc:Fallback>
      </mc:AlternateContent>
      <p:sp>
        <p:nvSpPr>
          <p:cNvPr id="29702"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extLst>
      <p:ext uri="{BB962C8B-B14F-4D97-AF65-F5344CB8AC3E}">
        <p14:creationId xmlns:p14="http://schemas.microsoft.com/office/powerpoint/2010/main" val="42613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69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idx="4294967295"/>
          </p:nvPr>
        </p:nvSpPr>
        <p:spPr>
          <a:xfrm>
            <a:off x="304800" y="152400"/>
            <a:ext cx="8458200" cy="990600"/>
          </a:xfrm>
        </p:spPr>
        <p:txBody>
          <a:bodyPr/>
          <a:lstStyle/>
          <a:p>
            <a:r>
              <a:rPr lang="en-US" altLang="ko-KR" dirty="0"/>
              <a:t>Probabilistic Models</a:t>
            </a:r>
          </a:p>
        </p:txBody>
      </p:sp>
      <mc:AlternateContent xmlns:mc="http://schemas.openxmlformats.org/markup-compatibility/2006" xmlns:a14="http://schemas.microsoft.com/office/drawing/2010/main">
        <mc:Choice Requires="a14">
          <p:sp>
            <p:nvSpPr>
              <p:cNvPr id="29699" name="Content Placeholder 2"/>
              <p:cNvSpPr>
                <a:spLocks noGrp="1" noChangeArrowheads="1"/>
              </p:cNvSpPr>
              <p:nvPr>
                <p:ph idx="4294967295"/>
              </p:nvPr>
            </p:nvSpPr>
            <p:spPr>
              <a:xfrm>
                <a:off x="228600" y="1524000"/>
                <a:ext cx="8231188" cy="4495800"/>
              </a:xfrm>
            </p:spPr>
            <p:txBody>
              <a:bodyPr/>
              <a:lstStyle/>
              <a:p>
                <a:pPr marL="98425" indent="0">
                  <a:buNone/>
                </a:pPr>
                <a:r>
                  <a:rPr lang="en-AU" altLang="ko-KR" sz="2000" dirty="0">
                    <a:cs typeface="Tahoma" panose="020B0604030504040204" pitchFamily="34" charset="0"/>
                  </a:rPr>
                  <a:t>A </a:t>
                </a:r>
                <a:r>
                  <a:rPr lang="en-AU" altLang="ko-KR" sz="2000" b="1" dirty="0">
                    <a:cs typeface="Tahoma" panose="020B0604030504040204" pitchFamily="34" charset="0"/>
                  </a:rPr>
                  <a:t>probabilistic model</a:t>
                </a:r>
                <a:r>
                  <a:rPr lang="en-AU" altLang="ko-KR" sz="2000" dirty="0">
                    <a:cs typeface="Tahoma" panose="020B0604030504040204" pitchFamily="34" charset="0"/>
                  </a:rPr>
                  <a:t> is simply a (conditional) probability distribution that depends on parameters </a:t>
                </a:r>
                <a14:m>
                  <m:oMath xmlns:m="http://schemas.openxmlformats.org/officeDocument/2006/math">
                    <m:r>
                      <a:rPr lang="en-AU" altLang="ko-KR" sz="2000" i="1" dirty="0" smtClean="0">
                        <a:solidFill>
                          <a:srgbClr val="0070C0"/>
                        </a:solidFill>
                        <a:latin typeface="Cambria Math" panose="02040503050406030204" pitchFamily="18" charset="0"/>
                        <a:cs typeface="Tahoma" panose="020B0604030504040204" pitchFamily="34" charset="0"/>
                      </a:rPr>
                      <m:t>𝑤</m:t>
                    </m:r>
                  </m:oMath>
                </a14:m>
                <a:r>
                  <a:rPr lang="en-AU" altLang="ko-KR" sz="2000" dirty="0">
                    <a:cs typeface="Tahoma" panose="020B0604030504040204" pitchFamily="34" charset="0"/>
                  </a:rPr>
                  <a:t> (and features </a:t>
                </a:r>
                <a14:m>
                  <m:oMath xmlns:m="http://schemas.openxmlformats.org/officeDocument/2006/math">
                    <m:r>
                      <a:rPr lang="en-AU" altLang="ko-KR" sz="2000" i="1" dirty="0" smtClean="0">
                        <a:latin typeface="Cambria Math" panose="02040503050406030204" pitchFamily="18" charset="0"/>
                        <a:cs typeface="Tahoma" panose="020B0604030504040204" pitchFamily="34" charset="0"/>
                      </a:rPr>
                      <m:t>𝑥</m:t>
                    </m:r>
                  </m:oMath>
                </a14:m>
                <a:r>
                  <a:rPr lang="en-AU" altLang="ko-KR" sz="2000" dirty="0">
                    <a:cs typeface="Tahoma" panose="020B0604030504040204" pitchFamily="34" charset="0"/>
                  </a:rPr>
                  <a:t>):</a:t>
                </a:r>
              </a:p>
              <a:p>
                <a:pPr marL="98425" indent="0">
                  <a:buNone/>
                </a:pPr>
                <a:endParaRPr lang="en-AU" altLang="ko-KR" sz="2000" dirty="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400" b="0" i="1" smtClean="0">
                          <a:solidFill>
                            <a:srgbClr val="0070C0"/>
                          </a:solidFill>
                          <a:latin typeface="Cambria Math" panose="02040503050406030204" pitchFamily="18" charset="0"/>
                          <a:cs typeface="Tahoma" panose="020B0604030504040204" pitchFamily="34" charset="0"/>
                        </a:rPr>
                        <m:t>𝑝</m:t>
                      </m:r>
                      <m:r>
                        <a:rPr lang="en-AU" altLang="ko-KR" sz="2400" b="0" i="1" smtClean="0">
                          <a:solidFill>
                            <a:srgbClr val="0070C0"/>
                          </a:solidFill>
                          <a:latin typeface="Cambria Math" panose="02040503050406030204" pitchFamily="18" charset="0"/>
                          <a:cs typeface="Tahoma" panose="020B0604030504040204" pitchFamily="34" charset="0"/>
                        </a:rPr>
                        <m:t>(</m:t>
                      </m:r>
                      <m:r>
                        <a:rPr lang="en-AU" altLang="ko-KR" sz="2400" b="0" i="1" smtClean="0">
                          <a:solidFill>
                            <a:srgbClr val="0070C0"/>
                          </a:solidFill>
                          <a:latin typeface="Cambria Math" panose="02040503050406030204" pitchFamily="18" charset="0"/>
                          <a:cs typeface="Tahoma" panose="020B0604030504040204" pitchFamily="34" charset="0"/>
                        </a:rPr>
                        <m:t>𝑦</m:t>
                      </m:r>
                      <m:r>
                        <a:rPr lang="en-AU" altLang="ko-KR" sz="2400" b="0" i="1" smtClean="0">
                          <a:solidFill>
                            <a:srgbClr val="0070C0"/>
                          </a:solidFill>
                          <a:latin typeface="Cambria Math" panose="02040503050406030204" pitchFamily="18" charset="0"/>
                          <a:cs typeface="Tahoma" panose="020B0604030504040204" pitchFamily="34" charset="0"/>
                        </a:rPr>
                        <m:t>|</m:t>
                      </m:r>
                      <m:r>
                        <a:rPr lang="en-AU" altLang="ko-KR" sz="2400" b="0" i="1" smtClean="0">
                          <a:solidFill>
                            <a:srgbClr val="0070C0"/>
                          </a:solidFill>
                          <a:latin typeface="Cambria Math" panose="02040503050406030204" pitchFamily="18" charset="0"/>
                          <a:cs typeface="Tahoma" panose="020B0604030504040204" pitchFamily="34" charset="0"/>
                        </a:rPr>
                        <m:t>𝑥</m:t>
                      </m:r>
                      <m:r>
                        <a:rPr lang="en-AU" altLang="ko-KR" sz="2400" b="0" i="1" smtClean="0">
                          <a:solidFill>
                            <a:srgbClr val="0070C0"/>
                          </a:solidFill>
                          <a:latin typeface="Cambria Math" panose="02040503050406030204" pitchFamily="18" charset="0"/>
                          <a:cs typeface="Tahoma" panose="020B0604030504040204" pitchFamily="34" charset="0"/>
                        </a:rPr>
                        <m:t>, </m:t>
                      </m:r>
                      <m:r>
                        <a:rPr lang="en-AU" altLang="ko-KR" sz="2400" b="0" i="1" smtClean="0">
                          <a:solidFill>
                            <a:srgbClr val="0070C0"/>
                          </a:solidFill>
                          <a:latin typeface="Cambria Math" panose="02040503050406030204" pitchFamily="18" charset="0"/>
                          <a:cs typeface="Tahoma" panose="020B0604030504040204" pitchFamily="34" charset="0"/>
                        </a:rPr>
                        <m:t>𝑤</m:t>
                      </m:r>
                      <m:r>
                        <a:rPr lang="en-AU" altLang="ko-KR" sz="2400" b="0" i="1" smtClean="0">
                          <a:solidFill>
                            <a:srgbClr val="0070C0"/>
                          </a:solidFill>
                          <a:latin typeface="Cambria Math" panose="02040503050406030204" pitchFamily="18" charset="0"/>
                          <a:cs typeface="Tahoma" panose="020B0604030504040204" pitchFamily="34" charset="0"/>
                        </a:rPr>
                        <m:t>)</m:t>
                      </m:r>
                    </m:oMath>
                  </m:oMathPara>
                </a14:m>
                <a:endParaRPr lang="en-AU" altLang="ko-KR" sz="2400" dirty="0">
                  <a:cs typeface="Tahoma" panose="020B0604030504040204" pitchFamily="34" charset="0"/>
                </a:endParaRPr>
              </a:p>
              <a:p>
                <a:pPr marL="98425" indent="0">
                  <a:buNone/>
                </a:pPr>
                <a:endParaRPr lang="en-AU" altLang="ko-KR" sz="2000" dirty="0">
                  <a:cs typeface="Tahoma" panose="020B0604030504040204" pitchFamily="34" charset="0"/>
                </a:endParaRPr>
              </a:p>
              <a:p>
                <a:pPr marL="98425" indent="0">
                  <a:buNone/>
                </a:pPr>
                <a:r>
                  <a:rPr lang="en-AU" altLang="ko-KR" sz="2000" b="1" dirty="0">
                    <a:cs typeface="Tahoma" panose="020B0604030504040204" pitchFamily="34" charset="0"/>
                  </a:rPr>
                  <a:t>Example: </a:t>
                </a:r>
                <a:r>
                  <a:rPr lang="en-AU" altLang="ko-KR" sz="2000" dirty="0">
                    <a:cs typeface="Tahoma" panose="020B0604030504040204" pitchFamily="34" charset="0"/>
                  </a:rPr>
                  <a:t>assume dataset with </a:t>
                </a:r>
                <a:r>
                  <a:rPr lang="en-US" altLang="ko-KR" sz="2000" dirty="0">
                    <a:cs typeface="Tahoma" panose="020B0604030504040204" pitchFamily="34" charset="0"/>
                  </a:rPr>
                  <a:t>outcomes of 10 </a:t>
                </a:r>
                <a:r>
                  <a:rPr lang="en-US" altLang="ko-KR" sz="2000" dirty="0">
                    <a:solidFill>
                      <a:srgbClr val="C00000"/>
                    </a:solidFill>
                    <a:cs typeface="Tahoma" panose="020B0604030504040204" pitchFamily="34" charset="0"/>
                  </a:rPr>
                  <a:t>independent</a:t>
                </a:r>
                <a:r>
                  <a:rPr lang="en-US" altLang="ko-KR" sz="2000" dirty="0">
                    <a:cs typeface="Tahoma" panose="020B0604030504040204" pitchFamily="34" charset="0"/>
                  </a:rPr>
                  <a:t> tosses of the same coin</a:t>
                </a:r>
              </a:p>
              <a:p>
                <a:pPr marL="98425" indent="0">
                  <a:buNone/>
                </a:pPr>
                <a:endParaRPr lang="en-AU" altLang="ko-KR" sz="2000" dirty="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400" b="1" i="1" dirty="0" smtClean="0">
                          <a:latin typeface="Cambria Math" panose="02040503050406030204" pitchFamily="18" charset="0"/>
                          <a:cs typeface="Tahoma" panose="020B0604030504040204" pitchFamily="34" charset="0"/>
                        </a:rPr>
                        <m:t>𝑫</m:t>
                      </m:r>
                      <m:r>
                        <a:rPr lang="en-AU" altLang="ko-KR" sz="2400" b="1" i="1" dirty="0" smtClean="0">
                          <a:latin typeface="Cambria Math" panose="02040503050406030204" pitchFamily="18" charset="0"/>
                          <a:cs typeface="Tahoma" panose="020B0604030504040204" pitchFamily="34" charset="0"/>
                        </a:rPr>
                        <m:t> = {</m:t>
                      </m:r>
                      <m:r>
                        <a:rPr lang="en-AU" altLang="ko-KR" sz="2400" b="1" i="1" dirty="0">
                          <a:solidFill>
                            <a:srgbClr val="0070C0"/>
                          </a:solidFill>
                          <a:latin typeface="Cambria Math" panose="02040503050406030204" pitchFamily="18" charset="0"/>
                          <a:cs typeface="Tahoma" panose="020B0604030504040204" pitchFamily="34" charset="0"/>
                        </a:rPr>
                        <m:t>𝑯</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solidFill>
                            <a:srgbClr val="0070C0"/>
                          </a:solidFill>
                          <a:latin typeface="Cambria Math" panose="02040503050406030204" pitchFamily="18" charset="0"/>
                          <a:cs typeface="Tahoma" panose="020B0604030504040204" pitchFamily="34" charset="0"/>
                        </a:rPr>
                        <m:t>𝑯</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 </m:t>
                      </m:r>
                      <m:r>
                        <a:rPr lang="en-AU" altLang="ko-KR" sz="2400" b="1" i="1" dirty="0">
                          <a:solidFill>
                            <a:srgbClr val="0070C0"/>
                          </a:solidFill>
                          <a:latin typeface="Cambria Math" panose="02040503050406030204" pitchFamily="18" charset="0"/>
                          <a:cs typeface="Tahoma" panose="020B0604030504040204" pitchFamily="34" charset="0"/>
                        </a:rPr>
                        <m:t>𝑯</m:t>
                      </m:r>
                      <m:r>
                        <a:rPr lang="en-AU" altLang="ko-KR" sz="2400" b="1" i="1" dirty="0">
                          <a:latin typeface="Cambria Math" panose="02040503050406030204" pitchFamily="18" charset="0"/>
                          <a:cs typeface="Tahoma" panose="020B0604030504040204" pitchFamily="34" charset="0"/>
                        </a:rPr>
                        <m:t>, </m:t>
                      </m:r>
                      <m:r>
                        <a:rPr lang="en-AU" altLang="ko-KR" sz="2400" b="1" i="1" dirty="0">
                          <a:latin typeface="Cambria Math" panose="02040503050406030204" pitchFamily="18" charset="0"/>
                          <a:cs typeface="Tahoma" panose="020B0604030504040204" pitchFamily="34" charset="0"/>
                        </a:rPr>
                        <m:t>𝑻</m:t>
                      </m:r>
                      <m:r>
                        <a:rPr lang="en-AU" altLang="ko-KR" sz="2400" b="1" i="1" dirty="0">
                          <a:latin typeface="Cambria Math" panose="02040503050406030204" pitchFamily="18" charset="0"/>
                          <a:cs typeface="Tahoma" panose="020B0604030504040204" pitchFamily="34" charset="0"/>
                        </a:rPr>
                        <m:t>}</m:t>
                      </m:r>
                    </m:oMath>
                  </m:oMathPara>
                </a14:m>
                <a:endParaRPr lang="en-AU" altLang="ko-KR" sz="2000" b="1" dirty="0">
                  <a:cs typeface="Tahoma" panose="020B0604030504040204" pitchFamily="34" charset="0"/>
                </a:endParaRPr>
              </a:p>
              <a:p>
                <a:pPr marL="98425" indent="0">
                  <a:buNone/>
                </a:pPr>
                <a:endParaRPr lang="en-AU" altLang="ko-KR" sz="2000" dirty="0">
                  <a:cs typeface="Tahoma" panose="020B0604030504040204" pitchFamily="34" charset="0"/>
                </a:endParaRPr>
              </a:p>
              <a:p>
                <a:pPr marL="98425" indent="0">
                  <a:buNone/>
                </a:pPr>
                <a:r>
                  <a:rPr lang="en-AU" altLang="ko-KR" sz="2000" b="1" dirty="0">
                    <a:cs typeface="Tahoma" panose="020B0604030504040204" pitchFamily="34" charset="0"/>
                  </a:rPr>
                  <a:t>Task: </a:t>
                </a:r>
                <a:r>
                  <a:rPr lang="en-AU" altLang="ko-KR" sz="2000" dirty="0">
                    <a:cs typeface="Tahoma" panose="020B0604030504040204" pitchFamily="34" charset="0"/>
                  </a:rPr>
                  <a:t>build a </a:t>
                </a:r>
                <a:r>
                  <a:rPr lang="en-AU" altLang="ko-KR" sz="2000" dirty="0">
                    <a:solidFill>
                      <a:srgbClr val="C00000"/>
                    </a:solidFill>
                    <a:cs typeface="Tahoma" panose="020B0604030504040204" pitchFamily="34" charset="0"/>
                  </a:rPr>
                  <a:t>model</a:t>
                </a:r>
                <a:r>
                  <a:rPr lang="en-AU" altLang="ko-KR" sz="2000" dirty="0">
                    <a:cs typeface="Tahoma" panose="020B0604030504040204" pitchFamily="34" charset="0"/>
                  </a:rPr>
                  <a:t> for this coin tossing to </a:t>
                </a:r>
                <a:r>
                  <a:rPr lang="en-AU" altLang="ko-KR" sz="2000" dirty="0">
                    <a:solidFill>
                      <a:srgbClr val="C00000"/>
                    </a:solidFill>
                    <a:cs typeface="Tahoma" panose="020B0604030504040204" pitchFamily="34" charset="0"/>
                  </a:rPr>
                  <a:t>estimate</a:t>
                </a:r>
                <a:r>
                  <a:rPr lang="en-AU" altLang="ko-KR" sz="2000" dirty="0">
                    <a:cs typeface="Tahoma" panose="020B0604030504040204" pitchFamily="34" charset="0"/>
                  </a:rPr>
                  <a:t> the probability that next coin toss will be a </a:t>
                </a:r>
                <a:r>
                  <a:rPr lang="en-AU" altLang="ko-KR" sz="2000" dirty="0">
                    <a:solidFill>
                      <a:srgbClr val="C00000"/>
                    </a:solidFill>
                    <a:cs typeface="Tahoma" panose="020B0604030504040204" pitchFamily="34" charset="0"/>
                  </a:rPr>
                  <a:t>head </a:t>
                </a:r>
                <a:r>
                  <a:rPr lang="en-AU" altLang="ko-KR" sz="2000" dirty="0">
                    <a:cs typeface="Tahoma" panose="020B0604030504040204" pitchFamily="34" charset="0"/>
                  </a:rPr>
                  <a:t>(or tail). </a:t>
                </a:r>
              </a:p>
              <a:p>
                <a:pPr marL="98425" indent="0">
                  <a:buFont typeface="Wingdings" panose="05000000000000000000" pitchFamily="2" charset="2"/>
                  <a:buNone/>
                </a:pPr>
                <a:endParaRPr lang="en-AU" altLang="ko-KR" sz="2400" dirty="0">
                  <a:cs typeface="Tahoma" panose="020B0604030504040204" pitchFamily="34" charset="0"/>
                </a:endParaRPr>
              </a:p>
            </p:txBody>
          </p:sp>
        </mc:Choice>
        <mc:Fallback xmlns="">
          <p:sp>
            <p:nvSpPr>
              <p:cNvPr id="29699" name="Content Placeholder 2"/>
              <p:cNvSpPr>
                <a:spLocks noGrp="1" noRot="1" noChangeAspect="1" noMove="1" noResize="1" noEditPoints="1" noAdjustHandles="1" noChangeArrowheads="1" noChangeShapeType="1" noTextEdit="1"/>
              </p:cNvSpPr>
              <p:nvPr>
                <p:ph idx="4294967295"/>
              </p:nvPr>
            </p:nvSpPr>
            <p:spPr>
              <a:xfrm>
                <a:off x="228600" y="1524000"/>
                <a:ext cx="8231188" cy="4495800"/>
              </a:xfrm>
              <a:blipFill>
                <a:blip r:embed="rId3"/>
                <a:stretch>
                  <a:fillRect t="-847" r="-1233"/>
                </a:stretch>
              </a:blipFill>
            </p:spPr>
            <p:txBody>
              <a:bodyPr/>
              <a:lstStyle/>
              <a:p>
                <a:r>
                  <a:rPr lang="en-AU">
                    <a:noFill/>
                  </a:rPr>
                  <a:t> </a:t>
                </a:r>
              </a:p>
            </p:txBody>
          </p:sp>
        </mc:Fallback>
      </mc:AlternateContent>
      <p:sp>
        <p:nvSpPr>
          <p:cNvPr id="29702"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idx="4294967295"/>
          </p:nvPr>
        </p:nvSpPr>
        <p:spPr>
          <a:xfrm>
            <a:off x="304800" y="152400"/>
            <a:ext cx="8458200" cy="990600"/>
          </a:xfrm>
        </p:spPr>
        <p:txBody>
          <a:bodyPr/>
          <a:lstStyle/>
          <a:p>
            <a:r>
              <a:rPr lang="en-US" altLang="ko-KR" dirty="0"/>
              <a:t>Learning about a coin</a:t>
            </a:r>
          </a:p>
        </p:txBody>
      </p:sp>
      <mc:AlternateContent xmlns:mc="http://schemas.openxmlformats.org/markup-compatibility/2006" xmlns:a14="http://schemas.microsoft.com/office/drawing/2010/main">
        <mc:Choice Requires="a14">
          <p:sp>
            <p:nvSpPr>
              <p:cNvPr id="29699" name="Content Placeholder 2"/>
              <p:cNvSpPr>
                <a:spLocks noGrp="1" noChangeArrowheads="1"/>
              </p:cNvSpPr>
              <p:nvPr>
                <p:ph idx="4294967295"/>
              </p:nvPr>
            </p:nvSpPr>
            <p:spPr>
              <a:xfrm>
                <a:off x="2915816" y="1524000"/>
                <a:ext cx="5543972" cy="4495800"/>
              </a:xfrm>
            </p:spPr>
            <p:txBody>
              <a:bodyPr/>
              <a:lstStyle/>
              <a:p>
                <a:pPr marL="98425" indent="0">
                  <a:buNone/>
                </a:pPr>
                <a:r>
                  <a:rPr lang="en-AU" altLang="ko-KR" sz="2000" b="1" dirty="0">
                    <a:cs typeface="Tahoma" panose="020B0604030504040204" pitchFamily="34" charset="0"/>
                  </a:rPr>
                  <a:t>Example: </a:t>
                </a:r>
                <a:r>
                  <a:rPr lang="en-AU" altLang="ko-KR" sz="2000" dirty="0">
                    <a:cs typeface="Tahoma" panose="020B0604030504040204" pitchFamily="34" charset="0"/>
                  </a:rPr>
                  <a:t>assume dataset with </a:t>
                </a:r>
                <a:r>
                  <a:rPr lang="en-US" altLang="ko-KR" sz="2000" dirty="0">
                    <a:cs typeface="Tahoma" panose="020B0604030504040204" pitchFamily="34" charset="0"/>
                  </a:rPr>
                  <a:t>outcomes of 10 </a:t>
                </a:r>
                <a:r>
                  <a:rPr lang="en-US" altLang="ko-KR" sz="2000" dirty="0">
                    <a:solidFill>
                      <a:srgbClr val="C00000"/>
                    </a:solidFill>
                    <a:cs typeface="Tahoma" panose="020B0604030504040204" pitchFamily="34" charset="0"/>
                  </a:rPr>
                  <a:t>independent</a:t>
                </a:r>
                <a:r>
                  <a:rPr lang="en-US" altLang="ko-KR" sz="2000" dirty="0">
                    <a:cs typeface="Tahoma" panose="020B0604030504040204" pitchFamily="34" charset="0"/>
                  </a:rPr>
                  <a:t> tosses of the same coin</a:t>
                </a:r>
              </a:p>
              <a:p>
                <a:pPr marL="98425" indent="0">
                  <a:buNone/>
                </a:pPr>
                <a:endParaRPr lang="en-AU" altLang="ko-KR" sz="2000" dirty="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000" b="1" i="1" dirty="0">
                          <a:latin typeface="Cambria Math" panose="02040503050406030204" pitchFamily="18" charset="0"/>
                          <a:cs typeface="Tahoma" panose="020B0604030504040204" pitchFamily="34" charset="0"/>
                        </a:rPr>
                        <m:t>𝑫</m:t>
                      </m:r>
                      <m:r>
                        <a:rPr lang="en-AU" altLang="ko-KR" sz="2000" b="1" i="1" dirty="0">
                          <a:latin typeface="Cambria Math" panose="02040503050406030204" pitchFamily="18" charset="0"/>
                          <a:cs typeface="Tahoma" panose="020B0604030504040204" pitchFamily="34" charset="0"/>
                        </a:rPr>
                        <m:t> = {</m:t>
                      </m:r>
                      <m:r>
                        <a:rPr lang="en-AU" altLang="ko-KR" sz="2000" b="1" i="1" dirty="0">
                          <a:solidFill>
                            <a:srgbClr val="0070C0"/>
                          </a:solidFill>
                          <a:latin typeface="Cambria Math" panose="02040503050406030204" pitchFamily="18" charset="0"/>
                          <a:cs typeface="Tahoma" panose="020B0604030504040204" pitchFamily="34" charset="0"/>
                        </a:rPr>
                        <m:t>𝑯</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solidFill>
                            <a:srgbClr val="0070C0"/>
                          </a:solidFill>
                          <a:latin typeface="Cambria Math" panose="02040503050406030204" pitchFamily="18" charset="0"/>
                          <a:cs typeface="Tahoma" panose="020B0604030504040204" pitchFamily="34" charset="0"/>
                        </a:rPr>
                        <m:t>𝑯</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 </m:t>
                      </m:r>
                      <m:r>
                        <a:rPr lang="en-AU" altLang="ko-KR" sz="2000" b="1" i="1" dirty="0">
                          <a:solidFill>
                            <a:srgbClr val="0070C0"/>
                          </a:solidFill>
                          <a:latin typeface="Cambria Math" panose="02040503050406030204" pitchFamily="18" charset="0"/>
                          <a:cs typeface="Tahoma" panose="020B0604030504040204" pitchFamily="34" charset="0"/>
                        </a:rPr>
                        <m:t>𝑯</m:t>
                      </m:r>
                      <m:r>
                        <a:rPr lang="en-AU" altLang="ko-KR" sz="2000" b="1" i="1" dirty="0">
                          <a:latin typeface="Cambria Math" panose="02040503050406030204" pitchFamily="18" charset="0"/>
                          <a:cs typeface="Tahoma" panose="020B0604030504040204" pitchFamily="34" charset="0"/>
                        </a:rPr>
                        <m:t>, </m:t>
                      </m:r>
                      <m:r>
                        <a:rPr lang="en-AU" altLang="ko-KR" sz="2000" b="1" i="1" dirty="0">
                          <a:latin typeface="Cambria Math" panose="02040503050406030204" pitchFamily="18" charset="0"/>
                          <a:cs typeface="Tahoma" panose="020B0604030504040204" pitchFamily="34" charset="0"/>
                        </a:rPr>
                        <m:t>𝑻</m:t>
                      </m:r>
                      <m:r>
                        <a:rPr lang="en-AU" altLang="ko-KR" sz="2000" b="1" i="1" dirty="0">
                          <a:latin typeface="Cambria Math" panose="02040503050406030204" pitchFamily="18" charset="0"/>
                          <a:cs typeface="Tahoma" panose="020B0604030504040204" pitchFamily="34" charset="0"/>
                        </a:rPr>
                        <m:t>}</m:t>
                      </m:r>
                    </m:oMath>
                  </m:oMathPara>
                </a14:m>
                <a:endParaRPr lang="en-AU" altLang="ko-KR" sz="2000" b="1" dirty="0">
                  <a:cs typeface="Tahoma" panose="020B0604030504040204" pitchFamily="34" charset="0"/>
                </a:endParaRPr>
              </a:p>
              <a:p>
                <a:pPr marL="98425" indent="0">
                  <a:buNone/>
                </a:pPr>
                <a:endParaRPr lang="en-AU" altLang="ko-KR" sz="2000" dirty="0">
                  <a:cs typeface="Tahoma" panose="020B0604030504040204" pitchFamily="34" charset="0"/>
                </a:endParaRPr>
              </a:p>
              <a:p>
                <a:pPr marL="98425" indent="0">
                  <a:buNone/>
                </a:pPr>
                <a:r>
                  <a:rPr lang="en-AU" altLang="ko-KR" sz="2000" dirty="0">
                    <a:cs typeface="Tahoma" panose="020B0604030504040204" pitchFamily="34" charset="0"/>
                  </a:rPr>
                  <a:t>Our </a:t>
                </a:r>
                <a:r>
                  <a:rPr lang="en-AU" altLang="ko-KR" sz="2000" b="1" dirty="0">
                    <a:cs typeface="Tahoma" panose="020B0604030504040204" pitchFamily="34" charset="0"/>
                  </a:rPr>
                  <a:t>model</a:t>
                </a:r>
                <a:r>
                  <a:rPr lang="en-AU" altLang="ko-KR" sz="2000" dirty="0">
                    <a:cs typeface="Tahoma" panose="020B0604030504040204" pitchFamily="34" charset="0"/>
                  </a:rPr>
                  <a:t> has one parameter </a:t>
                </a:r>
                <a14:m>
                  <m:oMath xmlns:m="http://schemas.openxmlformats.org/officeDocument/2006/math">
                    <m:r>
                      <a:rPr lang="en-AU" altLang="ko-KR" sz="2000" i="1" dirty="0" smtClean="0">
                        <a:solidFill>
                          <a:srgbClr val="0070C0"/>
                        </a:solidFill>
                        <a:latin typeface="Cambria Math" panose="02040503050406030204" pitchFamily="18" charset="0"/>
                        <a:cs typeface="Tahoma" panose="020B0604030504040204" pitchFamily="34" charset="0"/>
                      </a:rPr>
                      <m:t>𝑤</m:t>
                    </m:r>
                    <m:r>
                      <a:rPr lang="en-AU" altLang="ko-KR" sz="2000" i="1" dirty="0" smtClean="0">
                        <a:solidFill>
                          <a:srgbClr val="0070C0"/>
                        </a:solidFill>
                        <a:latin typeface="Cambria Math" panose="02040503050406030204" pitchFamily="18" charset="0"/>
                        <a:ea typeface="Cambria Math" panose="02040503050406030204" pitchFamily="18" charset="0"/>
                        <a:cs typeface="Tahoma" panose="020B0604030504040204" pitchFamily="34" charset="0"/>
                      </a:rPr>
                      <m:t>∈</m:t>
                    </m:r>
                    <m:r>
                      <a:rPr lang="en-AU" altLang="ko-KR" sz="2000" b="0" i="1" dirty="0" smtClean="0">
                        <a:solidFill>
                          <a:srgbClr val="0070C0"/>
                        </a:solidFill>
                        <a:latin typeface="Cambria Math" panose="02040503050406030204" pitchFamily="18" charset="0"/>
                        <a:ea typeface="Cambria Math" panose="02040503050406030204" pitchFamily="18" charset="0"/>
                        <a:cs typeface="Tahoma" panose="020B0604030504040204" pitchFamily="34" charset="0"/>
                      </a:rPr>
                      <m:t>[0, 1]</m:t>
                    </m:r>
                  </m:oMath>
                </a14:m>
                <a:r>
                  <a:rPr lang="en-AU" altLang="ko-KR" sz="2000" dirty="0">
                    <a:cs typeface="Tahoma" panose="020B0604030504040204" pitchFamily="34" charset="0"/>
                  </a:rPr>
                  <a:t> that models probability of head:</a:t>
                </a:r>
              </a:p>
              <a:p>
                <a:pPr marL="98425" indent="0">
                  <a:buNone/>
                </a:pPr>
                <a:endParaRPr lang="en-AU" altLang="ko-KR" sz="2000" dirty="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000" b="0" i="1" smtClean="0">
                          <a:solidFill>
                            <a:srgbClr val="0070C0"/>
                          </a:solidFill>
                          <a:latin typeface="Cambria Math" panose="02040503050406030204" pitchFamily="18" charset="0"/>
                          <a:cs typeface="Tahoma" panose="020B0604030504040204" pitchFamily="34" charset="0"/>
                        </a:rPr>
                        <m:t>𝑝</m:t>
                      </m:r>
                      <m:d>
                        <m:dPr>
                          <m:endChr m:val="|"/>
                          <m:ctrlPr>
                            <a:rPr lang="en-AU" altLang="ko-KR" sz="2000" b="0" i="1" smtClean="0">
                              <a:solidFill>
                                <a:srgbClr val="0070C0"/>
                              </a:solidFill>
                              <a:latin typeface="Cambria Math" panose="02040503050406030204" pitchFamily="18" charset="0"/>
                              <a:cs typeface="Tahoma" panose="020B0604030504040204" pitchFamily="34" charset="0"/>
                            </a:rPr>
                          </m:ctrlPr>
                        </m:dPr>
                        <m:e>
                          <m:r>
                            <a:rPr lang="en-AU" altLang="ko-KR" sz="2000" b="0" i="1" smtClean="0">
                              <a:solidFill>
                                <a:srgbClr val="0070C0"/>
                              </a:solidFill>
                              <a:latin typeface="Cambria Math" panose="02040503050406030204" pitchFamily="18" charset="0"/>
                              <a:cs typeface="Tahoma" panose="020B0604030504040204" pitchFamily="34" charset="0"/>
                            </a:rPr>
                            <m:t>𝑦</m:t>
                          </m:r>
                        </m:e>
                      </m:d>
                      <m:r>
                        <a:rPr lang="en-AU" altLang="ko-KR" sz="2000" b="0" i="1" smtClean="0">
                          <a:solidFill>
                            <a:srgbClr val="0070C0"/>
                          </a:solidFill>
                          <a:latin typeface="Cambria Math" panose="02040503050406030204" pitchFamily="18" charset="0"/>
                          <a:cs typeface="Tahoma" panose="020B0604030504040204" pitchFamily="34" charset="0"/>
                        </a:rPr>
                        <m:t>𝑤</m:t>
                      </m:r>
                      <m:r>
                        <a:rPr lang="en-AU" altLang="ko-KR" sz="2000" b="0" i="1" smtClean="0">
                          <a:solidFill>
                            <a:srgbClr val="0070C0"/>
                          </a:solidFill>
                          <a:latin typeface="Cambria Math" panose="02040503050406030204" pitchFamily="18" charset="0"/>
                          <a:cs typeface="Tahoma" panose="020B0604030504040204" pitchFamily="34" charset="0"/>
                        </a:rPr>
                        <m:t>)=</m:t>
                      </m:r>
                      <m:d>
                        <m:dPr>
                          <m:begChr m:val="{"/>
                          <m:endChr m:val=""/>
                          <m:ctrlPr>
                            <a:rPr lang="en-AU" altLang="ko-KR" sz="2000" b="0" i="1" smtClean="0">
                              <a:solidFill>
                                <a:srgbClr val="0070C0"/>
                              </a:solidFill>
                              <a:latin typeface="Cambria Math" panose="02040503050406030204" pitchFamily="18" charset="0"/>
                              <a:cs typeface="Tahoma" panose="020B0604030504040204" pitchFamily="34" charset="0"/>
                            </a:rPr>
                          </m:ctrlPr>
                        </m:dPr>
                        <m:e>
                          <m:eqArr>
                            <m:eqArrPr>
                              <m:ctrlPr>
                                <a:rPr lang="en-AU" altLang="ko-KR" sz="2000" b="0" i="1" smtClean="0">
                                  <a:solidFill>
                                    <a:srgbClr val="0070C0"/>
                                  </a:solidFill>
                                  <a:latin typeface="Cambria Math" panose="02040503050406030204" pitchFamily="18" charset="0"/>
                                  <a:cs typeface="Tahoma" panose="020B0604030504040204" pitchFamily="34" charset="0"/>
                                </a:rPr>
                              </m:ctrlPr>
                            </m:eqArrPr>
                            <m:e>
                              <m:r>
                                <a:rPr lang="en-AU" altLang="ko-KR" sz="2000" b="0" i="1" smtClean="0">
                                  <a:solidFill>
                                    <a:srgbClr val="0070C0"/>
                                  </a:solidFill>
                                  <a:latin typeface="Cambria Math" panose="02040503050406030204" pitchFamily="18" charset="0"/>
                                  <a:cs typeface="Tahoma" panose="020B0604030504040204" pitchFamily="34" charset="0"/>
                                </a:rPr>
                                <m:t>𝑤</m:t>
                              </m:r>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0" i="1" smtClean="0">
                                  <a:solidFill>
                                    <a:srgbClr val="0070C0"/>
                                  </a:solidFill>
                                  <a:latin typeface="Cambria Math" panose="02040503050406030204" pitchFamily="18" charset="0"/>
                                  <a:cs typeface="Tahoma" panose="020B0604030504040204" pitchFamily="34" charset="0"/>
                                </a:rPr>
                                <m:t>𝑦</m:t>
                              </m:r>
                              <m:r>
                                <a:rPr lang="en-AU" altLang="ko-KR" sz="2000" b="0" i="1" smtClean="0">
                                  <a:solidFill>
                                    <a:srgbClr val="0070C0"/>
                                  </a:solidFill>
                                  <a:latin typeface="Cambria Math" panose="02040503050406030204" pitchFamily="18" charset="0"/>
                                  <a:cs typeface="Tahoma" panose="020B0604030504040204" pitchFamily="34" charset="0"/>
                                </a:rPr>
                                <m:t>=</m:t>
                              </m:r>
                              <m:r>
                                <a:rPr lang="en-AU" altLang="ko-KR" sz="2000" b="0" i="1" smtClean="0">
                                  <a:solidFill>
                                    <a:srgbClr val="0070C0"/>
                                  </a:solidFill>
                                  <a:latin typeface="Cambria Math" panose="02040503050406030204" pitchFamily="18" charset="0"/>
                                  <a:cs typeface="Tahoma" panose="020B0604030504040204" pitchFamily="34" charset="0"/>
                                </a:rPr>
                                <m:t>𝐻</m:t>
                              </m:r>
                            </m:e>
                            <m:e>
                              <m:r>
                                <a:rPr lang="en-AU" altLang="ko-KR" sz="2000" b="0" i="1" smtClean="0">
                                  <a:solidFill>
                                    <a:srgbClr val="0070C0"/>
                                  </a:solidFill>
                                  <a:latin typeface="Cambria Math" panose="02040503050406030204" pitchFamily="18" charset="0"/>
                                  <a:cs typeface="Tahoma" panose="020B0604030504040204" pitchFamily="34" charset="0"/>
                                </a:rPr>
                                <m:t>1−</m:t>
                              </m:r>
                              <m:r>
                                <a:rPr lang="en-AU" altLang="ko-KR" sz="2000" b="0" i="1" smtClean="0">
                                  <a:solidFill>
                                    <a:srgbClr val="0070C0"/>
                                  </a:solidFill>
                                  <a:latin typeface="Cambria Math" panose="02040503050406030204" pitchFamily="18" charset="0"/>
                                  <a:cs typeface="Tahoma" panose="020B0604030504040204" pitchFamily="34" charset="0"/>
                                </a:rPr>
                                <m:t>𝑤</m:t>
                              </m:r>
                              <m:r>
                                <a:rPr lang="en-AU" altLang="ko-KR" sz="2000" b="0" i="1" smtClean="0">
                                  <a:solidFill>
                                    <a:srgbClr val="0070C0"/>
                                  </a:solidFill>
                                  <a:latin typeface="Cambria Math" panose="02040503050406030204" pitchFamily="18" charset="0"/>
                                  <a:cs typeface="Tahoma" panose="020B0604030504040204" pitchFamily="34" charset="0"/>
                                </a:rPr>
                                <m:t>, </m:t>
                              </m:r>
                              <m:r>
                                <a:rPr lang="en-AU" altLang="ko-KR" sz="2000" b="0" i="1" smtClean="0">
                                  <a:solidFill>
                                    <a:srgbClr val="0070C0"/>
                                  </a:solidFill>
                                  <a:latin typeface="Cambria Math" panose="02040503050406030204" pitchFamily="18" charset="0"/>
                                  <a:cs typeface="Tahoma" panose="020B0604030504040204" pitchFamily="34" charset="0"/>
                                </a:rPr>
                                <m:t>𝑦</m:t>
                              </m:r>
                              <m:r>
                                <a:rPr lang="en-AU" altLang="ko-KR" sz="2000" b="0" i="1" smtClean="0">
                                  <a:solidFill>
                                    <a:srgbClr val="0070C0"/>
                                  </a:solidFill>
                                  <a:latin typeface="Cambria Math" panose="02040503050406030204" pitchFamily="18" charset="0"/>
                                  <a:cs typeface="Tahoma" panose="020B0604030504040204" pitchFamily="34" charset="0"/>
                                </a:rPr>
                                <m:t>=</m:t>
                              </m:r>
                              <m:r>
                                <a:rPr lang="en-AU" altLang="ko-KR" sz="2000" b="0" i="1" smtClean="0">
                                  <a:solidFill>
                                    <a:srgbClr val="0070C0"/>
                                  </a:solidFill>
                                  <a:latin typeface="Cambria Math" panose="02040503050406030204" pitchFamily="18" charset="0"/>
                                  <a:cs typeface="Tahoma" panose="020B0604030504040204" pitchFamily="34" charset="0"/>
                                </a:rPr>
                                <m:t>𝑇</m:t>
                              </m:r>
                            </m:e>
                          </m:eqArr>
                        </m:e>
                      </m:d>
                    </m:oMath>
                  </m:oMathPara>
                </a14:m>
                <a:endParaRPr lang="en-AU" altLang="ko-KR" sz="2400" dirty="0">
                  <a:cs typeface="Tahoma" panose="020B0604030504040204" pitchFamily="34" charset="0"/>
                </a:endParaRPr>
              </a:p>
              <a:p>
                <a:pPr marL="98425" indent="0">
                  <a:buNone/>
                </a:pPr>
                <a:endParaRPr lang="en-AU" altLang="ko-KR" sz="2000" b="1" dirty="0">
                  <a:cs typeface="Tahoma" panose="020B0604030504040204" pitchFamily="34" charset="0"/>
                </a:endParaRPr>
              </a:p>
              <a:p>
                <a:pPr marL="98425" indent="0">
                  <a:buNone/>
                </a:pPr>
                <a:r>
                  <a:rPr lang="en-AU" altLang="ko-KR" sz="2000" b="1" dirty="0">
                    <a:cs typeface="Tahoma" panose="020B0604030504040204" pitchFamily="34" charset="0"/>
                  </a:rPr>
                  <a:t>Problem: </a:t>
                </a:r>
                <a:r>
                  <a:rPr lang="en-AU" altLang="ko-KR" sz="2000" dirty="0">
                    <a:cs typeface="Tahoma" panose="020B0604030504040204" pitchFamily="34" charset="0"/>
                  </a:rPr>
                  <a:t>need to </a:t>
                </a:r>
                <a:r>
                  <a:rPr lang="en-AU" altLang="ko-KR" sz="2000" dirty="0">
                    <a:solidFill>
                      <a:srgbClr val="C00000"/>
                    </a:solidFill>
                    <a:cs typeface="Tahoma" panose="020B0604030504040204" pitchFamily="34" charset="0"/>
                  </a:rPr>
                  <a:t>estimate</a:t>
                </a:r>
                <a:r>
                  <a:rPr lang="en-AU" altLang="ko-KR" sz="2000" dirty="0">
                    <a:cs typeface="Tahoma" panose="020B0604030504040204" pitchFamily="34" charset="0"/>
                  </a:rPr>
                  <a:t> </a:t>
                </a:r>
                <a14:m>
                  <m:oMath xmlns:m="http://schemas.openxmlformats.org/officeDocument/2006/math">
                    <m:r>
                      <a:rPr lang="en-AU" altLang="ko-KR" sz="2000" i="1" dirty="0" smtClean="0">
                        <a:latin typeface="Cambria Math" panose="02040503050406030204" pitchFamily="18" charset="0"/>
                        <a:cs typeface="Tahoma" panose="020B0604030504040204" pitchFamily="34" charset="0"/>
                      </a:rPr>
                      <m:t>𝑤</m:t>
                    </m:r>
                  </m:oMath>
                </a14:m>
                <a:r>
                  <a:rPr lang="en-AU" altLang="ko-KR" sz="2000" dirty="0">
                    <a:cs typeface="Tahoma" panose="020B0604030504040204" pitchFamily="34" charset="0"/>
                  </a:rPr>
                  <a:t> from training data </a:t>
                </a:r>
                <a14:m>
                  <m:oMath xmlns:m="http://schemas.openxmlformats.org/officeDocument/2006/math">
                    <m:r>
                      <a:rPr lang="en-AU" altLang="ko-KR" sz="2000" i="1" dirty="0" smtClean="0">
                        <a:latin typeface="Cambria Math" panose="02040503050406030204" pitchFamily="18" charset="0"/>
                        <a:cs typeface="Tahoma" panose="020B0604030504040204" pitchFamily="34" charset="0"/>
                      </a:rPr>
                      <m:t>𝐷</m:t>
                    </m:r>
                  </m:oMath>
                </a14:m>
                <a:r>
                  <a:rPr lang="en-AU" altLang="ko-KR" sz="2000" dirty="0">
                    <a:cs typeface="Tahoma" panose="020B0604030504040204" pitchFamily="34" charset="0"/>
                  </a:rPr>
                  <a:t>. </a:t>
                </a:r>
              </a:p>
              <a:p>
                <a:pPr marL="98425" indent="0">
                  <a:buFont typeface="Wingdings" panose="05000000000000000000" pitchFamily="2" charset="2"/>
                  <a:buNone/>
                </a:pPr>
                <a:endParaRPr lang="en-AU" altLang="ko-KR" dirty="0">
                  <a:cs typeface="Tahoma" panose="020B0604030504040204" pitchFamily="34" charset="0"/>
                </a:endParaRPr>
              </a:p>
            </p:txBody>
          </p:sp>
        </mc:Choice>
        <mc:Fallback xmlns="">
          <p:sp>
            <p:nvSpPr>
              <p:cNvPr id="29699" name="Content Placeholder 2"/>
              <p:cNvSpPr>
                <a:spLocks noGrp="1" noRot="1" noChangeAspect="1" noMove="1" noResize="1" noEditPoints="1" noAdjustHandles="1" noChangeArrowheads="1" noChangeShapeType="1" noTextEdit="1"/>
              </p:cNvSpPr>
              <p:nvPr>
                <p:ph idx="4294967295"/>
              </p:nvPr>
            </p:nvSpPr>
            <p:spPr>
              <a:xfrm>
                <a:off x="2915816" y="1524000"/>
                <a:ext cx="5543972" cy="4495800"/>
              </a:xfrm>
              <a:blipFill>
                <a:blip r:embed="rId3"/>
                <a:stretch>
                  <a:fillRect t="-847" b="-26271"/>
                </a:stretch>
              </a:blipFill>
            </p:spPr>
            <p:txBody>
              <a:bodyPr/>
              <a:lstStyle/>
              <a:p>
                <a:r>
                  <a:rPr lang="en-AU">
                    <a:noFill/>
                  </a:rPr>
                  <a:t> </a:t>
                </a:r>
              </a:p>
            </p:txBody>
          </p:sp>
        </mc:Fallback>
      </mc:AlternateContent>
      <p:sp>
        <p:nvSpPr>
          <p:cNvPr id="29702"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pic>
        <p:nvPicPr>
          <p:cNvPr id="5" name="Picture 1">
            <a:extLst>
              <a:ext uri="{FF2B5EF4-FFF2-40B4-BE49-F238E27FC236}">
                <a16:creationId xmlns:a16="http://schemas.microsoft.com/office/drawing/2014/main" id="{05C8CF32-66E0-D245-B78A-393C257445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057400"/>
            <a:ext cx="22733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9019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EB36-8D5C-F14E-804A-024C6AFB5D0E}"/>
              </a:ext>
            </a:extLst>
          </p:cNvPr>
          <p:cNvSpPr>
            <a:spLocks noGrp="1"/>
          </p:cNvSpPr>
          <p:nvPr>
            <p:ph type="title"/>
          </p:nvPr>
        </p:nvSpPr>
        <p:spPr/>
        <p:txBody>
          <a:bodyPr/>
          <a:lstStyle/>
          <a:p>
            <a:r>
              <a:rPr lang="en-AU" dirty="0"/>
              <a:t>Maximum Likelihood Principle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14A590-20E0-C446-ADDB-521CDCCBF920}"/>
                  </a:ext>
                </a:extLst>
              </p:cNvPr>
              <p:cNvSpPr>
                <a:spLocks noGrp="1"/>
              </p:cNvSpPr>
              <p:nvPr>
                <p:ph idx="1"/>
              </p:nvPr>
            </p:nvSpPr>
            <p:spPr/>
            <p:txBody>
              <a:bodyPr/>
              <a:lstStyle/>
              <a:p>
                <a:pPr marL="98425" indent="0">
                  <a:buNone/>
                </a:pPr>
                <a:r>
                  <a:rPr lang="en-AU" sz="2000" b="1" dirty="0"/>
                  <a:t>Idea: </a:t>
                </a:r>
                <a:r>
                  <a:rPr lang="en-AU" sz="2000" dirty="0"/>
                  <a:t>maximise </a:t>
                </a:r>
                <a:r>
                  <a:rPr lang="en-AU" sz="2000" dirty="0">
                    <a:solidFill>
                      <a:srgbClr val="0070C0"/>
                    </a:solidFill>
                  </a:rPr>
                  <a:t>probability of data</a:t>
                </a:r>
                <a:r>
                  <a:rPr lang="en-AU" sz="2000" dirty="0"/>
                  <a:t> as function of parameters </a:t>
                </a:r>
                <a14:m>
                  <m:oMath xmlns:m="http://schemas.openxmlformats.org/officeDocument/2006/math">
                    <m:r>
                      <a:rPr lang="en-AU" sz="2000" b="0" i="1" smtClean="0">
                        <a:latin typeface="Cambria Math" panose="02040503050406030204" pitchFamily="18" charset="0"/>
                      </a:rPr>
                      <m:t>𝑤</m:t>
                    </m:r>
                  </m:oMath>
                </a14:m>
                <a:r>
                  <a:rPr lang="en-AU" sz="2000" dirty="0"/>
                  <a:t> </a:t>
                </a:r>
              </a:p>
              <a:p>
                <a:pPr marL="98425" indent="0">
                  <a:buNone/>
                </a:pPr>
                <a:endParaRPr lang="en-AU" sz="2000" dirty="0"/>
              </a:p>
              <a:p>
                <a:pPr marL="98425" indent="0">
                  <a:buNone/>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oMath>
                  </m:oMathPara>
                </a14:m>
                <a:endParaRPr lang="en-AU" sz="2000" dirty="0"/>
              </a:p>
              <a:p>
                <a:pPr marL="98425" indent="0">
                  <a:buNone/>
                </a:pPr>
                <a:endParaRPr lang="en-AU" sz="2000" dirty="0"/>
              </a:p>
              <a:p>
                <a:pPr marL="98425" indent="0">
                  <a:buNone/>
                </a:pPr>
                <a:r>
                  <a:rPr lang="en-AU" sz="2000" dirty="0"/>
                  <a:t>This is called the </a:t>
                </a:r>
                <a:r>
                  <a:rPr lang="en-AU" sz="2000" b="1" dirty="0"/>
                  <a:t>likelihood function </a:t>
                </a:r>
                <a:r>
                  <a:rPr lang="en-AU" sz="2000" dirty="0"/>
                  <a:t>and maximiser</a:t>
                </a:r>
                <a:r>
                  <a:rPr lang="en-AU" sz="2000" b="1" dirty="0"/>
                  <a:t> </a:t>
                </a:r>
                <a14:m>
                  <m:oMath xmlns:m="http://schemas.openxmlformats.org/officeDocument/2006/math">
                    <m:sSub>
                      <m:sSubPr>
                        <m:ctrlPr>
                          <a:rPr lang="en-AU" sz="2000" i="1" smtClean="0">
                            <a:solidFill>
                              <a:srgbClr val="0070C0"/>
                            </a:solidFill>
                            <a:latin typeface="Cambria Math" panose="02040503050406030204" pitchFamily="18" charset="0"/>
                          </a:rPr>
                        </m:ctrlPr>
                      </m:sSubPr>
                      <m:e>
                        <m:r>
                          <a:rPr lang="en-AU" sz="2000" i="1">
                            <a:solidFill>
                              <a:srgbClr val="0070C0"/>
                            </a:solidFill>
                            <a:latin typeface="Cambria Math" panose="02040503050406030204" pitchFamily="18" charset="0"/>
                          </a:rPr>
                          <m:t>𝑤</m:t>
                        </m:r>
                      </m:e>
                      <m:sub>
                        <m:r>
                          <m:rPr>
                            <m:sty m:val="p"/>
                          </m:rPr>
                          <a:rPr lang="en-AU" sz="2000">
                            <a:solidFill>
                              <a:srgbClr val="0070C0"/>
                            </a:solidFill>
                            <a:latin typeface="Cambria Math" panose="02040503050406030204" pitchFamily="18" charset="0"/>
                          </a:rPr>
                          <m:t>ML</m:t>
                        </m:r>
                      </m:sub>
                    </m:sSub>
                  </m:oMath>
                </a14:m>
                <a:r>
                  <a:rPr lang="en-AU" sz="2000" dirty="0"/>
                  <a:t> is called maximum likelihood estimate:</a:t>
                </a:r>
              </a:p>
              <a:p>
                <a:pPr marL="98425" indent="0">
                  <a:buNone/>
                </a:pPr>
                <a:endParaRPr lang="en-AU" sz="2000" dirty="0"/>
              </a:p>
              <a:p>
                <a:pPr marL="98425" indent="0">
                  <a:buNone/>
                </a:pPr>
                <a14:m>
                  <m:oMathPara xmlns:m="http://schemas.openxmlformats.org/officeDocument/2006/math">
                    <m:oMathParaPr>
                      <m:jc m:val="centerGroup"/>
                    </m:oMathParaPr>
                    <m:oMath xmlns:m="http://schemas.openxmlformats.org/officeDocument/2006/math">
                      <m:func>
                        <m:funcPr>
                          <m:ctrlPr>
                            <a:rPr lang="en-AU" sz="2000" b="0" i="1" smtClean="0">
                              <a:latin typeface="Cambria Math" panose="02040503050406030204" pitchFamily="18" charset="0"/>
                            </a:rPr>
                          </m:ctrlPr>
                        </m:funcPr>
                        <m:fName>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r>
                                <a:rPr lang="en-AU" sz="2000" b="0" i="1" smtClean="0">
                                  <a:latin typeface="Cambria Math" panose="02040503050406030204" pitchFamily="18" charset="0"/>
                                </a:rPr>
                                <m:t>𝐷</m:t>
                              </m:r>
                            </m:e>
                            <m:e>
                              <m:sSub>
                                <m:sSubPr>
                                  <m:ctrlPr>
                                    <a:rPr lang="en-AU" sz="2000" b="0" i="1" smtClean="0">
                                      <a:solidFill>
                                        <a:srgbClr val="0070C0"/>
                                      </a:solidFill>
                                      <a:latin typeface="Cambria Math" panose="02040503050406030204" pitchFamily="18" charset="0"/>
                                    </a:rPr>
                                  </m:ctrlPr>
                                </m:sSubPr>
                                <m:e>
                                  <m:r>
                                    <a:rPr lang="en-AU" sz="2000" b="0" i="1" smtClean="0">
                                      <a:solidFill>
                                        <a:srgbClr val="0070C0"/>
                                      </a:solidFill>
                                      <a:latin typeface="Cambria Math" panose="02040503050406030204" pitchFamily="18" charset="0"/>
                                    </a:rPr>
                                    <m:t>𝑤</m:t>
                                  </m:r>
                                </m:e>
                                <m:sub>
                                  <m:r>
                                    <m:rPr>
                                      <m:sty m:val="p"/>
                                    </m:rPr>
                                    <a:rPr lang="en-AU" sz="2000" b="0" i="0" smtClean="0">
                                      <a:solidFill>
                                        <a:srgbClr val="0070C0"/>
                                      </a:solidFill>
                                      <a:latin typeface="Cambria Math" panose="02040503050406030204" pitchFamily="18" charset="0"/>
                                    </a:rPr>
                                    <m:t>ML</m:t>
                                  </m:r>
                                </m:sub>
                              </m:sSub>
                            </m:e>
                          </m:d>
                          <m:r>
                            <a:rPr lang="en-AU" sz="2000" b="0" i="1" smtClean="0">
                              <a:latin typeface="Cambria Math" panose="02040503050406030204" pitchFamily="18" charset="0"/>
                            </a:rPr>
                            <m:t>=</m:t>
                          </m:r>
                          <m:limLow>
                            <m:limLowPr>
                              <m:ctrlPr>
                                <a:rPr lang="en-AU" sz="2000" b="0" i="1" smtClean="0">
                                  <a:latin typeface="Cambria Math" panose="02040503050406030204" pitchFamily="18" charset="0"/>
                                </a:rPr>
                              </m:ctrlPr>
                            </m:limLowPr>
                            <m:e>
                              <m:r>
                                <m:rPr>
                                  <m:sty m:val="p"/>
                                </m:rPr>
                                <a:rPr lang="en-AU" sz="2000" b="0" i="0" smtClean="0">
                                  <a:latin typeface="Cambria Math" panose="02040503050406030204" pitchFamily="18" charset="0"/>
                                </a:rPr>
                                <m:t>max</m:t>
                              </m:r>
                            </m:e>
                            <m:lim>
                              <m:r>
                                <a:rPr lang="en-AU" sz="2000" b="0" i="1" smtClean="0">
                                  <a:latin typeface="Cambria Math" panose="02040503050406030204" pitchFamily="18" charset="0"/>
                                </a:rPr>
                                <m:t>𝑤</m:t>
                              </m:r>
                            </m:lim>
                          </m:limLow>
                        </m:fName>
                        <m:e>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e>
                      </m:func>
                    </m:oMath>
                  </m:oMathPara>
                </a14:m>
                <a:endParaRPr lang="en-AU" sz="2000" dirty="0"/>
              </a:p>
              <a:p>
                <a:pPr marL="98425" indent="0">
                  <a:buNone/>
                </a:pPr>
                <a:endParaRPr lang="en-AU" sz="2000" dirty="0"/>
              </a:p>
              <a:p>
                <a:pPr marL="98425" indent="0">
                  <a:buNone/>
                </a:pPr>
                <a:r>
                  <a:rPr lang="en-AU" sz="2000" dirty="0"/>
                  <a:t>With </a:t>
                </a:r>
                <a:r>
                  <a:rPr lang="en-AU" sz="2000" dirty="0">
                    <a:solidFill>
                      <a:srgbClr val="0070C0"/>
                    </a:solidFill>
                  </a:rPr>
                  <a:t>independent data</a:t>
                </a:r>
                <a:r>
                  <a:rPr lang="en-AU" sz="2000" dirty="0"/>
                  <a:t> </a:t>
                </a:r>
                <a14:m>
                  <m:oMath xmlns:m="http://schemas.openxmlformats.org/officeDocument/2006/math">
                    <m:r>
                      <a:rPr lang="en-AU" sz="2000" b="0" i="1" smtClean="0">
                        <a:latin typeface="Cambria Math" panose="02040503050406030204" pitchFamily="18" charset="0"/>
                      </a:rPr>
                      <m:t>𝐷</m:t>
                    </m:r>
                    <m:r>
                      <a:rPr lang="en-AU" sz="2000" b="0" i="1" smtClean="0">
                        <a:latin typeface="Cambria Math" panose="02040503050406030204" pitchFamily="18" charset="0"/>
                      </a:rPr>
                      <m:t>={</m:t>
                    </m:r>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1</m:t>
                        </m:r>
                      </m:sub>
                    </m:sSub>
                    <m:r>
                      <a:rPr lang="en-AU" sz="2000" b="0" i="1" smtClean="0">
                        <a:latin typeface="Cambria Math" panose="02040503050406030204" pitchFamily="18" charset="0"/>
                      </a:rPr>
                      <m:t>,…,</m:t>
                    </m:r>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𝑛</m:t>
                        </m:r>
                      </m:sub>
                    </m:sSub>
                    <m:r>
                      <a:rPr lang="en-AU" sz="2000" b="0" i="1" smtClean="0">
                        <a:latin typeface="Cambria Math" panose="02040503050406030204" pitchFamily="18" charset="0"/>
                      </a:rPr>
                      <m:t>}</m:t>
                    </m:r>
                  </m:oMath>
                </a14:m>
                <a:r>
                  <a:rPr lang="en-AU" sz="2000" dirty="0"/>
                  <a:t> likelhood becomes product</a:t>
                </a:r>
              </a:p>
              <a:p>
                <a:pPr marL="98425" indent="0">
                  <a:buNone/>
                </a:pPr>
                <a:endParaRPr lang="en-AU" sz="2000" dirty="0"/>
              </a:p>
              <a:p>
                <a:pPr marL="98425" indent="0">
                  <a:buNone/>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r>
                            <a:rPr lang="en-AU" sz="2000" b="0" i="1" smtClean="0">
                              <a:latin typeface="Cambria Math" panose="02040503050406030204" pitchFamily="18" charset="0"/>
                            </a:rPr>
                            <m:t>𝐷</m:t>
                          </m:r>
                        </m:e>
                        <m:e>
                          <m:r>
                            <a:rPr lang="en-AU" sz="2000" b="0" i="1" smtClean="0">
                              <a:latin typeface="Cambria Math" panose="02040503050406030204" pitchFamily="18" charset="0"/>
                            </a:rPr>
                            <m:t>𝑤</m:t>
                          </m:r>
                        </m:e>
                      </m:d>
                      <m:r>
                        <a:rPr lang="en-AU" sz="2000" b="0" i="1" smtClean="0">
                          <a:latin typeface="Cambria Math" panose="02040503050406030204" pitchFamily="18" charset="0"/>
                        </a:rPr>
                        <m:t>=</m:t>
                      </m:r>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1</m:t>
                              </m:r>
                            </m:sub>
                          </m:sSub>
                        </m:e>
                        <m:e>
                          <m:r>
                            <a:rPr lang="en-AU" sz="2000" b="0" i="1" smtClean="0">
                              <a:latin typeface="Cambria Math" panose="02040503050406030204" pitchFamily="18" charset="0"/>
                            </a:rPr>
                            <m:t>𝑤</m:t>
                          </m:r>
                        </m:e>
                      </m:d>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2</m:t>
                              </m:r>
                            </m:sub>
                          </m:sSub>
                        </m:e>
                        <m:e>
                          <m:r>
                            <a:rPr lang="en-AU" sz="2000" b="0" i="1" smtClean="0">
                              <a:latin typeface="Cambria Math" panose="02040503050406030204" pitchFamily="18" charset="0"/>
                            </a:rPr>
                            <m:t>𝑤</m:t>
                          </m:r>
                        </m:e>
                      </m:d>
                      <m:r>
                        <a:rPr lang="en-AU" sz="2000" b="0" i="1" smtClean="0">
                          <a:latin typeface="Cambria Math" panose="02040503050406030204" pitchFamily="18" charset="0"/>
                        </a:rPr>
                        <m:t>…</m:t>
                      </m:r>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𝑛</m:t>
                              </m:r>
                            </m:sub>
                          </m:sSub>
                        </m:e>
                        <m:e>
                          <m:r>
                            <a:rPr lang="en-AU" sz="2000" b="0" i="1" smtClean="0">
                              <a:latin typeface="Cambria Math" panose="02040503050406030204" pitchFamily="18" charset="0"/>
                            </a:rPr>
                            <m:t>𝑤</m:t>
                          </m:r>
                        </m:e>
                      </m:d>
                      <m:r>
                        <a:rPr lang="en-AU" sz="2000" b="0" i="1" smtClean="0">
                          <a:latin typeface="Cambria Math" panose="02040503050406030204" pitchFamily="18" charset="0"/>
                        </a:rPr>
                        <m:t>=</m:t>
                      </m:r>
                      <m:nary>
                        <m:naryPr>
                          <m:chr m:val="∏"/>
                          <m:limLoc m:val="subSup"/>
                          <m:ctrlPr>
                            <a:rPr lang="en-AU" sz="2000" b="0" i="1" smtClean="0">
                              <a:latin typeface="Cambria Math" panose="02040503050406030204" pitchFamily="18" charset="0"/>
                            </a:rPr>
                          </m:ctrlPr>
                        </m:naryPr>
                        <m:sub>
                          <m:r>
                            <m:rPr>
                              <m:brk m:alnAt="25"/>
                            </m:rPr>
                            <a:rPr lang="en-AU" sz="2000" b="0" i="1" smtClean="0">
                              <a:latin typeface="Cambria Math" panose="02040503050406030204" pitchFamily="18" charset="0"/>
                            </a:rPr>
                            <m:t>𝑖</m:t>
                          </m:r>
                          <m:r>
                            <a:rPr lang="en-AU" sz="2000" b="0" i="1" smtClean="0">
                              <a:latin typeface="Cambria Math" panose="02040503050406030204" pitchFamily="18" charset="0"/>
                            </a:rPr>
                            <m:t>=1</m:t>
                          </m:r>
                        </m:sub>
                        <m:sup>
                          <m:r>
                            <a:rPr lang="en-AU" sz="2000" b="0" i="1" smtClean="0">
                              <a:latin typeface="Cambria Math" panose="02040503050406030204" pitchFamily="18" charset="0"/>
                            </a:rPr>
                            <m:t>𝑛</m:t>
                          </m:r>
                        </m:sup>
                        <m:e>
                          <m:r>
                            <a:rPr lang="en-AU" sz="2000" b="0" i="1" smtClean="0">
                              <a:latin typeface="Cambria Math" panose="02040503050406030204" pitchFamily="18" charset="0"/>
                            </a:rPr>
                            <m:t>𝑝</m:t>
                          </m:r>
                          <m:r>
                            <a:rPr lang="en-AU" sz="2000" b="0" i="1" smtClean="0">
                              <a:latin typeface="Cambria Math" panose="02040503050406030204" pitchFamily="18" charset="0"/>
                            </a:rPr>
                            <m:t>(</m:t>
                          </m:r>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𝑦</m:t>
                              </m:r>
                            </m:e>
                            <m:sub>
                              <m:r>
                                <a:rPr lang="en-AU" sz="2000" b="0" i="1" smtClean="0">
                                  <a:latin typeface="Cambria Math" panose="02040503050406030204" pitchFamily="18" charset="0"/>
                                </a:rPr>
                                <m:t>𝑖</m:t>
                              </m:r>
                            </m:sub>
                          </m:sSub>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e>
                      </m:nary>
                    </m:oMath>
                  </m:oMathPara>
                </a14:m>
                <a:endParaRPr lang="en-AU" sz="2000" dirty="0"/>
              </a:p>
              <a:p>
                <a:pPr marL="98425" indent="0">
                  <a:buNone/>
                </a:pPr>
                <a:endParaRPr lang="en-AU" sz="2000" dirty="0"/>
              </a:p>
              <a:p>
                <a:pPr marL="98425" indent="0">
                  <a:buNone/>
                </a:pPr>
                <a:endParaRPr lang="en-AU" sz="2000" dirty="0"/>
              </a:p>
            </p:txBody>
          </p:sp>
        </mc:Choice>
        <mc:Fallback xmlns="">
          <p:sp>
            <p:nvSpPr>
              <p:cNvPr id="3" name="Content Placeholder 2">
                <a:extLst>
                  <a:ext uri="{FF2B5EF4-FFF2-40B4-BE49-F238E27FC236}">
                    <a16:creationId xmlns:a16="http://schemas.microsoft.com/office/drawing/2014/main" id="{D414A590-20E0-C446-ADDB-521CDCCBF920}"/>
                  </a:ext>
                </a:extLst>
              </p:cNvPr>
              <p:cNvSpPr>
                <a:spLocks noGrp="1" noRot="1" noChangeAspect="1" noMove="1" noResize="1" noEditPoints="1" noAdjustHandles="1" noChangeArrowheads="1" noChangeShapeType="1" noTextEdit="1"/>
              </p:cNvSpPr>
              <p:nvPr>
                <p:ph idx="1"/>
              </p:nvPr>
            </p:nvSpPr>
            <p:spPr>
              <a:blipFill>
                <a:blip r:embed="rId2"/>
                <a:stretch>
                  <a:fillRect t="-845" b="-36901"/>
                </a:stretch>
              </a:blipFill>
            </p:spPr>
            <p:txBody>
              <a:bodyPr/>
              <a:lstStyle/>
              <a:p>
                <a:r>
                  <a:rPr lang="en-US">
                    <a:noFill/>
                  </a:rPr>
                  <a:t> </a:t>
                </a:r>
              </a:p>
            </p:txBody>
          </p:sp>
        </mc:Fallback>
      </mc:AlternateContent>
    </p:spTree>
    <p:extLst>
      <p:ext uri="{BB962C8B-B14F-4D97-AF65-F5344CB8AC3E}">
        <p14:creationId xmlns:p14="http://schemas.microsoft.com/office/powerpoint/2010/main" val="203149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D1870-810C-5C44-A070-D3BF41FCF42C}"/>
              </a:ext>
            </a:extLst>
          </p:cNvPr>
          <p:cNvSpPr>
            <a:spLocks noGrp="1"/>
          </p:cNvSpPr>
          <p:nvPr>
            <p:ph type="title"/>
          </p:nvPr>
        </p:nvSpPr>
        <p:spPr/>
        <p:txBody>
          <a:bodyPr/>
          <a:lstStyle/>
          <a:p>
            <a:r>
              <a:rPr lang="en-AU" dirty="0"/>
              <a:t>Likelihood Function for Coin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507C1C-A9E4-E241-B4C0-420AC1656FBE}"/>
                  </a:ext>
                </a:extLst>
              </p:cNvPr>
              <p:cNvSpPr>
                <a:spLocks noGrp="1"/>
              </p:cNvSpPr>
              <p:nvPr>
                <p:ph idx="1"/>
              </p:nvPr>
            </p:nvSpPr>
            <p:spPr/>
            <p:txBody>
              <a:bodyPr/>
              <a:lstStyle/>
              <a:p>
                <a:pPr marL="98425" indent="0">
                  <a:buNone/>
                </a:pPr>
                <a:r>
                  <a:rPr lang="en-AU" altLang="ko-KR" sz="2000" dirty="0">
                    <a:cs typeface="Tahoma" panose="020B0604030504040204" pitchFamily="34" charset="0"/>
                  </a:rPr>
                  <a:t>Data</a:t>
                </a:r>
                <a:endParaRPr lang="en-AU" altLang="ko-KR" sz="2000" b="1" i="1" dirty="0">
                  <a:latin typeface="Cambria Math" panose="02040503050406030204" pitchFamily="18" charset="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000" b="0" i="1" dirty="0">
                          <a:latin typeface="Cambria Math" panose="02040503050406030204" pitchFamily="18" charset="0"/>
                          <a:cs typeface="Tahoma" panose="020B0604030504040204" pitchFamily="34" charset="0"/>
                        </a:rPr>
                        <m:t>𝐷</m:t>
                      </m:r>
                      <m:r>
                        <a:rPr lang="en-AU" altLang="ko-KR" sz="2000" b="0" i="1" dirty="0">
                          <a:latin typeface="Cambria Math" panose="02040503050406030204" pitchFamily="18" charset="0"/>
                          <a:cs typeface="Tahoma" panose="020B0604030504040204" pitchFamily="34" charset="0"/>
                        </a:rPr>
                        <m:t> = {</m:t>
                      </m:r>
                      <m:r>
                        <a:rPr lang="en-AU" altLang="ko-KR" sz="2000" b="0" i="1" dirty="0">
                          <a:solidFill>
                            <a:srgbClr val="0070C0"/>
                          </a:solidFill>
                          <a:latin typeface="Cambria Math" panose="02040503050406030204" pitchFamily="18" charset="0"/>
                          <a:cs typeface="Tahoma" panose="020B0604030504040204" pitchFamily="34" charset="0"/>
                        </a:rPr>
                        <m:t>𝐻</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solidFill>
                            <a:srgbClr val="0070C0"/>
                          </a:solidFill>
                          <a:latin typeface="Cambria Math" panose="02040503050406030204" pitchFamily="18" charset="0"/>
                          <a:cs typeface="Tahoma" panose="020B0604030504040204" pitchFamily="34" charset="0"/>
                        </a:rPr>
                        <m:t>𝐻</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 </m:t>
                      </m:r>
                      <m:r>
                        <a:rPr lang="en-AU" altLang="ko-KR" sz="2000" b="0" i="1" dirty="0">
                          <a:solidFill>
                            <a:srgbClr val="0070C0"/>
                          </a:solidFill>
                          <a:latin typeface="Cambria Math" panose="02040503050406030204" pitchFamily="18" charset="0"/>
                          <a:cs typeface="Tahoma" panose="020B0604030504040204" pitchFamily="34" charset="0"/>
                        </a:rPr>
                        <m:t>𝐻</m:t>
                      </m:r>
                      <m:r>
                        <a:rPr lang="en-AU" altLang="ko-KR" sz="2000" b="0" i="1" dirty="0">
                          <a:latin typeface="Cambria Math" panose="02040503050406030204" pitchFamily="18" charset="0"/>
                          <a:cs typeface="Tahoma" panose="020B0604030504040204" pitchFamily="34" charset="0"/>
                        </a:rPr>
                        <m:t>, </m:t>
                      </m:r>
                      <m:r>
                        <a:rPr lang="en-AU" altLang="ko-KR" sz="2000" b="0" i="1" dirty="0">
                          <a:latin typeface="Cambria Math" panose="02040503050406030204" pitchFamily="18" charset="0"/>
                          <a:cs typeface="Tahoma" panose="020B0604030504040204" pitchFamily="34" charset="0"/>
                        </a:rPr>
                        <m:t>𝑇</m:t>
                      </m:r>
                      <m:r>
                        <a:rPr lang="en-AU" altLang="ko-KR" sz="2000" b="0" i="1" dirty="0">
                          <a:latin typeface="Cambria Math" panose="02040503050406030204" pitchFamily="18" charset="0"/>
                          <a:cs typeface="Tahoma" panose="020B0604030504040204" pitchFamily="34" charset="0"/>
                        </a:rPr>
                        <m:t>}</m:t>
                      </m:r>
                    </m:oMath>
                  </m:oMathPara>
                </a14:m>
                <a:endParaRPr lang="en-AU" altLang="ko-KR" sz="2000" dirty="0">
                  <a:cs typeface="Tahoma" panose="020B0604030504040204" pitchFamily="34" charset="0"/>
                </a:endParaRPr>
              </a:p>
              <a:p>
                <a:pPr marL="98425" indent="0">
                  <a:buNone/>
                </a:pPr>
                <a:endParaRPr lang="en-AU" altLang="ko-KR" sz="2000" dirty="0">
                  <a:cs typeface="Tahoma" panose="020B0604030504040204" pitchFamily="34" charset="0"/>
                </a:endParaRPr>
              </a:p>
              <a:p>
                <a:pPr marL="98425" indent="0">
                  <a:buNone/>
                </a:pPr>
                <a:r>
                  <a:rPr lang="en-AU" altLang="ko-KR" sz="2000" dirty="0">
                    <a:cs typeface="Tahoma" panose="020B0604030504040204" pitchFamily="34" charset="0"/>
                  </a:rPr>
                  <a:t>Probability for individual data point</a:t>
                </a:r>
              </a:p>
              <a:p>
                <a:pPr marL="98425" indent="0">
                  <a:buNone/>
                </a:pPr>
                <a:endParaRPr lang="en-AU" altLang="ko-KR" sz="2000" dirty="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000" i="1" smtClean="0">
                          <a:solidFill>
                            <a:schemeClr val="tx1"/>
                          </a:solidFill>
                          <a:latin typeface="Cambria Math" panose="02040503050406030204" pitchFamily="18" charset="0"/>
                          <a:cs typeface="Tahoma" panose="020B0604030504040204" pitchFamily="34" charset="0"/>
                        </a:rPr>
                        <m:t>𝑝</m:t>
                      </m:r>
                      <m:d>
                        <m:dPr>
                          <m:endChr m:val="|"/>
                          <m:ctrlPr>
                            <a:rPr lang="en-AU" altLang="ko-KR" sz="2000" i="1">
                              <a:solidFill>
                                <a:schemeClr val="tx1"/>
                              </a:solidFill>
                              <a:latin typeface="Cambria Math" panose="02040503050406030204" pitchFamily="18" charset="0"/>
                              <a:cs typeface="Tahoma" panose="020B0604030504040204" pitchFamily="34" charset="0"/>
                            </a:rPr>
                          </m:ctrlPr>
                        </m:dPr>
                        <m:e>
                          <m:r>
                            <a:rPr lang="en-AU" altLang="ko-KR" sz="2000" i="1">
                              <a:solidFill>
                                <a:schemeClr val="tx1"/>
                              </a:solidFill>
                              <a:latin typeface="Cambria Math" panose="02040503050406030204" pitchFamily="18" charset="0"/>
                              <a:cs typeface="Tahoma" panose="020B0604030504040204" pitchFamily="34" charset="0"/>
                            </a:rPr>
                            <m:t>𝑦</m:t>
                          </m:r>
                        </m:e>
                      </m:d>
                      <m:r>
                        <a:rPr lang="en-AU" altLang="ko-KR" sz="2000" i="1">
                          <a:solidFill>
                            <a:schemeClr val="tx1"/>
                          </a:solidFill>
                          <a:latin typeface="Cambria Math" panose="02040503050406030204" pitchFamily="18" charset="0"/>
                          <a:cs typeface="Tahoma" panose="020B0604030504040204" pitchFamily="34" charset="0"/>
                        </a:rPr>
                        <m:t>𝑤</m:t>
                      </m:r>
                      <m:r>
                        <a:rPr lang="en-AU" altLang="ko-KR" sz="2000" i="1">
                          <a:solidFill>
                            <a:schemeClr val="tx1"/>
                          </a:solidFill>
                          <a:latin typeface="Cambria Math" panose="02040503050406030204" pitchFamily="18" charset="0"/>
                          <a:cs typeface="Tahoma" panose="020B0604030504040204" pitchFamily="34" charset="0"/>
                        </a:rPr>
                        <m:t>)=</m:t>
                      </m:r>
                      <m:d>
                        <m:dPr>
                          <m:begChr m:val="{"/>
                          <m:endChr m:val=""/>
                          <m:ctrlPr>
                            <a:rPr lang="en-AU" altLang="ko-KR" sz="2000" i="1">
                              <a:solidFill>
                                <a:schemeClr val="tx1"/>
                              </a:solidFill>
                              <a:latin typeface="Cambria Math" panose="02040503050406030204" pitchFamily="18" charset="0"/>
                              <a:cs typeface="Tahoma" panose="020B0604030504040204" pitchFamily="34" charset="0"/>
                            </a:rPr>
                          </m:ctrlPr>
                        </m:dPr>
                        <m:e>
                          <m:eqArr>
                            <m:eqArrPr>
                              <m:ctrlPr>
                                <a:rPr lang="en-AU" altLang="ko-KR" sz="2000" i="1">
                                  <a:solidFill>
                                    <a:schemeClr val="tx1"/>
                                  </a:solidFill>
                                  <a:latin typeface="Cambria Math" panose="02040503050406030204" pitchFamily="18" charset="0"/>
                                  <a:cs typeface="Tahoma" panose="020B0604030504040204" pitchFamily="34" charset="0"/>
                                </a:rPr>
                              </m:ctrlPr>
                            </m:eqArrPr>
                            <m:e>
                              <m:r>
                                <a:rPr lang="en-AU" altLang="ko-KR" sz="2000" i="1">
                                  <a:solidFill>
                                    <a:schemeClr val="tx1"/>
                                  </a:solidFill>
                                  <a:latin typeface="Cambria Math" panose="02040503050406030204" pitchFamily="18" charset="0"/>
                                  <a:cs typeface="Tahoma" panose="020B0604030504040204" pitchFamily="34" charset="0"/>
                                </a:rPr>
                                <m:t>𝑤</m:t>
                              </m:r>
                              <m:r>
                                <a:rPr lang="en-AU" altLang="ko-KR" sz="2000" i="1">
                                  <a:solidFill>
                                    <a:schemeClr val="tx1"/>
                                  </a:solidFill>
                                  <a:latin typeface="Cambria Math" panose="02040503050406030204" pitchFamily="18" charset="0"/>
                                  <a:cs typeface="Tahoma" panose="020B0604030504040204" pitchFamily="34" charset="0"/>
                                </a:rPr>
                                <m:t>,  </m:t>
                              </m:r>
                              <m:r>
                                <a:rPr lang="en-AU" altLang="ko-KR" sz="2000" i="1">
                                  <a:solidFill>
                                    <a:schemeClr val="tx1"/>
                                  </a:solidFill>
                                  <a:latin typeface="Cambria Math" panose="02040503050406030204" pitchFamily="18" charset="0"/>
                                  <a:cs typeface="Tahoma" panose="020B0604030504040204" pitchFamily="34" charset="0"/>
                                </a:rPr>
                                <m:t>𝑦</m:t>
                              </m:r>
                              <m:r>
                                <a:rPr lang="en-AU" altLang="ko-KR" sz="2000" i="1">
                                  <a:solidFill>
                                    <a:schemeClr val="tx1"/>
                                  </a:solidFill>
                                  <a:latin typeface="Cambria Math" panose="02040503050406030204" pitchFamily="18" charset="0"/>
                                  <a:cs typeface="Tahoma" panose="020B0604030504040204" pitchFamily="34" charset="0"/>
                                </a:rPr>
                                <m:t>=</m:t>
                              </m:r>
                              <m:r>
                                <a:rPr lang="en-AU" altLang="ko-KR" sz="2000" i="1" smtClean="0">
                                  <a:solidFill>
                                    <a:srgbClr val="0070C0"/>
                                  </a:solidFill>
                                  <a:latin typeface="Cambria Math" panose="02040503050406030204" pitchFamily="18" charset="0"/>
                                  <a:cs typeface="Tahoma" panose="020B0604030504040204" pitchFamily="34" charset="0"/>
                                </a:rPr>
                                <m:t>𝐻</m:t>
                              </m:r>
                            </m:e>
                            <m:e>
                              <m:r>
                                <a:rPr lang="en-AU" altLang="ko-KR" sz="2000" i="1">
                                  <a:solidFill>
                                    <a:schemeClr val="tx1"/>
                                  </a:solidFill>
                                  <a:latin typeface="Cambria Math" panose="02040503050406030204" pitchFamily="18" charset="0"/>
                                  <a:cs typeface="Tahoma" panose="020B0604030504040204" pitchFamily="34" charset="0"/>
                                </a:rPr>
                                <m:t>1−</m:t>
                              </m:r>
                              <m:r>
                                <a:rPr lang="en-AU" altLang="ko-KR" sz="2000" i="1">
                                  <a:solidFill>
                                    <a:schemeClr val="tx1"/>
                                  </a:solidFill>
                                  <a:latin typeface="Cambria Math" panose="02040503050406030204" pitchFamily="18" charset="0"/>
                                  <a:cs typeface="Tahoma" panose="020B0604030504040204" pitchFamily="34" charset="0"/>
                                </a:rPr>
                                <m:t>𝑤</m:t>
                              </m:r>
                              <m:r>
                                <a:rPr lang="en-AU" altLang="ko-KR" sz="2000" i="1">
                                  <a:solidFill>
                                    <a:schemeClr val="tx1"/>
                                  </a:solidFill>
                                  <a:latin typeface="Cambria Math" panose="02040503050406030204" pitchFamily="18" charset="0"/>
                                  <a:cs typeface="Tahoma" panose="020B0604030504040204" pitchFamily="34" charset="0"/>
                                </a:rPr>
                                <m:t>, </m:t>
                              </m:r>
                              <m:r>
                                <a:rPr lang="en-AU" altLang="ko-KR" sz="2000" i="1">
                                  <a:solidFill>
                                    <a:schemeClr val="tx1"/>
                                  </a:solidFill>
                                  <a:latin typeface="Cambria Math" panose="02040503050406030204" pitchFamily="18" charset="0"/>
                                  <a:cs typeface="Tahoma" panose="020B0604030504040204" pitchFamily="34" charset="0"/>
                                </a:rPr>
                                <m:t>𝑦</m:t>
                              </m:r>
                              <m:r>
                                <a:rPr lang="en-AU" altLang="ko-KR" sz="2000" i="1">
                                  <a:solidFill>
                                    <a:schemeClr val="tx1"/>
                                  </a:solidFill>
                                  <a:latin typeface="Cambria Math" panose="02040503050406030204" pitchFamily="18" charset="0"/>
                                  <a:cs typeface="Tahoma" panose="020B0604030504040204" pitchFamily="34" charset="0"/>
                                </a:rPr>
                                <m:t>=</m:t>
                              </m:r>
                              <m:r>
                                <a:rPr lang="en-AU" altLang="ko-KR" sz="2000" i="1">
                                  <a:solidFill>
                                    <a:schemeClr val="tx1"/>
                                  </a:solidFill>
                                  <a:latin typeface="Cambria Math" panose="02040503050406030204" pitchFamily="18" charset="0"/>
                                  <a:cs typeface="Tahoma" panose="020B0604030504040204" pitchFamily="34" charset="0"/>
                                </a:rPr>
                                <m:t>𝑇</m:t>
                              </m:r>
                            </m:e>
                          </m:eqArr>
                        </m:e>
                      </m:d>
                    </m:oMath>
                  </m:oMathPara>
                </a14:m>
                <a:endParaRPr lang="en-AU" altLang="ko-KR" sz="3200" dirty="0">
                  <a:cs typeface="Tahoma" panose="020B0604030504040204" pitchFamily="34" charset="0"/>
                </a:endParaRPr>
              </a:p>
              <a:p>
                <a:pPr marL="98425" indent="0">
                  <a:buNone/>
                </a:pPr>
                <a:endParaRPr lang="en-AU" sz="2000" dirty="0"/>
              </a:p>
              <a:p>
                <a:pPr marL="98425" indent="0">
                  <a:buNone/>
                </a:pPr>
                <a:r>
                  <a:rPr lang="en-AU" sz="2000" dirty="0"/>
                  <a:t>Likelihood</a:t>
                </a:r>
              </a:p>
              <a:p>
                <a:pPr marL="98425" indent="0">
                  <a:buNone/>
                </a:pPr>
                <a:endParaRPr lang="en-AU" sz="2000" dirty="0"/>
              </a:p>
              <a:p>
                <a:pPr marL="98425" indent="0">
                  <a:buNone/>
                </a:pP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rPr>
                        <m:t>𝑃</m:t>
                      </m:r>
                      <m:d>
                        <m:dPr>
                          <m:ctrlPr>
                            <a:rPr lang="en-AU" sz="2000" i="1">
                              <a:latin typeface="Cambria Math" panose="02040503050406030204" pitchFamily="18" charset="0"/>
                            </a:rPr>
                          </m:ctrlPr>
                        </m:dPr>
                        <m:e>
                          <m:r>
                            <a:rPr lang="en-AU" sz="2000" i="1">
                              <a:latin typeface="Cambria Math" panose="02040503050406030204" pitchFamily="18" charset="0"/>
                            </a:rPr>
                            <m:t>𝐷</m:t>
                          </m:r>
                        </m:e>
                        <m:e>
                          <m:r>
                            <a:rPr lang="en-AU" sz="2000" i="1">
                              <a:latin typeface="Cambria Math" panose="02040503050406030204" pitchFamily="18" charset="0"/>
                            </a:rPr>
                            <m:t>𝑤</m:t>
                          </m:r>
                        </m:e>
                      </m:d>
                      <m:r>
                        <m:rPr>
                          <m:aln/>
                        </m:rPr>
                        <a:rPr lang="en-AU" sz="2000" i="1">
                          <a:latin typeface="Cambria Math" panose="02040503050406030204" pitchFamily="18" charset="0"/>
                        </a:rPr>
                        <m:t>=</m:t>
                      </m:r>
                      <m:r>
                        <a:rPr lang="en-AU" sz="2000" i="1" smtClean="0">
                          <a:solidFill>
                            <a:srgbClr val="0070C0"/>
                          </a:solidFill>
                          <a:latin typeface="Cambria Math" panose="02040503050406030204" pitchFamily="18" charset="0"/>
                        </a:rPr>
                        <m:t>𝑤</m:t>
                      </m:r>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r>
                        <a:rPr lang="en-AU" sz="2000" i="1" smtClean="0">
                          <a:solidFill>
                            <a:srgbClr val="0070C0"/>
                          </a:solidFill>
                          <a:latin typeface="Cambria Math" panose="02040503050406030204" pitchFamily="18" charset="0"/>
                        </a:rPr>
                        <m:t>𝑤</m:t>
                      </m:r>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r>
                        <a:rPr lang="en-AU" sz="2000" i="1" smtClean="0">
                          <a:solidFill>
                            <a:srgbClr val="0070C0"/>
                          </a:solidFill>
                          <a:latin typeface="Cambria Math" panose="02040503050406030204" pitchFamily="18" charset="0"/>
                        </a:rPr>
                        <m:t>𝑤</m:t>
                      </m:r>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oMath>
                    <m:oMath xmlns:m="http://schemas.openxmlformats.org/officeDocument/2006/math">
                      <m:r>
                        <m:rPr>
                          <m:aln/>
                        </m:rPr>
                        <a:rPr lang="en-AU" sz="2000" i="1">
                          <a:latin typeface="Cambria Math" panose="02040503050406030204" pitchFamily="18" charset="0"/>
                        </a:rPr>
                        <m:t>=</m:t>
                      </m:r>
                      <m:sSup>
                        <m:sSupPr>
                          <m:ctrlPr>
                            <a:rPr lang="en-AU" sz="2000" i="1">
                              <a:latin typeface="Cambria Math" panose="02040503050406030204" pitchFamily="18" charset="0"/>
                            </a:rPr>
                          </m:ctrlPr>
                        </m:sSupPr>
                        <m:e>
                          <m:r>
                            <a:rPr lang="en-AU" sz="2000" i="1" smtClean="0">
                              <a:solidFill>
                                <a:srgbClr val="0070C0"/>
                              </a:solidFill>
                              <a:latin typeface="Cambria Math" panose="02040503050406030204" pitchFamily="18" charset="0"/>
                            </a:rPr>
                            <m:t>𝑤</m:t>
                          </m:r>
                        </m:e>
                        <m:sup>
                          <m:r>
                            <a:rPr lang="en-AU" sz="2000" i="1">
                              <a:latin typeface="Cambria Math" panose="02040503050406030204" pitchFamily="18" charset="0"/>
                            </a:rPr>
                            <m:t>3</m:t>
                          </m:r>
                        </m:sup>
                      </m:sSup>
                      <m:sSup>
                        <m:sSupPr>
                          <m:ctrlPr>
                            <a:rPr lang="en-AU" sz="2000" i="1">
                              <a:latin typeface="Cambria Math" panose="02040503050406030204" pitchFamily="18" charset="0"/>
                            </a:rPr>
                          </m:ctrlPr>
                        </m:sSupPr>
                        <m:e>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e>
                        <m:sup>
                          <m:r>
                            <a:rPr lang="en-AU" sz="2000" i="1">
                              <a:latin typeface="Cambria Math" panose="02040503050406030204" pitchFamily="18" charset="0"/>
                            </a:rPr>
                            <m:t>7</m:t>
                          </m:r>
                        </m:sup>
                      </m:sSup>
                    </m:oMath>
                    <m:oMath xmlns:m="http://schemas.openxmlformats.org/officeDocument/2006/math">
                      <m:r>
                        <m:rPr>
                          <m:aln/>
                        </m:rPr>
                        <a:rPr lang="en-AU" sz="2000" i="1">
                          <a:latin typeface="Cambria Math" panose="02040503050406030204" pitchFamily="18" charset="0"/>
                        </a:rPr>
                        <m:t>=</m:t>
                      </m:r>
                      <m:sSup>
                        <m:sSupPr>
                          <m:ctrlPr>
                            <a:rPr lang="en-AU" sz="2000" i="1">
                              <a:latin typeface="Cambria Math" panose="02040503050406030204" pitchFamily="18" charset="0"/>
                            </a:rPr>
                          </m:ctrlPr>
                        </m:sSupPr>
                        <m:e>
                          <m:r>
                            <a:rPr lang="en-AU" sz="2000" i="1" smtClean="0">
                              <a:solidFill>
                                <a:srgbClr val="0070C0"/>
                              </a:solidFill>
                              <a:latin typeface="Cambria Math" panose="02040503050406030204" pitchFamily="18" charset="0"/>
                            </a:rPr>
                            <m:t>𝑤</m:t>
                          </m:r>
                        </m:e>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𝐻</m:t>
                              </m:r>
                            </m:e>
                          </m:d>
                        </m:sup>
                      </m:sSup>
                      <m:sSup>
                        <m:sSupPr>
                          <m:ctrlPr>
                            <a:rPr lang="en-AU" sz="2000" i="1">
                              <a:latin typeface="Cambria Math" panose="02040503050406030204" pitchFamily="18" charset="0"/>
                            </a:rPr>
                          </m:ctrlPr>
                        </m:sSupPr>
                        <m:e>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e>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𝑇</m:t>
                              </m:r>
                            </m:e>
                          </m:d>
                        </m:sup>
                      </m:sSup>
                    </m:oMath>
                  </m:oMathPara>
                </a14:m>
                <a:endParaRPr lang="en-AU" dirty="0"/>
              </a:p>
              <a:p>
                <a:pPr marL="98425" indent="0">
                  <a:buNone/>
                </a:pPr>
                <a:endParaRPr lang="en-AU" sz="2000"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20507C1C-A9E4-E241-B4C0-420AC1656FBE}"/>
                  </a:ext>
                </a:extLst>
              </p:cNvPr>
              <p:cNvSpPr>
                <a:spLocks noGrp="1" noRot="1" noChangeAspect="1" noMove="1" noResize="1" noEditPoints="1" noAdjustHandles="1" noChangeArrowheads="1" noChangeShapeType="1" noTextEdit="1"/>
              </p:cNvSpPr>
              <p:nvPr>
                <p:ph idx="1"/>
              </p:nvPr>
            </p:nvSpPr>
            <p:spPr>
              <a:blipFill>
                <a:blip r:embed="rId2"/>
                <a:stretch>
                  <a:fillRect t="-1130" b="-4802"/>
                </a:stretch>
              </a:blipFill>
            </p:spPr>
            <p:txBody>
              <a:bodyPr/>
              <a:lstStyle/>
              <a:p>
                <a:r>
                  <a:rPr lang="en-AU">
                    <a:noFill/>
                  </a:rPr>
                  <a:t> </a:t>
                </a:r>
              </a:p>
            </p:txBody>
          </p:sp>
        </mc:Fallback>
      </mc:AlternateContent>
      <p:pic>
        <p:nvPicPr>
          <p:cNvPr id="5" name="Picture 1">
            <a:extLst>
              <a:ext uri="{FF2B5EF4-FFF2-40B4-BE49-F238E27FC236}">
                <a16:creationId xmlns:a16="http://schemas.microsoft.com/office/drawing/2014/main" id="{56B37964-721A-5B42-A95B-F59EAF7A5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661" y="1628800"/>
            <a:ext cx="1936779" cy="30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269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title" idx="4294967295"/>
          </p:nvPr>
        </p:nvSpPr>
        <p:spPr>
          <a:xfrm>
            <a:off x="304800" y="152400"/>
            <a:ext cx="8458200" cy="990600"/>
          </a:xfrm>
        </p:spPr>
        <p:txBody>
          <a:bodyPr/>
          <a:lstStyle/>
          <a:p>
            <a:r>
              <a:rPr lang="en-US" altLang="ko-KR" dirty="0"/>
              <a:t>Maximum Likelihood</a:t>
            </a:r>
          </a:p>
        </p:txBody>
      </p:sp>
      <p:sp>
        <p:nvSpPr>
          <p:cNvPr id="37891" name="Content Placeholder 2"/>
          <p:cNvSpPr>
            <a:spLocks noGrp="1" noRot="1" noChangeAspect="1" noMove="1" noResize="1" noEditPoints="1" noAdjustHandles="1" noChangeArrowheads="1" noTextEdit="1"/>
          </p:cNvSpPr>
          <p:nvPr>
            <p:ph idx="4294967295"/>
          </p:nvPr>
        </p:nvSpPr>
        <p:spPr>
          <a:blipFill dpi="0" rotWithShape="0">
            <a:blip r:embed="rId3"/>
            <a:srcRect/>
            <a:stretch>
              <a:fillRect/>
            </a:stretch>
          </a:blipFill>
        </p:spPr>
        <p:txBody>
          <a:bodyPr/>
          <a:lstStyle/>
          <a:p>
            <a:endParaRPr lang="en-AU"/>
          </a:p>
        </p:txBody>
      </p:sp>
      <p:sp>
        <p:nvSpPr>
          <p:cNvPr id="37892"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A3C7-2DA6-8D4D-A36A-56E9E1CC770E}"/>
              </a:ext>
            </a:extLst>
          </p:cNvPr>
          <p:cNvSpPr>
            <a:spLocks noGrp="1"/>
          </p:cNvSpPr>
          <p:nvPr>
            <p:ph type="title"/>
          </p:nvPr>
        </p:nvSpPr>
        <p:spPr/>
        <p:txBody>
          <a:bodyPr/>
          <a:lstStyle/>
          <a:p>
            <a:r>
              <a:rPr lang="en-AU" dirty="0"/>
              <a:t>Find Maximum Likelihood Estimate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12254E-C71D-584F-B773-B50ED7CD88B5}"/>
                  </a:ext>
                </a:extLst>
              </p:cNvPr>
              <p:cNvSpPr>
                <a:spLocks noGrp="1"/>
              </p:cNvSpPr>
              <p:nvPr>
                <p:ph idx="1"/>
              </p:nvPr>
            </p:nvSpPr>
            <p:spPr/>
            <p:txBody>
              <a:bodyPr/>
              <a:lstStyle/>
              <a:p>
                <a:pPr marL="98425" indent="0">
                  <a:buNone/>
                </a:pPr>
                <a:r>
                  <a:rPr lang="en-AU" sz="2000" b="1" dirty="0"/>
                  <a:t>Idea: </a:t>
                </a:r>
                <a:r>
                  <a:rPr lang="en-AU" sz="2000" dirty="0"/>
                  <a:t>use </a:t>
                </a:r>
                <a:r>
                  <a:rPr lang="en-AU" sz="2000" dirty="0">
                    <a:solidFill>
                      <a:srgbClr val="0070C0"/>
                    </a:solidFill>
                  </a:rPr>
                  <a:t>derivative criterion </a:t>
                </a:r>
                <a:r>
                  <a:rPr lang="en-AU" sz="2000" dirty="0"/>
                  <a:t>to identify max of likelihood function</a:t>
                </a:r>
              </a:p>
              <a:p>
                <a:pPr marL="98425" indent="0">
                  <a:buNone/>
                </a:pPr>
                <a14:m>
                  <m:oMathPara xmlns:m="http://schemas.openxmlformats.org/officeDocument/2006/math">
                    <m:oMathParaPr>
                      <m:jc m:val="centerGroup"/>
                    </m:oMathParaPr>
                    <m:oMath xmlns:m="http://schemas.openxmlformats.org/officeDocument/2006/math">
                      <m:sSub>
                        <m:sSubPr>
                          <m:ctrlPr>
                            <a:rPr lang="en-AU" sz="2000" b="0" i="1" smtClean="0">
                              <a:latin typeface="Cambria Math" panose="02040503050406030204" pitchFamily="18" charset="0"/>
                            </a:rPr>
                          </m:ctrlPr>
                        </m:sSubPr>
                        <m:e>
                          <m:d>
                            <m:dPr>
                              <m:begChr m:val=""/>
                              <m:endChr m:val="|"/>
                              <m:ctrlPr>
                                <a:rPr lang="en-AU" sz="2000" b="0" i="1" smtClean="0">
                                  <a:latin typeface="Cambria Math" panose="02040503050406030204" pitchFamily="18" charset="0"/>
                                </a:rPr>
                              </m:ctrlPr>
                            </m:dPr>
                            <m:e>
                              <m:f>
                                <m:fPr>
                                  <m:ctrlPr>
                                    <a:rPr lang="en-AU" sz="2000" i="1">
                                      <a:latin typeface="Cambria Math" panose="02040503050406030204" pitchFamily="18" charset="0"/>
                                    </a:rPr>
                                  </m:ctrlPr>
                                </m:fPr>
                                <m:num>
                                  <m:r>
                                    <a:rPr lang="en-AU" sz="2000" i="1">
                                      <a:latin typeface="Cambria Math" panose="02040503050406030204" pitchFamily="18" charset="0"/>
                                    </a:rPr>
                                    <m:t>𝜕</m:t>
                                  </m:r>
                                </m:num>
                                <m:den>
                                  <m:r>
                                    <a:rPr lang="en-AU" sz="2000" i="1">
                                      <a:latin typeface="Cambria Math" panose="02040503050406030204" pitchFamily="18" charset="0"/>
                                    </a:rPr>
                                    <m:t>𝜕</m:t>
                                  </m:r>
                                  <m:r>
                                    <a:rPr lang="en-AU" sz="2000" i="1">
                                      <a:latin typeface="Cambria Math" panose="02040503050406030204" pitchFamily="18" charset="0"/>
                                    </a:rPr>
                                    <m:t>𝑤</m:t>
                                  </m:r>
                                </m:den>
                              </m:f>
                              <m:r>
                                <a:rPr lang="en-AU" sz="2000" i="1">
                                  <a:latin typeface="Cambria Math" panose="02040503050406030204" pitchFamily="18" charset="0"/>
                                </a:rPr>
                                <m:t>𝑝</m:t>
                              </m:r>
                              <m:d>
                                <m:dPr>
                                  <m:ctrlPr>
                                    <a:rPr lang="en-AU" sz="2000" i="1">
                                      <a:latin typeface="Cambria Math" panose="02040503050406030204" pitchFamily="18" charset="0"/>
                                    </a:rPr>
                                  </m:ctrlPr>
                                </m:dPr>
                                <m:e>
                                  <m:r>
                                    <a:rPr lang="en-AU" sz="2000" i="1">
                                      <a:latin typeface="Cambria Math" panose="02040503050406030204" pitchFamily="18" charset="0"/>
                                    </a:rPr>
                                    <m:t>𝐷</m:t>
                                  </m:r>
                                </m:e>
                                <m:e>
                                  <m:r>
                                    <a:rPr lang="en-AU" sz="2000" b="0" i="1" smtClean="0">
                                      <a:latin typeface="Cambria Math" panose="02040503050406030204" pitchFamily="18" charset="0"/>
                                    </a:rPr>
                                    <m:t>𝑤</m:t>
                                  </m:r>
                                </m:e>
                              </m:d>
                            </m:e>
                          </m:d>
                        </m:e>
                        <m:sub>
                          <m:r>
                            <a:rPr lang="en-AU" sz="2000" b="0" i="1" smtClean="0">
                              <a:latin typeface="Cambria Math" panose="02040503050406030204" pitchFamily="18" charset="0"/>
                            </a:rPr>
                            <m:t>𝑤</m:t>
                          </m:r>
                          <m:r>
                            <a:rPr lang="en-AU" sz="2000" b="0" i="1" smtClean="0">
                              <a:latin typeface="Cambria Math" panose="02040503050406030204" pitchFamily="18" charset="0"/>
                            </a:rPr>
                            <m:t>=</m:t>
                          </m:r>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𝑤</m:t>
                              </m:r>
                            </m:e>
                            <m:sub>
                              <m:r>
                                <m:rPr>
                                  <m:sty m:val="p"/>
                                </m:rPr>
                                <a:rPr lang="en-AU" sz="2000" b="0" i="0" smtClean="0">
                                  <a:latin typeface="Cambria Math" panose="02040503050406030204" pitchFamily="18" charset="0"/>
                                </a:rPr>
                                <m:t>ML</m:t>
                              </m:r>
                            </m:sub>
                          </m:sSub>
                        </m:sub>
                      </m:sSub>
                      <m:r>
                        <a:rPr lang="en-AU" sz="2000" b="0" i="1" smtClean="0">
                          <a:latin typeface="Cambria Math" panose="02040503050406030204" pitchFamily="18" charset="0"/>
                        </a:rPr>
                        <m:t>=0</m:t>
                      </m:r>
                    </m:oMath>
                  </m:oMathPara>
                </a14:m>
                <a:endParaRPr lang="en-AU" sz="2000" dirty="0"/>
              </a:p>
              <a:p>
                <a:pPr marL="98425" indent="0">
                  <a:buNone/>
                </a:pPr>
                <a:endParaRPr lang="en-AU" sz="2000" dirty="0"/>
              </a:p>
              <a:p>
                <a:pPr marL="98425" indent="0">
                  <a:buNone/>
                </a:pPr>
                <a:r>
                  <a:rPr lang="en-AU" sz="2000" b="1" dirty="0"/>
                  <a:t>Problem: </a:t>
                </a:r>
                <a:r>
                  <a:rPr lang="en-AU" sz="2000" dirty="0"/>
                  <a:t>product very hard to differentiate</a:t>
                </a:r>
              </a:p>
              <a:p>
                <a:pPr marL="98425" indent="0">
                  <a:buNone/>
                </a:pPr>
                <a:endParaRPr lang="en-AU" sz="2000" dirty="0"/>
              </a:p>
              <a:p>
                <a:pPr marL="98425" indent="0">
                  <a:buNone/>
                </a:pPr>
                <a:r>
                  <a:rPr lang="en-AU" sz="2000" b="1" dirty="0"/>
                  <a:t>Instead: </a:t>
                </a:r>
                <a:r>
                  <a:rPr lang="en-AU" sz="2000" dirty="0"/>
                  <a:t>consider </a:t>
                </a:r>
                <a:r>
                  <a:rPr lang="en-AU" sz="2000" dirty="0">
                    <a:solidFill>
                      <a:srgbClr val="0070C0"/>
                    </a:solidFill>
                  </a:rPr>
                  <a:t>log likelihood function </a:t>
                </a:r>
                <a:r>
                  <a:rPr lang="en-AU" sz="2000" dirty="0"/>
                  <a:t>(has same maximiser)</a:t>
                </a:r>
              </a:p>
              <a:p>
                <a:pPr marL="98425" indent="0">
                  <a:buNone/>
                </a:pPr>
                <a:endParaRPr lang="en-AU" sz="2000" b="0" i="1" dirty="0">
                  <a:latin typeface="Cambria Math" panose="02040503050406030204" pitchFamily="18" charset="0"/>
                </a:endParaRPr>
              </a:p>
              <a:p>
                <a:pPr marL="98425" indent="0">
                  <a:buNone/>
                </a:pPr>
                <a14:m>
                  <m:oMathPara xmlns:m="http://schemas.openxmlformats.org/officeDocument/2006/math">
                    <m:oMathParaPr>
                      <m:jc m:val="centerGroup"/>
                    </m:oMathParaPr>
                    <m:oMath xmlns:m="http://schemas.openxmlformats.org/officeDocument/2006/math">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latin typeface="Cambria Math" panose="02040503050406030204" pitchFamily="18" charset="0"/>
                            </a:rPr>
                            <m:t>𝑝</m:t>
                          </m:r>
                          <m:d>
                            <m:dPr>
                              <m:ctrlPr>
                                <a:rPr lang="en-AU" sz="2000" b="0" i="1" smtClean="0">
                                  <a:latin typeface="Cambria Math" panose="02040503050406030204" pitchFamily="18" charset="0"/>
                                </a:rPr>
                              </m:ctrlPr>
                            </m:dPr>
                            <m:e>
                              <m:r>
                                <a:rPr lang="en-AU" sz="2000" b="0" i="1" smtClean="0">
                                  <a:latin typeface="Cambria Math" panose="02040503050406030204" pitchFamily="18" charset="0"/>
                                </a:rPr>
                                <m:t>𝐷</m:t>
                              </m:r>
                            </m:e>
                            <m:e>
                              <m:r>
                                <a:rPr lang="en-AU" sz="2000" b="0" i="1" smtClean="0">
                                  <a:latin typeface="Cambria Math" panose="02040503050406030204" pitchFamily="18" charset="0"/>
                                </a:rPr>
                                <m:t>𝑤</m:t>
                              </m:r>
                            </m:e>
                          </m:d>
                          <m:r>
                            <a:rPr lang="en-AU" sz="2000" b="0" i="1" smtClean="0">
                              <a:latin typeface="Cambria Math" panose="02040503050406030204" pitchFamily="18" charset="0"/>
                            </a:rPr>
                            <m:t>=</m:t>
                          </m:r>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nary>
                                <m:naryPr>
                                  <m:chr m:val="∏"/>
                                  <m:limLoc m:val="subSup"/>
                                  <m:ctrlPr>
                                    <a:rPr lang="en-AU" sz="2000" i="1">
                                      <a:latin typeface="Cambria Math" panose="02040503050406030204" pitchFamily="18" charset="0"/>
                                    </a:rPr>
                                  </m:ctrlPr>
                                </m:naryPr>
                                <m:sub>
                                  <m:r>
                                    <m:rPr>
                                      <m:brk m:alnAt="25"/>
                                    </m:rPr>
                                    <a:rPr lang="en-AU" sz="2000" i="1">
                                      <a:latin typeface="Cambria Math" panose="02040503050406030204" pitchFamily="18" charset="0"/>
                                    </a:rPr>
                                    <m:t>𝑖</m:t>
                                  </m:r>
                                  <m:r>
                                    <a:rPr lang="en-AU" sz="2000" i="1">
                                      <a:latin typeface="Cambria Math" panose="02040503050406030204" pitchFamily="18" charset="0"/>
                                    </a:rPr>
                                    <m:t>=1</m:t>
                                  </m:r>
                                </m:sub>
                                <m:sup>
                                  <m:r>
                                    <a:rPr lang="en-AU" sz="2000" i="1">
                                      <a:latin typeface="Cambria Math" panose="02040503050406030204" pitchFamily="18" charset="0"/>
                                    </a:rPr>
                                    <m:t>𝑛</m:t>
                                  </m:r>
                                </m:sup>
                                <m:e>
                                  <m:r>
                                    <a:rPr lang="en-AU" sz="2000" i="1">
                                      <a:latin typeface="Cambria Math" panose="02040503050406030204" pitchFamily="18" charset="0"/>
                                    </a:rPr>
                                    <m:t>𝑝</m:t>
                                  </m:r>
                                  <m:r>
                                    <a:rPr lang="en-AU" sz="2000" i="1">
                                      <a:latin typeface="Cambria Math" panose="02040503050406030204" pitchFamily="18" charset="0"/>
                                    </a:rPr>
                                    <m:t>(</m:t>
                                  </m:r>
                                  <m:sSub>
                                    <m:sSubPr>
                                      <m:ctrlPr>
                                        <a:rPr lang="en-AU" sz="2000" i="1">
                                          <a:latin typeface="Cambria Math" panose="02040503050406030204" pitchFamily="18" charset="0"/>
                                        </a:rPr>
                                      </m:ctrlPr>
                                    </m:sSubPr>
                                    <m:e>
                                      <m:r>
                                        <a:rPr lang="en-AU" sz="2000" i="1">
                                          <a:latin typeface="Cambria Math" panose="02040503050406030204" pitchFamily="18" charset="0"/>
                                        </a:rPr>
                                        <m:t>𝑦</m:t>
                                      </m:r>
                                    </m:e>
                                    <m:sub>
                                      <m:r>
                                        <a:rPr lang="en-AU" sz="2000" i="1">
                                          <a:latin typeface="Cambria Math" panose="02040503050406030204" pitchFamily="18" charset="0"/>
                                        </a:rPr>
                                        <m:t>𝑖</m:t>
                                      </m:r>
                                    </m:sub>
                                  </m:sSub>
                                  <m:r>
                                    <a:rPr lang="en-AU" sz="2000" i="1">
                                      <a:latin typeface="Cambria Math" panose="02040503050406030204" pitchFamily="18" charset="0"/>
                                    </a:rPr>
                                    <m:t>|</m:t>
                                  </m:r>
                                  <m:r>
                                    <a:rPr lang="en-AU" sz="2000" i="1">
                                      <a:latin typeface="Cambria Math" panose="02040503050406030204" pitchFamily="18" charset="0"/>
                                    </a:rPr>
                                    <m:t>𝑤</m:t>
                                  </m:r>
                                  <m:r>
                                    <a:rPr lang="en-AU" sz="2000" i="1">
                                      <a:latin typeface="Cambria Math" panose="02040503050406030204" pitchFamily="18" charset="0"/>
                                    </a:rPr>
                                    <m:t>)</m:t>
                                  </m:r>
                                </m:e>
                              </m:nary>
                            </m:e>
                          </m:func>
                        </m:e>
                      </m:func>
                      <m:r>
                        <a:rPr lang="en-AU" sz="2000" b="0" i="1" smtClean="0">
                          <a:latin typeface="Cambria Math" panose="02040503050406030204" pitchFamily="18" charset="0"/>
                        </a:rPr>
                        <m:t>=</m:t>
                      </m:r>
                      <m:nary>
                        <m:naryPr>
                          <m:chr m:val="∑"/>
                          <m:limLoc m:val="subSup"/>
                          <m:ctrlPr>
                            <a:rPr lang="en-AU" sz="2000" b="0" i="1" smtClean="0">
                              <a:latin typeface="Cambria Math" panose="02040503050406030204" pitchFamily="18" charset="0"/>
                            </a:rPr>
                          </m:ctrlPr>
                        </m:naryPr>
                        <m:sub>
                          <m:r>
                            <m:rPr>
                              <m:brk m:alnAt="25"/>
                            </m:rPr>
                            <a:rPr lang="en-AU" sz="2000" b="0" i="1" smtClean="0">
                              <a:latin typeface="Cambria Math" panose="02040503050406030204" pitchFamily="18" charset="0"/>
                            </a:rPr>
                            <m:t>𝑖</m:t>
                          </m:r>
                          <m:r>
                            <a:rPr lang="en-AU" sz="2000" b="0" i="1" smtClean="0">
                              <a:latin typeface="Cambria Math" panose="02040503050406030204" pitchFamily="18" charset="0"/>
                            </a:rPr>
                            <m:t>=1</m:t>
                          </m:r>
                        </m:sub>
                        <m:sup>
                          <m:r>
                            <a:rPr lang="en-AU" sz="2000" b="0" i="1" smtClean="0">
                              <a:latin typeface="Cambria Math" panose="02040503050406030204" pitchFamily="18" charset="0"/>
                            </a:rPr>
                            <m:t>𝑛</m:t>
                          </m:r>
                        </m:sup>
                        <m:e>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i="1">
                                  <a:latin typeface="Cambria Math" panose="02040503050406030204" pitchFamily="18" charset="0"/>
                                </a:rPr>
                                <m:t>𝑝</m:t>
                              </m:r>
                              <m:r>
                                <a:rPr lang="en-AU" sz="2000" i="1">
                                  <a:latin typeface="Cambria Math" panose="02040503050406030204" pitchFamily="18" charset="0"/>
                                </a:rPr>
                                <m:t>(</m:t>
                              </m:r>
                              <m:sSub>
                                <m:sSubPr>
                                  <m:ctrlPr>
                                    <a:rPr lang="en-AU" sz="2000" i="1">
                                      <a:latin typeface="Cambria Math" panose="02040503050406030204" pitchFamily="18" charset="0"/>
                                    </a:rPr>
                                  </m:ctrlPr>
                                </m:sSubPr>
                                <m:e>
                                  <m:r>
                                    <a:rPr lang="en-AU" sz="2000" i="1">
                                      <a:latin typeface="Cambria Math" panose="02040503050406030204" pitchFamily="18" charset="0"/>
                                    </a:rPr>
                                    <m:t>𝑦</m:t>
                                  </m:r>
                                </m:e>
                                <m:sub>
                                  <m:r>
                                    <a:rPr lang="en-AU" sz="2000" i="1">
                                      <a:latin typeface="Cambria Math" panose="02040503050406030204" pitchFamily="18" charset="0"/>
                                    </a:rPr>
                                    <m:t>𝑖</m:t>
                                  </m:r>
                                </m:sub>
                              </m:sSub>
                              <m:r>
                                <a:rPr lang="en-AU" sz="2000" i="1">
                                  <a:latin typeface="Cambria Math" panose="02040503050406030204" pitchFamily="18" charset="0"/>
                                </a:rPr>
                                <m:t>|</m:t>
                              </m:r>
                              <m:r>
                                <a:rPr lang="en-AU" sz="2000" i="1">
                                  <a:latin typeface="Cambria Math" panose="02040503050406030204" pitchFamily="18" charset="0"/>
                                </a:rPr>
                                <m:t>𝑤</m:t>
                              </m:r>
                              <m:r>
                                <a:rPr lang="en-AU" sz="2000" i="1">
                                  <a:latin typeface="Cambria Math" panose="02040503050406030204" pitchFamily="18" charset="0"/>
                                </a:rPr>
                                <m:t>)</m:t>
                              </m:r>
                            </m:e>
                          </m:func>
                        </m:e>
                      </m:nary>
                    </m:oMath>
                  </m:oMathPara>
                </a14:m>
                <a:endParaRPr lang="en-AU" sz="2000" dirty="0"/>
              </a:p>
              <a:p>
                <a:pPr marL="98425" indent="0">
                  <a:buNone/>
                </a:pPr>
                <a:r>
                  <a:rPr lang="en-AU" sz="2000" dirty="0"/>
                  <a:t>and work with</a:t>
                </a:r>
              </a:p>
              <a:p>
                <a:pPr marL="98425" indent="0">
                  <a:buNone/>
                </a:pPr>
                <a14:m>
                  <m:oMathPara xmlns:m="http://schemas.openxmlformats.org/officeDocument/2006/math">
                    <m:oMathParaPr>
                      <m:jc m:val="centerGroup"/>
                    </m:oMathParaPr>
                    <m:oMath xmlns:m="http://schemas.openxmlformats.org/officeDocument/2006/math">
                      <m:f>
                        <m:fPr>
                          <m:ctrlPr>
                            <a:rPr lang="en-AU" sz="2000" i="1">
                              <a:latin typeface="Cambria Math" panose="02040503050406030204" pitchFamily="18" charset="0"/>
                            </a:rPr>
                          </m:ctrlPr>
                        </m:fPr>
                        <m:num>
                          <m:r>
                            <a:rPr lang="en-AU" sz="2000" i="1">
                              <a:latin typeface="Cambria Math" panose="02040503050406030204" pitchFamily="18" charset="0"/>
                            </a:rPr>
                            <m:t>𝜕</m:t>
                          </m:r>
                        </m:num>
                        <m:den>
                          <m:r>
                            <a:rPr lang="en-AU" sz="2000" i="1">
                              <a:latin typeface="Cambria Math" panose="02040503050406030204" pitchFamily="18" charset="0"/>
                            </a:rPr>
                            <m:t>𝜕</m:t>
                          </m:r>
                          <m:r>
                            <a:rPr lang="en-AU" sz="2000" i="1">
                              <a:latin typeface="Cambria Math" panose="02040503050406030204" pitchFamily="18" charset="0"/>
                            </a:rPr>
                            <m:t>𝑤</m:t>
                          </m:r>
                        </m:den>
                      </m:f>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i="1">
                              <a:latin typeface="Cambria Math" panose="02040503050406030204" pitchFamily="18" charset="0"/>
                            </a:rPr>
                            <m:t>𝑝</m:t>
                          </m:r>
                          <m:d>
                            <m:dPr>
                              <m:ctrlPr>
                                <a:rPr lang="en-AU" sz="2000" i="1">
                                  <a:latin typeface="Cambria Math" panose="02040503050406030204" pitchFamily="18" charset="0"/>
                                </a:rPr>
                              </m:ctrlPr>
                            </m:dPr>
                            <m:e>
                              <m:r>
                                <a:rPr lang="en-AU" sz="2000" i="1">
                                  <a:latin typeface="Cambria Math" panose="02040503050406030204" pitchFamily="18" charset="0"/>
                                </a:rPr>
                                <m:t>𝐷</m:t>
                              </m:r>
                            </m:e>
                            <m:e>
                              <m:r>
                                <a:rPr lang="en-AU" sz="2000" i="1">
                                  <a:latin typeface="Cambria Math" panose="02040503050406030204" pitchFamily="18" charset="0"/>
                                </a:rPr>
                                <m:t>𝑤</m:t>
                              </m:r>
                            </m:e>
                          </m:d>
                        </m:e>
                      </m:func>
                      <m:r>
                        <a:rPr lang="en-AU" sz="2000" b="0" i="1" smtClean="0">
                          <a:latin typeface="Cambria Math" panose="02040503050406030204" pitchFamily="18" charset="0"/>
                        </a:rPr>
                        <m:t>=</m:t>
                      </m:r>
                      <m:nary>
                        <m:naryPr>
                          <m:chr m:val="∑"/>
                          <m:limLoc m:val="subSup"/>
                          <m:ctrlPr>
                            <a:rPr lang="en-AU" sz="2000" i="1">
                              <a:latin typeface="Cambria Math" panose="02040503050406030204" pitchFamily="18" charset="0"/>
                            </a:rPr>
                          </m:ctrlPr>
                        </m:naryPr>
                        <m:sub>
                          <m:r>
                            <m:rPr>
                              <m:brk m:alnAt="25"/>
                            </m:rPr>
                            <a:rPr lang="en-AU" sz="2000" i="1">
                              <a:latin typeface="Cambria Math" panose="02040503050406030204" pitchFamily="18" charset="0"/>
                            </a:rPr>
                            <m:t>𝑖</m:t>
                          </m:r>
                          <m:r>
                            <a:rPr lang="en-AU" sz="2000" i="1">
                              <a:latin typeface="Cambria Math" panose="02040503050406030204" pitchFamily="18" charset="0"/>
                            </a:rPr>
                            <m:t>=1</m:t>
                          </m:r>
                        </m:sub>
                        <m:sup>
                          <m:r>
                            <a:rPr lang="en-AU" sz="2000" i="1">
                              <a:latin typeface="Cambria Math" panose="02040503050406030204" pitchFamily="18" charset="0"/>
                            </a:rPr>
                            <m:t>𝑛</m:t>
                          </m:r>
                        </m:sup>
                        <m:e>
                          <m:f>
                            <m:fPr>
                              <m:ctrlPr>
                                <a:rPr lang="en-AU" sz="2000" i="1">
                                  <a:latin typeface="Cambria Math" panose="02040503050406030204" pitchFamily="18" charset="0"/>
                                </a:rPr>
                              </m:ctrlPr>
                            </m:fPr>
                            <m:num>
                              <m:r>
                                <a:rPr lang="en-AU" sz="2000" i="1">
                                  <a:latin typeface="Cambria Math" panose="02040503050406030204" pitchFamily="18" charset="0"/>
                                </a:rPr>
                                <m:t>𝜕</m:t>
                              </m:r>
                            </m:num>
                            <m:den>
                              <m:r>
                                <a:rPr lang="en-AU" sz="2000" i="1">
                                  <a:latin typeface="Cambria Math" panose="02040503050406030204" pitchFamily="18" charset="0"/>
                                </a:rPr>
                                <m:t>𝜕</m:t>
                              </m:r>
                              <m:r>
                                <a:rPr lang="en-AU" sz="2000" i="1">
                                  <a:latin typeface="Cambria Math" panose="02040503050406030204" pitchFamily="18" charset="0"/>
                                </a:rPr>
                                <m:t>𝑤</m:t>
                              </m:r>
                            </m:den>
                          </m:f>
                          <m:func>
                            <m:funcPr>
                              <m:ctrlPr>
                                <a:rPr lang="en-AU" sz="2000" i="1">
                                  <a:latin typeface="Cambria Math" panose="02040503050406030204" pitchFamily="18" charset="0"/>
                                </a:rPr>
                              </m:ctrlPr>
                            </m:funcPr>
                            <m:fName>
                              <m:r>
                                <m:rPr>
                                  <m:sty m:val="p"/>
                                </m:rPr>
                                <a:rPr lang="en-AU" sz="2000">
                                  <a:latin typeface="Cambria Math" panose="02040503050406030204" pitchFamily="18" charset="0"/>
                                </a:rPr>
                                <m:t>ln</m:t>
                              </m:r>
                            </m:fName>
                            <m:e>
                              <m:r>
                                <a:rPr lang="en-AU" sz="2000" i="1">
                                  <a:latin typeface="Cambria Math" panose="02040503050406030204" pitchFamily="18" charset="0"/>
                                </a:rPr>
                                <m:t>𝑝</m:t>
                              </m:r>
                              <m:r>
                                <a:rPr lang="en-AU" sz="2000" i="1">
                                  <a:latin typeface="Cambria Math" panose="02040503050406030204" pitchFamily="18" charset="0"/>
                                </a:rPr>
                                <m:t>(</m:t>
                              </m:r>
                              <m:sSub>
                                <m:sSubPr>
                                  <m:ctrlPr>
                                    <a:rPr lang="en-AU" sz="2000" i="1">
                                      <a:latin typeface="Cambria Math" panose="02040503050406030204" pitchFamily="18" charset="0"/>
                                    </a:rPr>
                                  </m:ctrlPr>
                                </m:sSubPr>
                                <m:e>
                                  <m:r>
                                    <a:rPr lang="en-AU" sz="2000" i="1">
                                      <a:latin typeface="Cambria Math" panose="02040503050406030204" pitchFamily="18" charset="0"/>
                                    </a:rPr>
                                    <m:t>𝑦</m:t>
                                  </m:r>
                                </m:e>
                                <m:sub>
                                  <m:r>
                                    <a:rPr lang="en-AU" sz="2000" i="1">
                                      <a:latin typeface="Cambria Math" panose="02040503050406030204" pitchFamily="18" charset="0"/>
                                    </a:rPr>
                                    <m:t>𝑖</m:t>
                                  </m:r>
                                </m:sub>
                              </m:sSub>
                              <m:r>
                                <a:rPr lang="en-AU" sz="2000" i="1">
                                  <a:latin typeface="Cambria Math" panose="02040503050406030204" pitchFamily="18" charset="0"/>
                                </a:rPr>
                                <m:t>|</m:t>
                              </m:r>
                              <m:r>
                                <a:rPr lang="en-AU" sz="2000" i="1">
                                  <a:latin typeface="Cambria Math" panose="02040503050406030204" pitchFamily="18" charset="0"/>
                                </a:rPr>
                                <m:t>𝑤</m:t>
                              </m:r>
                              <m:r>
                                <a:rPr lang="en-AU" sz="2000" i="1">
                                  <a:latin typeface="Cambria Math" panose="02040503050406030204" pitchFamily="18" charset="0"/>
                                </a:rPr>
                                <m:t>)</m:t>
                              </m:r>
                            </m:e>
                          </m:func>
                        </m:e>
                      </m:nary>
                    </m:oMath>
                  </m:oMathPara>
                </a14:m>
                <a:endParaRPr lang="en-AU" sz="2000" dirty="0"/>
              </a:p>
            </p:txBody>
          </p:sp>
        </mc:Choice>
        <mc:Fallback xmlns="">
          <p:sp>
            <p:nvSpPr>
              <p:cNvPr id="3" name="Content Placeholder 2">
                <a:extLst>
                  <a:ext uri="{FF2B5EF4-FFF2-40B4-BE49-F238E27FC236}">
                    <a16:creationId xmlns:a16="http://schemas.microsoft.com/office/drawing/2014/main" id="{9312254E-C71D-584F-B773-B50ED7CD88B5}"/>
                  </a:ext>
                </a:extLst>
              </p:cNvPr>
              <p:cNvSpPr>
                <a:spLocks noGrp="1" noRot="1" noChangeAspect="1" noMove="1" noResize="1" noEditPoints="1" noAdjustHandles="1" noChangeArrowheads="1" noChangeShapeType="1" noTextEdit="1"/>
              </p:cNvSpPr>
              <p:nvPr>
                <p:ph idx="1"/>
              </p:nvPr>
            </p:nvSpPr>
            <p:spPr>
              <a:blipFill>
                <a:blip r:embed="rId2"/>
                <a:stretch>
                  <a:fillRect t="-26836" b="-37006"/>
                </a:stretch>
              </a:blipFill>
            </p:spPr>
            <p:txBody>
              <a:bodyPr/>
              <a:lstStyle/>
              <a:p>
                <a:r>
                  <a:rPr lang="en-AU">
                    <a:noFill/>
                  </a:rPr>
                  <a:t> </a:t>
                </a:r>
              </a:p>
            </p:txBody>
          </p:sp>
        </mc:Fallback>
      </mc:AlternateContent>
    </p:spTree>
    <p:extLst>
      <p:ext uri="{BB962C8B-B14F-4D97-AF65-F5344CB8AC3E}">
        <p14:creationId xmlns:p14="http://schemas.microsoft.com/office/powerpoint/2010/main" val="43436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3DA9-0C5B-554F-BD95-28895C63681B}"/>
              </a:ext>
            </a:extLst>
          </p:cNvPr>
          <p:cNvSpPr>
            <a:spLocks noGrp="1"/>
          </p:cNvSpPr>
          <p:nvPr>
            <p:ph type="title"/>
          </p:nvPr>
        </p:nvSpPr>
        <p:spPr/>
        <p:txBody>
          <a:bodyPr/>
          <a:lstStyle/>
          <a:p>
            <a:r>
              <a:rPr lang="en-AU" dirty="0"/>
              <a:t>MLE for Coin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C70002-BAE8-4942-A5B0-3B35E053AAD3}"/>
                  </a:ext>
                </a:extLst>
              </p:cNvPr>
              <p:cNvSpPr>
                <a:spLocks noGrp="1"/>
              </p:cNvSpPr>
              <p:nvPr>
                <p:ph idx="1"/>
              </p:nvPr>
            </p:nvSpPr>
            <p:spPr/>
            <p:txBody>
              <a:bodyPr/>
              <a:lstStyle/>
              <a:p>
                <a:pPr marL="98425" indent="0">
                  <a:buNone/>
                </a:pPr>
                <a:r>
                  <a:rPr lang="en-AU" altLang="ko-KR" sz="2000" dirty="0">
                    <a:cs typeface="Tahoma" panose="020B0604030504040204" pitchFamily="34" charset="0"/>
                  </a:rPr>
                  <a:t>Data</a:t>
                </a:r>
                <a:endParaRPr lang="en-AU" altLang="ko-KR" sz="2000" b="1" i="1" dirty="0">
                  <a:latin typeface="Cambria Math" panose="02040503050406030204" pitchFamily="18" charset="0"/>
                  <a:cs typeface="Tahoma" panose="020B0604030504040204" pitchFamily="34" charset="0"/>
                </a:endParaRPr>
              </a:p>
              <a:p>
                <a:pPr marL="98425" indent="0">
                  <a:buNone/>
                </a:pPr>
                <a14:m>
                  <m:oMathPara xmlns:m="http://schemas.openxmlformats.org/officeDocument/2006/math">
                    <m:oMathParaPr>
                      <m:jc m:val="centerGroup"/>
                    </m:oMathParaPr>
                    <m:oMath xmlns:m="http://schemas.openxmlformats.org/officeDocument/2006/math">
                      <m:r>
                        <a:rPr lang="en-AU" altLang="ko-KR" sz="2000" i="1" dirty="0">
                          <a:latin typeface="Cambria Math" panose="02040503050406030204" pitchFamily="18" charset="0"/>
                          <a:cs typeface="Tahoma" panose="020B0604030504040204" pitchFamily="34" charset="0"/>
                        </a:rPr>
                        <m:t>𝐷</m:t>
                      </m:r>
                      <m:r>
                        <a:rPr lang="en-AU" altLang="ko-KR" sz="2000" i="1" dirty="0">
                          <a:latin typeface="Cambria Math" panose="02040503050406030204" pitchFamily="18" charset="0"/>
                          <a:cs typeface="Tahoma" panose="020B0604030504040204" pitchFamily="34" charset="0"/>
                        </a:rPr>
                        <m:t> = {</m:t>
                      </m:r>
                      <m:r>
                        <a:rPr lang="en-AU" altLang="ko-KR" sz="2000" i="1" dirty="0">
                          <a:solidFill>
                            <a:srgbClr val="0070C0"/>
                          </a:solidFill>
                          <a:latin typeface="Cambria Math" panose="02040503050406030204" pitchFamily="18" charset="0"/>
                          <a:cs typeface="Tahoma" panose="020B0604030504040204" pitchFamily="34" charset="0"/>
                        </a:rPr>
                        <m:t>𝐻</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solidFill>
                            <a:srgbClr val="0070C0"/>
                          </a:solidFill>
                          <a:latin typeface="Cambria Math" panose="02040503050406030204" pitchFamily="18" charset="0"/>
                          <a:cs typeface="Tahoma" panose="020B0604030504040204" pitchFamily="34" charset="0"/>
                        </a:rPr>
                        <m:t>𝐻</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 </m:t>
                      </m:r>
                      <m:r>
                        <a:rPr lang="en-AU" altLang="ko-KR" sz="2000" i="1" dirty="0">
                          <a:solidFill>
                            <a:srgbClr val="0070C0"/>
                          </a:solidFill>
                          <a:latin typeface="Cambria Math" panose="02040503050406030204" pitchFamily="18" charset="0"/>
                          <a:cs typeface="Tahoma" panose="020B0604030504040204" pitchFamily="34" charset="0"/>
                        </a:rPr>
                        <m:t>𝐻</m:t>
                      </m:r>
                      <m:r>
                        <a:rPr lang="en-AU" altLang="ko-KR" sz="2000" i="1" dirty="0">
                          <a:latin typeface="Cambria Math" panose="02040503050406030204" pitchFamily="18" charset="0"/>
                          <a:cs typeface="Tahoma" panose="020B0604030504040204" pitchFamily="34" charset="0"/>
                        </a:rPr>
                        <m:t>, </m:t>
                      </m:r>
                      <m:r>
                        <a:rPr lang="en-AU" altLang="ko-KR" sz="2000" i="1" dirty="0">
                          <a:latin typeface="Cambria Math" panose="02040503050406030204" pitchFamily="18" charset="0"/>
                          <a:cs typeface="Tahoma" panose="020B0604030504040204" pitchFamily="34" charset="0"/>
                        </a:rPr>
                        <m:t>𝑇</m:t>
                      </m:r>
                      <m:r>
                        <a:rPr lang="en-AU" altLang="ko-KR" sz="2000" i="1" dirty="0">
                          <a:latin typeface="Cambria Math" panose="02040503050406030204" pitchFamily="18" charset="0"/>
                          <a:cs typeface="Tahoma" panose="020B0604030504040204" pitchFamily="34" charset="0"/>
                        </a:rPr>
                        <m:t>}</m:t>
                      </m:r>
                    </m:oMath>
                  </m:oMathPara>
                </a14:m>
                <a:endParaRPr lang="en-AU" altLang="ko-KR" sz="2000" dirty="0">
                  <a:cs typeface="Tahoma" panose="020B0604030504040204" pitchFamily="34" charset="0"/>
                </a:endParaRPr>
              </a:p>
              <a:p>
                <a:pPr marL="98425" indent="0">
                  <a:buNone/>
                </a:pPr>
                <a:endParaRPr lang="en-AU" sz="2000" dirty="0"/>
              </a:p>
              <a:p>
                <a:pPr marL="98425" indent="0">
                  <a:buNone/>
                </a:pPr>
                <a:r>
                  <a:rPr lang="en-AU" sz="2000" dirty="0"/>
                  <a:t>Likelihood</a:t>
                </a:r>
              </a:p>
              <a:p>
                <a:pPr marL="98425" indent="0">
                  <a:buNone/>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r>
                        <m:rPr>
                          <m:aln/>
                        </m:rPr>
                        <a:rPr lang="en-AU" sz="2000" i="1">
                          <a:latin typeface="Cambria Math" panose="02040503050406030204" pitchFamily="18" charset="0"/>
                        </a:rPr>
                        <m:t>=</m:t>
                      </m:r>
                      <m:sSup>
                        <m:sSupPr>
                          <m:ctrlPr>
                            <a:rPr lang="en-AU" sz="2000" i="1">
                              <a:latin typeface="Cambria Math" panose="02040503050406030204" pitchFamily="18" charset="0"/>
                            </a:rPr>
                          </m:ctrlPr>
                        </m:sSupPr>
                        <m:e>
                          <m:r>
                            <a:rPr lang="en-AU" sz="2000" i="1">
                              <a:solidFill>
                                <a:srgbClr val="0070C0"/>
                              </a:solidFill>
                              <a:latin typeface="Cambria Math" panose="02040503050406030204" pitchFamily="18" charset="0"/>
                            </a:rPr>
                            <m:t>𝑤</m:t>
                          </m:r>
                        </m:e>
                        <m:sup>
                          <m:r>
                            <a:rPr lang="en-AU" sz="2000" i="1">
                              <a:latin typeface="Cambria Math" panose="02040503050406030204" pitchFamily="18" charset="0"/>
                            </a:rPr>
                            <m:t>3</m:t>
                          </m:r>
                        </m:sup>
                      </m:sSup>
                      <m:sSup>
                        <m:sSupPr>
                          <m:ctrlPr>
                            <a:rPr lang="en-AU" sz="2000" i="1">
                              <a:latin typeface="Cambria Math" panose="02040503050406030204" pitchFamily="18" charset="0"/>
                            </a:rPr>
                          </m:ctrlPr>
                        </m:sSupPr>
                        <m:e>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e>
                        <m:sup>
                          <m:r>
                            <a:rPr lang="en-AU" sz="2000" i="1">
                              <a:latin typeface="Cambria Math" panose="02040503050406030204" pitchFamily="18" charset="0"/>
                            </a:rPr>
                            <m:t>7</m:t>
                          </m:r>
                        </m:sup>
                      </m:sSup>
                    </m:oMath>
                  </m:oMathPara>
                </a14:m>
                <a:endParaRPr lang="en-AU" sz="2000" dirty="0"/>
              </a:p>
              <a:p>
                <a:pPr marL="98425" indent="0">
                  <a:buNone/>
                </a:pPr>
                <a:endParaRPr lang="en-AU" sz="2000" dirty="0"/>
              </a:p>
              <a:p>
                <a:pPr marL="98425" indent="0">
                  <a:buNone/>
                </a:pPr>
                <a:r>
                  <a:rPr lang="en-AU" sz="2000" dirty="0"/>
                  <a:t>Log likelihood</a:t>
                </a:r>
              </a:p>
              <a:p>
                <a:pPr marL="98425" indent="0">
                  <a:buNone/>
                </a:pPr>
                <a14:m>
                  <m:oMathPara xmlns:m="http://schemas.openxmlformats.org/officeDocument/2006/math">
                    <m:oMathParaPr>
                      <m:jc m:val="centerGroup"/>
                    </m:oMathParaPr>
                    <m:oMath xmlns:m="http://schemas.openxmlformats.org/officeDocument/2006/math">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i="1">
                              <a:latin typeface="Cambria Math" panose="02040503050406030204" pitchFamily="18" charset="0"/>
                            </a:rPr>
                            <m:t>𝑝</m:t>
                          </m:r>
                          <m:r>
                            <a:rPr lang="en-AU" sz="2000" i="1">
                              <a:latin typeface="Cambria Math" panose="02040503050406030204" pitchFamily="18" charset="0"/>
                            </a:rPr>
                            <m:t>(</m:t>
                          </m:r>
                          <m:r>
                            <a:rPr lang="en-AU" sz="2000" i="1">
                              <a:latin typeface="Cambria Math" panose="02040503050406030204" pitchFamily="18" charset="0"/>
                            </a:rPr>
                            <m:t>𝐷</m:t>
                          </m:r>
                          <m:r>
                            <a:rPr lang="en-AU" sz="2000" i="1">
                              <a:latin typeface="Cambria Math" panose="02040503050406030204" pitchFamily="18" charset="0"/>
                            </a:rPr>
                            <m:t>|</m:t>
                          </m:r>
                          <m:r>
                            <a:rPr lang="en-AU" sz="2000" i="1">
                              <a:latin typeface="Cambria Math" panose="02040503050406030204" pitchFamily="18" charset="0"/>
                            </a:rPr>
                            <m:t>𝑤</m:t>
                          </m:r>
                          <m:r>
                            <a:rPr lang="en-AU" sz="2000" i="1">
                              <a:latin typeface="Cambria Math" panose="02040503050406030204" pitchFamily="18" charset="0"/>
                            </a:rPr>
                            <m:t>)</m:t>
                          </m:r>
                        </m:e>
                      </m:func>
                      <m:r>
                        <m:rPr>
                          <m:aln/>
                        </m:rPr>
                        <a:rPr lang="en-AU" sz="2000" i="1">
                          <a:latin typeface="Cambria Math" panose="02040503050406030204" pitchFamily="18" charset="0"/>
                        </a:rPr>
                        <m:t>=</m:t>
                      </m:r>
                      <m:r>
                        <a:rPr lang="en-AU" sz="2000" i="1" smtClean="0">
                          <a:latin typeface="Cambria Math" panose="02040503050406030204" pitchFamily="18" charset="0"/>
                        </a:rPr>
                        <m:t>3</m:t>
                      </m:r>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solidFill>
                                <a:srgbClr val="0070C0"/>
                              </a:solidFill>
                              <a:latin typeface="Cambria Math" panose="02040503050406030204" pitchFamily="18" charset="0"/>
                            </a:rPr>
                            <m:t>𝑤</m:t>
                          </m:r>
                        </m:e>
                      </m:func>
                      <m:r>
                        <a:rPr lang="en-AU" sz="2000" b="0" i="1" smtClean="0">
                          <a:latin typeface="Cambria Math" panose="02040503050406030204" pitchFamily="18" charset="0"/>
                        </a:rPr>
                        <m:t>+7</m:t>
                      </m:r>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latin typeface="Cambria Math" panose="02040503050406030204" pitchFamily="18" charset="0"/>
                            </a:rPr>
                            <m:t>(1−</m:t>
                          </m:r>
                          <m:r>
                            <a:rPr lang="en-AU" sz="2000" b="0" i="1" smtClean="0">
                              <a:latin typeface="Cambria Math" panose="02040503050406030204" pitchFamily="18" charset="0"/>
                            </a:rPr>
                            <m:t>𝑤</m:t>
                          </m:r>
                          <m:r>
                            <a:rPr lang="en-AU" sz="2000" b="0" i="1" smtClean="0">
                              <a:latin typeface="Cambria Math" panose="02040503050406030204" pitchFamily="18" charset="0"/>
                            </a:rPr>
                            <m:t>)</m:t>
                          </m:r>
                        </m:e>
                      </m:func>
                    </m:oMath>
                  </m:oMathPara>
                </a14:m>
                <a:endParaRPr lang="en-AU" sz="2000" dirty="0"/>
              </a:p>
              <a:p>
                <a:pPr marL="98425" indent="0">
                  <a:buNone/>
                </a:pPr>
                <a:endParaRPr lang="en-AU" sz="2000" dirty="0"/>
              </a:p>
              <a:p>
                <a:pPr marL="98425" indent="0">
                  <a:buNone/>
                </a:pPr>
                <a:r>
                  <a:rPr lang="en-AU" sz="2000" dirty="0"/>
                  <a:t>Derivative criterion</a:t>
                </a:r>
              </a:p>
              <a:p>
                <a:pPr marL="98425" indent="0">
                  <a:buNone/>
                </a:pPr>
                <a14:m>
                  <m:oMathPara xmlns:m="http://schemas.openxmlformats.org/officeDocument/2006/math">
                    <m:oMathParaPr>
                      <m:jc m:val="centerGroup"/>
                    </m:oMathParaPr>
                    <m:oMath xmlns:m="http://schemas.openxmlformats.org/officeDocument/2006/math">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m:t>
                          </m:r>
                        </m:num>
                        <m:den>
                          <m:r>
                            <a:rPr lang="en-AU" sz="2000" b="0" i="1" smtClean="0">
                              <a:latin typeface="Cambria Math" panose="02040503050406030204" pitchFamily="18" charset="0"/>
                            </a:rPr>
                            <m:t>𝜕</m:t>
                          </m:r>
                          <m:r>
                            <a:rPr lang="en-AU" sz="2000" b="0" i="1" smtClean="0">
                              <a:latin typeface="Cambria Math" panose="02040503050406030204" pitchFamily="18" charset="0"/>
                            </a:rPr>
                            <m:t>𝑤</m:t>
                          </m:r>
                        </m:den>
                      </m:f>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e>
                      </m:func>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3</m:t>
                          </m:r>
                        </m:num>
                        <m:den>
                          <m:r>
                            <a:rPr lang="en-AU" sz="2000" b="0" i="1" smtClean="0">
                              <a:solidFill>
                                <a:srgbClr val="0070C0"/>
                              </a:solidFill>
                              <a:latin typeface="Cambria Math" panose="02040503050406030204" pitchFamily="18" charset="0"/>
                            </a:rPr>
                            <m:t>𝑤</m:t>
                          </m:r>
                        </m:den>
                      </m:f>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7</m:t>
                          </m:r>
                        </m:num>
                        <m:den>
                          <m:r>
                            <a:rPr lang="en-AU" sz="2000" b="0" i="1" smtClean="0">
                              <a:latin typeface="Cambria Math" panose="02040503050406030204" pitchFamily="18" charset="0"/>
                            </a:rPr>
                            <m:t>1−</m:t>
                          </m:r>
                          <m:r>
                            <a:rPr lang="en-AU" sz="2000" b="0" i="1" smtClean="0">
                              <a:latin typeface="Cambria Math" panose="02040503050406030204" pitchFamily="18" charset="0"/>
                            </a:rPr>
                            <m:t>𝑤</m:t>
                          </m:r>
                        </m:den>
                      </m:f>
                      <m:r>
                        <a:rPr lang="en-AU" sz="2000" b="0" i="1" smtClean="0">
                          <a:latin typeface="Cambria Math" panose="02040503050406030204" pitchFamily="18" charset="0"/>
                        </a:rPr>
                        <m:t>=0</m:t>
                      </m:r>
                    </m:oMath>
                  </m:oMathPara>
                </a14:m>
                <a:endParaRPr lang="en-AU" sz="2000" dirty="0"/>
              </a:p>
            </p:txBody>
          </p:sp>
        </mc:Choice>
        <mc:Fallback xmlns="">
          <p:sp>
            <p:nvSpPr>
              <p:cNvPr id="3" name="Content Placeholder 2">
                <a:extLst>
                  <a:ext uri="{FF2B5EF4-FFF2-40B4-BE49-F238E27FC236}">
                    <a16:creationId xmlns:a16="http://schemas.microsoft.com/office/drawing/2014/main" id="{DFC70002-BAE8-4942-A5B0-3B35E053AAD3}"/>
                  </a:ext>
                </a:extLst>
              </p:cNvPr>
              <p:cNvSpPr>
                <a:spLocks noGrp="1" noRot="1" noChangeAspect="1" noMove="1" noResize="1" noEditPoints="1" noAdjustHandles="1" noChangeArrowheads="1" noChangeShapeType="1" noTextEdit="1"/>
              </p:cNvSpPr>
              <p:nvPr>
                <p:ph idx="1"/>
              </p:nvPr>
            </p:nvSpPr>
            <p:spPr>
              <a:blipFill>
                <a:blip r:embed="rId2"/>
                <a:stretch>
                  <a:fillRect t="-1130"/>
                </a:stretch>
              </a:blipFill>
            </p:spPr>
            <p:txBody>
              <a:bodyPr/>
              <a:lstStyle/>
              <a:p>
                <a:r>
                  <a:rPr lang="en-AU">
                    <a:noFill/>
                  </a:rPr>
                  <a:t> </a:t>
                </a:r>
              </a:p>
            </p:txBody>
          </p:sp>
        </mc:Fallback>
      </mc:AlternateContent>
      <p:pic>
        <p:nvPicPr>
          <p:cNvPr id="4" name="Picture 1">
            <a:extLst>
              <a:ext uri="{FF2B5EF4-FFF2-40B4-BE49-F238E27FC236}">
                <a16:creationId xmlns:a16="http://schemas.microsoft.com/office/drawing/2014/main" id="{64863A4F-66E6-E948-B708-091D84F3A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661" y="1628800"/>
            <a:ext cx="1936779" cy="30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DC75D1-9990-8E47-8970-93D79971EEF5}"/>
                  </a:ext>
                </a:extLst>
              </p:cNvPr>
              <p:cNvSpPr txBox="1"/>
              <p:nvPr/>
            </p:nvSpPr>
            <p:spPr>
              <a:xfrm>
                <a:off x="467544" y="6017941"/>
                <a:ext cx="2006383" cy="307777"/>
              </a:xfrm>
              <a:prstGeom prst="rect">
                <a:avLst/>
              </a:prstGeom>
              <a:noFill/>
            </p:spPr>
            <p:txBody>
              <a:bodyPr wrap="none" lIns="0" tIns="0" rIns="0" bIns="0" rtlCol="0">
                <a:spAutoFit/>
              </a:bodyPr>
              <a:lstStyle/>
              <a:p>
                <a:r>
                  <a:rPr lang="en-AU" sz="2000" b="0" dirty="0"/>
                  <a:t>Result: </a:t>
                </a:r>
                <a14:m>
                  <m:oMath xmlns:m="http://schemas.openxmlformats.org/officeDocument/2006/math">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𝑤</m:t>
                        </m:r>
                      </m:e>
                      <m:sub>
                        <m:r>
                          <m:rPr>
                            <m:sty m:val="p"/>
                          </m:rPr>
                          <a:rPr lang="en-AU" sz="2000" b="0" i="0" smtClean="0">
                            <a:latin typeface="Cambria Math" panose="02040503050406030204" pitchFamily="18" charset="0"/>
                          </a:rPr>
                          <m:t>ML</m:t>
                        </m:r>
                      </m:sub>
                    </m:sSub>
                    <m:r>
                      <a:rPr lang="en-AU" sz="2000" b="0" i="1" smtClean="0">
                        <a:latin typeface="Cambria Math" panose="02040503050406030204" pitchFamily="18" charset="0"/>
                      </a:rPr>
                      <m:t>=0.3</m:t>
                    </m:r>
                  </m:oMath>
                </a14:m>
                <a:endParaRPr lang="en-AU" sz="2000" dirty="0"/>
              </a:p>
            </p:txBody>
          </p:sp>
        </mc:Choice>
        <mc:Fallback xmlns="">
          <p:sp>
            <p:nvSpPr>
              <p:cNvPr id="5" name="TextBox 4">
                <a:extLst>
                  <a:ext uri="{FF2B5EF4-FFF2-40B4-BE49-F238E27FC236}">
                    <a16:creationId xmlns:a16="http://schemas.microsoft.com/office/drawing/2014/main" id="{B0DC75D1-9990-8E47-8970-93D79971EEF5}"/>
                  </a:ext>
                </a:extLst>
              </p:cNvPr>
              <p:cNvSpPr txBox="1">
                <a:spLocks noRot="1" noChangeAspect="1" noMove="1" noResize="1" noEditPoints="1" noAdjustHandles="1" noChangeArrowheads="1" noChangeShapeType="1" noTextEdit="1"/>
              </p:cNvSpPr>
              <p:nvPr/>
            </p:nvSpPr>
            <p:spPr>
              <a:xfrm>
                <a:off x="467544" y="6017941"/>
                <a:ext cx="2006383" cy="307777"/>
              </a:xfrm>
              <a:prstGeom prst="rect">
                <a:avLst/>
              </a:prstGeom>
              <a:blipFill>
                <a:blip r:embed="rId4"/>
                <a:stretch>
                  <a:fillRect l="-7547" t="-24000" r="-3145" b="-48000"/>
                </a:stretch>
              </a:blipFill>
            </p:spPr>
            <p:txBody>
              <a:bodyPr/>
              <a:lstStyle/>
              <a:p>
                <a:r>
                  <a:rPr lang="en-AU">
                    <a:noFill/>
                  </a:rPr>
                  <a:t> </a:t>
                </a:r>
              </a:p>
            </p:txBody>
          </p:sp>
        </mc:Fallback>
      </mc:AlternateContent>
    </p:spTree>
    <p:extLst>
      <p:ext uri="{BB962C8B-B14F-4D97-AF65-F5344CB8AC3E}">
        <p14:creationId xmlns:p14="http://schemas.microsoft.com/office/powerpoint/2010/main" val="279465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3DA9-0C5B-554F-BD95-28895C63681B}"/>
              </a:ext>
            </a:extLst>
          </p:cNvPr>
          <p:cNvSpPr>
            <a:spLocks noGrp="1"/>
          </p:cNvSpPr>
          <p:nvPr>
            <p:ph type="title"/>
          </p:nvPr>
        </p:nvSpPr>
        <p:spPr/>
        <p:txBody>
          <a:bodyPr/>
          <a:lstStyle/>
          <a:p>
            <a:r>
              <a:rPr lang="en-AU" dirty="0"/>
              <a:t>MLE for Coin Example in General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C70002-BAE8-4942-A5B0-3B35E053AAD3}"/>
                  </a:ext>
                </a:extLst>
              </p:cNvPr>
              <p:cNvSpPr>
                <a:spLocks noGrp="1"/>
              </p:cNvSpPr>
              <p:nvPr>
                <p:ph idx="1"/>
              </p:nvPr>
            </p:nvSpPr>
            <p:spPr/>
            <p:txBody>
              <a:bodyPr/>
              <a:lstStyle/>
              <a:p>
                <a:pPr marL="98425" indent="0">
                  <a:buNone/>
                </a:pPr>
                <a:r>
                  <a:rPr lang="en-AU" sz="2000" dirty="0"/>
                  <a:t>Likelihood</a:t>
                </a:r>
              </a:p>
              <a:p>
                <a:pPr marL="98425" indent="0">
                  <a:buNone/>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r>
                        <m:rPr>
                          <m:aln/>
                        </m:rPr>
                        <a:rPr lang="en-AU" sz="2000" i="1">
                          <a:latin typeface="Cambria Math" panose="02040503050406030204" pitchFamily="18" charset="0"/>
                        </a:rPr>
                        <m:t>=</m:t>
                      </m:r>
                      <m:sSup>
                        <m:sSupPr>
                          <m:ctrlPr>
                            <a:rPr lang="en-AU" sz="2000" i="1">
                              <a:latin typeface="Cambria Math" panose="02040503050406030204" pitchFamily="18" charset="0"/>
                            </a:rPr>
                          </m:ctrlPr>
                        </m:sSupPr>
                        <m:e>
                          <m:r>
                            <a:rPr lang="en-AU" sz="2000" i="1" smtClean="0">
                              <a:solidFill>
                                <a:schemeClr val="tx1"/>
                              </a:solidFill>
                              <a:latin typeface="Cambria Math" panose="02040503050406030204" pitchFamily="18" charset="0"/>
                            </a:rPr>
                            <m:t>𝑤</m:t>
                          </m:r>
                        </m:e>
                        <m:sup>
                          <m:r>
                            <a:rPr lang="en-AU" sz="2000" b="0" i="1" smtClean="0">
                              <a:latin typeface="Cambria Math" panose="02040503050406030204" pitchFamily="18" charset="0"/>
                            </a:rPr>
                            <m:t>|</m:t>
                          </m:r>
                          <m:r>
                            <a:rPr lang="en-AU" sz="2000" b="0" i="1" smtClean="0">
                              <a:latin typeface="Cambria Math" panose="02040503050406030204" pitchFamily="18" charset="0"/>
                            </a:rPr>
                            <m:t>𝐻</m:t>
                          </m:r>
                          <m:r>
                            <a:rPr lang="en-AU" sz="2000" b="0" i="1" smtClean="0">
                              <a:latin typeface="Cambria Math" panose="02040503050406030204" pitchFamily="18" charset="0"/>
                            </a:rPr>
                            <m:t>|</m:t>
                          </m:r>
                        </m:sup>
                      </m:sSup>
                      <m:sSup>
                        <m:sSupPr>
                          <m:ctrlPr>
                            <a:rPr lang="en-AU" sz="2000" i="1">
                              <a:latin typeface="Cambria Math" panose="02040503050406030204" pitchFamily="18" charset="0"/>
                            </a:rPr>
                          </m:ctrlPr>
                        </m:sSupPr>
                        <m:e>
                          <m:d>
                            <m:dPr>
                              <m:ctrlPr>
                                <a:rPr lang="en-AU" sz="2000" i="1">
                                  <a:latin typeface="Cambria Math" panose="02040503050406030204" pitchFamily="18" charset="0"/>
                                </a:rPr>
                              </m:ctrlPr>
                            </m:dPr>
                            <m:e>
                              <m:r>
                                <a:rPr lang="en-AU" sz="2000" i="1">
                                  <a:latin typeface="Cambria Math" panose="02040503050406030204" pitchFamily="18" charset="0"/>
                                </a:rPr>
                                <m:t>1−</m:t>
                              </m:r>
                              <m:r>
                                <a:rPr lang="en-AU" sz="2000" i="1">
                                  <a:latin typeface="Cambria Math" panose="02040503050406030204" pitchFamily="18" charset="0"/>
                                </a:rPr>
                                <m:t>𝑤</m:t>
                              </m:r>
                            </m:e>
                          </m:d>
                        </m:e>
                        <m:sup>
                          <m:r>
                            <a:rPr lang="en-AU" sz="2000" b="0" i="1" smtClean="0">
                              <a:latin typeface="Cambria Math" panose="02040503050406030204" pitchFamily="18" charset="0"/>
                            </a:rPr>
                            <m:t>|</m:t>
                          </m:r>
                          <m:r>
                            <a:rPr lang="en-AU" sz="2000" b="0" i="1" smtClean="0">
                              <a:latin typeface="Cambria Math" panose="02040503050406030204" pitchFamily="18" charset="0"/>
                            </a:rPr>
                            <m:t>𝑇</m:t>
                          </m:r>
                          <m:r>
                            <a:rPr lang="en-AU" sz="2000" b="0" i="1" smtClean="0">
                              <a:latin typeface="Cambria Math" panose="02040503050406030204" pitchFamily="18" charset="0"/>
                            </a:rPr>
                            <m:t>|</m:t>
                          </m:r>
                        </m:sup>
                      </m:sSup>
                    </m:oMath>
                  </m:oMathPara>
                </a14:m>
                <a:endParaRPr lang="en-AU" sz="2000" dirty="0"/>
              </a:p>
              <a:p>
                <a:pPr marL="98425" indent="0">
                  <a:buNone/>
                </a:pPr>
                <a:endParaRPr lang="en-AU" sz="2000" dirty="0"/>
              </a:p>
              <a:p>
                <a:pPr marL="98425" indent="0">
                  <a:buNone/>
                </a:pPr>
                <a:r>
                  <a:rPr lang="en-AU" sz="2000" dirty="0"/>
                  <a:t>Log likelihood</a:t>
                </a:r>
              </a:p>
              <a:p>
                <a:pPr marL="98425" indent="0">
                  <a:buNone/>
                </a:pPr>
                <a14:m>
                  <m:oMathPara xmlns:m="http://schemas.openxmlformats.org/officeDocument/2006/math">
                    <m:oMathParaPr>
                      <m:jc m:val="centerGroup"/>
                    </m:oMathParaPr>
                    <m:oMath xmlns:m="http://schemas.openxmlformats.org/officeDocument/2006/math">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i="1">
                              <a:latin typeface="Cambria Math" panose="02040503050406030204" pitchFamily="18" charset="0"/>
                            </a:rPr>
                            <m:t>𝑝</m:t>
                          </m:r>
                          <m:r>
                            <a:rPr lang="en-AU" sz="2000" i="1">
                              <a:latin typeface="Cambria Math" panose="02040503050406030204" pitchFamily="18" charset="0"/>
                            </a:rPr>
                            <m:t>(</m:t>
                          </m:r>
                          <m:r>
                            <a:rPr lang="en-AU" sz="2000" i="1">
                              <a:latin typeface="Cambria Math" panose="02040503050406030204" pitchFamily="18" charset="0"/>
                            </a:rPr>
                            <m:t>𝐷</m:t>
                          </m:r>
                          <m:r>
                            <a:rPr lang="en-AU" sz="2000" i="1">
                              <a:latin typeface="Cambria Math" panose="02040503050406030204" pitchFamily="18" charset="0"/>
                            </a:rPr>
                            <m:t>|</m:t>
                          </m:r>
                          <m:r>
                            <a:rPr lang="en-AU" sz="2000" i="1">
                              <a:latin typeface="Cambria Math" panose="02040503050406030204" pitchFamily="18" charset="0"/>
                            </a:rPr>
                            <m:t>𝑤</m:t>
                          </m:r>
                          <m:r>
                            <a:rPr lang="en-AU" sz="2000" i="1">
                              <a:latin typeface="Cambria Math" panose="02040503050406030204" pitchFamily="18" charset="0"/>
                            </a:rPr>
                            <m:t>)</m:t>
                          </m:r>
                        </m:e>
                      </m:func>
                      <m:r>
                        <m:rPr>
                          <m:aln/>
                        </m:rPr>
                        <a:rPr lang="en-AU" sz="2000" i="1">
                          <a:latin typeface="Cambria Math" panose="02040503050406030204" pitchFamily="18" charset="0"/>
                        </a:rPr>
                        <m:t>=</m:t>
                      </m:r>
                      <m:r>
                        <a:rPr lang="en-AU" sz="2000" b="0" i="1" smtClean="0">
                          <a:latin typeface="Cambria Math" panose="02040503050406030204" pitchFamily="18" charset="0"/>
                        </a:rPr>
                        <m:t>|</m:t>
                      </m:r>
                      <m:r>
                        <a:rPr lang="en-AU" sz="2000" b="0" i="1" smtClean="0">
                          <a:latin typeface="Cambria Math" panose="02040503050406030204" pitchFamily="18" charset="0"/>
                        </a:rPr>
                        <m:t>𝐻</m:t>
                      </m:r>
                      <m:r>
                        <a:rPr lang="en-AU" sz="2000" b="0" i="1" smtClean="0">
                          <a:latin typeface="Cambria Math" panose="02040503050406030204" pitchFamily="18" charset="0"/>
                        </a:rPr>
                        <m:t>|</m:t>
                      </m:r>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solidFill>
                                <a:schemeClr val="tx1"/>
                              </a:solidFill>
                              <a:latin typeface="Cambria Math" panose="02040503050406030204" pitchFamily="18" charset="0"/>
                            </a:rPr>
                            <m:t>𝑤</m:t>
                          </m:r>
                        </m:e>
                      </m:func>
                      <m:r>
                        <a:rPr lang="en-AU" sz="2000" b="0" i="1" smtClean="0">
                          <a:latin typeface="Cambria Math" panose="02040503050406030204" pitchFamily="18" charset="0"/>
                        </a:rPr>
                        <m:t>+|</m:t>
                      </m:r>
                      <m:r>
                        <a:rPr lang="en-AU" sz="2000" b="0" i="1" smtClean="0">
                          <a:latin typeface="Cambria Math" panose="02040503050406030204" pitchFamily="18" charset="0"/>
                        </a:rPr>
                        <m:t>𝑇</m:t>
                      </m:r>
                      <m:r>
                        <a:rPr lang="en-AU" sz="2000" b="0" i="1" smtClean="0">
                          <a:latin typeface="Cambria Math" panose="02040503050406030204" pitchFamily="18" charset="0"/>
                        </a:rPr>
                        <m:t>|</m:t>
                      </m:r>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latin typeface="Cambria Math" panose="02040503050406030204" pitchFamily="18" charset="0"/>
                            </a:rPr>
                            <m:t>(1−</m:t>
                          </m:r>
                          <m:r>
                            <a:rPr lang="en-AU" sz="2000" b="0" i="1" smtClean="0">
                              <a:latin typeface="Cambria Math" panose="02040503050406030204" pitchFamily="18" charset="0"/>
                            </a:rPr>
                            <m:t>𝑤</m:t>
                          </m:r>
                          <m:r>
                            <a:rPr lang="en-AU" sz="2000" b="0" i="1" smtClean="0">
                              <a:latin typeface="Cambria Math" panose="02040503050406030204" pitchFamily="18" charset="0"/>
                            </a:rPr>
                            <m:t>)</m:t>
                          </m:r>
                        </m:e>
                      </m:func>
                    </m:oMath>
                  </m:oMathPara>
                </a14:m>
                <a:endParaRPr lang="en-AU" sz="2000" dirty="0"/>
              </a:p>
              <a:p>
                <a:pPr marL="98425" indent="0">
                  <a:buNone/>
                </a:pPr>
                <a:endParaRPr lang="en-AU" sz="2000" dirty="0"/>
              </a:p>
              <a:p>
                <a:pPr marL="98425" indent="0">
                  <a:buNone/>
                </a:pPr>
                <a:r>
                  <a:rPr lang="en-AU" sz="2000" dirty="0"/>
                  <a:t>Derivative criterion</a:t>
                </a:r>
              </a:p>
              <a:p>
                <a:pPr marL="98425" indent="0">
                  <a:buNone/>
                </a:pPr>
                <a14:m>
                  <m:oMathPara xmlns:m="http://schemas.openxmlformats.org/officeDocument/2006/math">
                    <m:oMathParaPr>
                      <m:jc m:val="centerGroup"/>
                    </m:oMathParaPr>
                    <m:oMath xmlns:m="http://schemas.openxmlformats.org/officeDocument/2006/math">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m:t>
                          </m:r>
                        </m:num>
                        <m:den>
                          <m:r>
                            <a:rPr lang="en-AU" sz="2000" b="0" i="1" smtClean="0">
                              <a:latin typeface="Cambria Math" panose="02040503050406030204" pitchFamily="18" charset="0"/>
                            </a:rPr>
                            <m:t>𝜕</m:t>
                          </m:r>
                          <m:r>
                            <a:rPr lang="en-AU" sz="2000" b="0" i="1" smtClean="0">
                              <a:latin typeface="Cambria Math" panose="02040503050406030204" pitchFamily="18" charset="0"/>
                            </a:rPr>
                            <m:t>𝑤</m:t>
                          </m:r>
                        </m:den>
                      </m:f>
                      <m:func>
                        <m:funcPr>
                          <m:ctrlPr>
                            <a:rPr lang="en-AU" sz="2000" b="0" i="1" smtClean="0">
                              <a:latin typeface="Cambria Math" panose="02040503050406030204" pitchFamily="18" charset="0"/>
                            </a:rPr>
                          </m:ctrlPr>
                        </m:funcPr>
                        <m:fName>
                          <m:r>
                            <m:rPr>
                              <m:sty m:val="p"/>
                            </m:rPr>
                            <a:rPr lang="en-AU" sz="2000" b="0" i="0" smtClean="0">
                              <a:latin typeface="Cambria Math" panose="02040503050406030204" pitchFamily="18" charset="0"/>
                            </a:rPr>
                            <m:t>ln</m:t>
                          </m:r>
                        </m:fName>
                        <m:e>
                          <m:r>
                            <a:rPr lang="en-AU" sz="2000" b="0" i="1" smtClean="0">
                              <a:latin typeface="Cambria Math" panose="02040503050406030204" pitchFamily="18" charset="0"/>
                            </a:rPr>
                            <m:t>𝑝</m:t>
                          </m:r>
                          <m:r>
                            <a:rPr lang="en-AU" sz="2000" b="0" i="1" smtClean="0">
                              <a:latin typeface="Cambria Math" panose="02040503050406030204" pitchFamily="18" charset="0"/>
                            </a:rPr>
                            <m:t>(</m:t>
                          </m:r>
                          <m:r>
                            <a:rPr lang="en-AU" sz="2000" b="0" i="1" smtClean="0">
                              <a:latin typeface="Cambria Math" panose="02040503050406030204" pitchFamily="18" charset="0"/>
                            </a:rPr>
                            <m:t>𝐷</m:t>
                          </m:r>
                          <m:r>
                            <a:rPr lang="en-AU" sz="2000" b="0" i="1" smtClean="0">
                              <a:latin typeface="Cambria Math" panose="02040503050406030204" pitchFamily="18" charset="0"/>
                            </a:rPr>
                            <m:t>|</m:t>
                          </m:r>
                          <m:r>
                            <a:rPr lang="en-AU" sz="2000" b="0" i="1" smtClean="0">
                              <a:latin typeface="Cambria Math" panose="02040503050406030204" pitchFamily="18" charset="0"/>
                            </a:rPr>
                            <m:t>𝑤</m:t>
                          </m:r>
                          <m:r>
                            <a:rPr lang="en-AU" sz="2000" b="0" i="1" smtClean="0">
                              <a:latin typeface="Cambria Math" panose="02040503050406030204" pitchFamily="18" charset="0"/>
                            </a:rPr>
                            <m:t>)</m:t>
                          </m:r>
                        </m:e>
                      </m:func>
                      <m:r>
                        <a:rPr lang="en-AU" sz="2000" b="0" i="1" smtClean="0">
                          <a:latin typeface="Cambria Math" panose="02040503050406030204" pitchFamily="18" charset="0"/>
                        </a:rPr>
                        <m:t>=</m:t>
                      </m:r>
                      <m:f>
                        <m:fPr>
                          <m:ctrlPr>
                            <a:rPr lang="en-AU" sz="2000" i="1">
                              <a:latin typeface="Cambria Math" panose="02040503050406030204" pitchFamily="18" charset="0"/>
                            </a:rPr>
                          </m:ctrlPr>
                        </m:fPr>
                        <m:num>
                          <m:d>
                            <m:dPr>
                              <m:begChr m:val="|"/>
                              <m:endChr m:val="|"/>
                              <m:ctrlPr>
                                <a:rPr lang="en-AU" sz="2000" i="1">
                                  <a:latin typeface="Cambria Math" panose="02040503050406030204" pitchFamily="18" charset="0"/>
                                </a:rPr>
                              </m:ctrlPr>
                            </m:dPr>
                            <m:e>
                              <m:r>
                                <a:rPr lang="en-AU" sz="2000" i="1">
                                  <a:latin typeface="Cambria Math" panose="02040503050406030204" pitchFamily="18" charset="0"/>
                                </a:rPr>
                                <m:t>𝐻</m:t>
                              </m:r>
                            </m:e>
                          </m:d>
                        </m:num>
                        <m:den>
                          <m:r>
                            <a:rPr lang="en-AU" sz="2000" i="1" smtClean="0">
                              <a:solidFill>
                                <a:schemeClr val="tx1"/>
                              </a:solidFill>
                              <a:latin typeface="Cambria Math" panose="02040503050406030204" pitchFamily="18" charset="0"/>
                            </a:rPr>
                            <m:t>𝑤</m:t>
                          </m:r>
                        </m:den>
                      </m:f>
                      <m:r>
                        <a:rPr lang="en-AU" sz="2000" b="0" i="1" smtClean="0">
                          <a:solidFill>
                            <a:schemeClr val="tx1"/>
                          </a:solidFill>
                          <a:latin typeface="Cambria Math" panose="02040503050406030204" pitchFamily="18" charset="0"/>
                        </a:rPr>
                        <m:t>−</m:t>
                      </m:r>
                      <m:f>
                        <m:fPr>
                          <m:ctrlPr>
                            <a:rPr lang="en-AU" sz="2000" b="0" i="1" smtClean="0">
                              <a:latin typeface="Cambria Math" panose="02040503050406030204" pitchFamily="18" charset="0"/>
                            </a:rPr>
                          </m:ctrlPr>
                        </m:fPr>
                        <m:num>
                          <m:d>
                            <m:dPr>
                              <m:begChr m:val="|"/>
                              <m:endChr m:val="|"/>
                              <m:ctrlPr>
                                <a:rPr lang="en-AU" sz="2000" b="0" i="1" smtClean="0">
                                  <a:latin typeface="Cambria Math" panose="02040503050406030204" pitchFamily="18" charset="0"/>
                                </a:rPr>
                              </m:ctrlPr>
                            </m:dPr>
                            <m:e>
                              <m:r>
                                <a:rPr lang="en-AU" sz="2000" b="0" i="1" smtClean="0">
                                  <a:latin typeface="Cambria Math" panose="02040503050406030204" pitchFamily="18" charset="0"/>
                                </a:rPr>
                                <m:t>𝑇</m:t>
                              </m:r>
                            </m:e>
                          </m:d>
                        </m:num>
                        <m:den>
                          <m:r>
                            <a:rPr lang="en-AU" sz="2000" b="0" i="1" smtClean="0">
                              <a:latin typeface="Cambria Math" panose="02040503050406030204" pitchFamily="18" charset="0"/>
                            </a:rPr>
                            <m:t>1−</m:t>
                          </m:r>
                          <m:r>
                            <a:rPr lang="en-AU" sz="2000" b="0" i="1" smtClean="0">
                              <a:latin typeface="Cambria Math" panose="02040503050406030204" pitchFamily="18" charset="0"/>
                            </a:rPr>
                            <m:t>𝑤</m:t>
                          </m:r>
                        </m:den>
                      </m:f>
                      <m:r>
                        <a:rPr lang="en-AU" sz="2000" b="0" i="1" smtClean="0">
                          <a:latin typeface="Cambria Math" panose="02040503050406030204" pitchFamily="18" charset="0"/>
                        </a:rPr>
                        <m:t>=0</m:t>
                      </m:r>
                    </m:oMath>
                  </m:oMathPara>
                </a14:m>
                <a:endParaRPr lang="en-AU" sz="2000" b="0" dirty="0"/>
              </a:p>
              <a:p>
                <a:pPr marL="98425" indent="0">
                  <a:buNone/>
                </a:pPr>
                <a:endParaRPr lang="en-AU" sz="2000" dirty="0"/>
              </a:p>
              <a:p>
                <a:pPr marL="98425" indent="0">
                  <a:buNone/>
                </a:pPr>
                <a:r>
                  <a:rPr lang="en-AU" sz="2000" dirty="0"/>
                  <a:t>Maximum likelihood estimate</a:t>
                </a:r>
              </a:p>
              <a:p>
                <a:pPr marL="98425" indent="0">
                  <a:buNone/>
                </a:pPr>
                <a14:m>
                  <m:oMathPara xmlns:m="http://schemas.openxmlformats.org/officeDocument/2006/math">
                    <m:oMathParaPr>
                      <m:jc m:val="centerGroup"/>
                    </m:oMathParaPr>
                    <m:oMath xmlns:m="http://schemas.openxmlformats.org/officeDocument/2006/math">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𝑤</m:t>
                          </m:r>
                        </m:e>
                        <m:sub>
                          <m:r>
                            <m:rPr>
                              <m:sty m:val="p"/>
                            </m:rPr>
                            <a:rPr lang="en-AU" sz="2000" b="0" i="0" smtClean="0">
                              <a:latin typeface="Cambria Math" panose="02040503050406030204" pitchFamily="18" charset="0"/>
                            </a:rPr>
                            <m:t>ML</m:t>
                          </m:r>
                        </m:sub>
                      </m:sSub>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m:t>
                          </m:r>
                          <m:r>
                            <a:rPr lang="en-AU" sz="2000" b="0" i="1" smtClean="0">
                              <a:latin typeface="Cambria Math" panose="02040503050406030204" pitchFamily="18" charset="0"/>
                            </a:rPr>
                            <m:t>𝐻</m:t>
                          </m:r>
                          <m:r>
                            <a:rPr lang="en-AU" sz="2000" b="0" i="1" smtClean="0">
                              <a:latin typeface="Cambria Math" panose="02040503050406030204" pitchFamily="18" charset="0"/>
                            </a:rPr>
                            <m:t>|</m:t>
                          </m:r>
                        </m:num>
                        <m:den>
                          <m:d>
                            <m:dPr>
                              <m:begChr m:val="|"/>
                              <m:endChr m:val="|"/>
                              <m:ctrlPr>
                                <a:rPr lang="en-AU" sz="2000" b="0" i="1" smtClean="0">
                                  <a:latin typeface="Cambria Math" panose="02040503050406030204" pitchFamily="18" charset="0"/>
                                </a:rPr>
                              </m:ctrlPr>
                            </m:dPr>
                            <m:e>
                              <m:r>
                                <a:rPr lang="en-AU" sz="2000" b="0" i="1" smtClean="0">
                                  <a:latin typeface="Cambria Math" panose="02040503050406030204" pitchFamily="18" charset="0"/>
                                </a:rPr>
                                <m:t>𝐻</m:t>
                              </m:r>
                            </m:e>
                          </m:d>
                          <m:r>
                            <a:rPr lang="en-AU" sz="2000" b="0" i="1" smtClean="0">
                              <a:latin typeface="Cambria Math" panose="02040503050406030204" pitchFamily="18" charset="0"/>
                            </a:rPr>
                            <m:t>+|</m:t>
                          </m:r>
                          <m:r>
                            <a:rPr lang="en-AU" sz="2000" b="0" i="1" smtClean="0">
                              <a:latin typeface="Cambria Math" panose="02040503050406030204" pitchFamily="18" charset="0"/>
                            </a:rPr>
                            <m:t>𝑇</m:t>
                          </m:r>
                          <m:r>
                            <a:rPr lang="en-AU" sz="2000" b="0" i="1" smtClean="0">
                              <a:latin typeface="Cambria Math" panose="02040503050406030204" pitchFamily="18" charset="0"/>
                            </a:rPr>
                            <m:t>|</m:t>
                          </m:r>
                        </m:den>
                      </m:f>
                    </m:oMath>
                  </m:oMathPara>
                </a14:m>
                <a:endParaRPr lang="en-AU" sz="2000" dirty="0"/>
              </a:p>
            </p:txBody>
          </p:sp>
        </mc:Choice>
        <mc:Fallback xmlns="">
          <p:sp>
            <p:nvSpPr>
              <p:cNvPr id="3" name="Content Placeholder 2">
                <a:extLst>
                  <a:ext uri="{FF2B5EF4-FFF2-40B4-BE49-F238E27FC236}">
                    <a16:creationId xmlns:a16="http://schemas.microsoft.com/office/drawing/2014/main" id="{DFC70002-BAE8-4942-A5B0-3B35E053AAD3}"/>
                  </a:ext>
                </a:extLst>
              </p:cNvPr>
              <p:cNvSpPr>
                <a:spLocks noGrp="1" noRot="1" noChangeAspect="1" noMove="1" noResize="1" noEditPoints="1" noAdjustHandles="1" noChangeArrowheads="1" noChangeShapeType="1" noTextEdit="1"/>
              </p:cNvSpPr>
              <p:nvPr>
                <p:ph idx="1"/>
              </p:nvPr>
            </p:nvSpPr>
            <p:spPr>
              <a:blipFill>
                <a:blip r:embed="rId2"/>
                <a:stretch>
                  <a:fillRect t="-847"/>
                </a:stretch>
              </a:blipFill>
            </p:spPr>
            <p:txBody>
              <a:bodyPr/>
              <a:lstStyle/>
              <a:p>
                <a:r>
                  <a:rPr lang="en-AU">
                    <a:noFill/>
                  </a:rPr>
                  <a:t> </a:t>
                </a:r>
              </a:p>
            </p:txBody>
          </p:sp>
        </mc:Fallback>
      </mc:AlternateContent>
      <p:pic>
        <p:nvPicPr>
          <p:cNvPr id="4" name="Picture 1">
            <a:extLst>
              <a:ext uri="{FF2B5EF4-FFF2-40B4-BE49-F238E27FC236}">
                <a16:creationId xmlns:a16="http://schemas.microsoft.com/office/drawing/2014/main" id="{64863A4F-66E6-E948-B708-091D84F3A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661" y="1628800"/>
            <a:ext cx="1936779" cy="30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7174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idx="4294967295"/>
          </p:nvPr>
        </p:nvSpPr>
        <p:spPr>
          <a:xfrm>
            <a:off x="304800" y="152400"/>
            <a:ext cx="8458200" cy="990600"/>
          </a:xfrm>
        </p:spPr>
        <p:txBody>
          <a:bodyPr/>
          <a:lstStyle/>
          <a:p>
            <a:r>
              <a:rPr lang="en-US" altLang="ko-KR" dirty="0"/>
              <a:t>Learning about a coin</a:t>
            </a:r>
          </a:p>
        </p:txBody>
      </p:sp>
      <p:sp>
        <p:nvSpPr>
          <p:cNvPr id="44035" name="Content Placeholder 2"/>
          <p:cNvSpPr>
            <a:spLocks noGrp="1" noRot="1" noChangeAspect="1" noMove="1" noResize="1" noEditPoints="1" noAdjustHandles="1" noChangeArrowheads="1" noTextEdit="1"/>
          </p:cNvSpPr>
          <p:nvPr>
            <p:ph idx="4294967295"/>
          </p:nvPr>
        </p:nvSpPr>
        <p:spPr>
          <a:xfrm>
            <a:off x="228600" y="1524000"/>
            <a:ext cx="8534400" cy="4495800"/>
          </a:xfrm>
          <a:blipFill dpi="0" rotWithShape="0">
            <a:blip r:embed="rId3"/>
            <a:srcRect/>
            <a:stretch>
              <a:fillRect/>
            </a:stretch>
          </a:blipFill>
        </p:spPr>
        <p:txBody>
          <a:bodyPr/>
          <a:lstStyle/>
          <a:p>
            <a:endParaRPr lang="en-AU"/>
          </a:p>
        </p:txBody>
      </p:sp>
      <p:sp>
        <p:nvSpPr>
          <p:cNvPr id="44036"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idx="4294967295"/>
          </p:nvPr>
        </p:nvSpPr>
        <p:spPr>
          <a:xfrm>
            <a:off x="381000" y="2133600"/>
            <a:ext cx="8229600" cy="2514600"/>
          </a:xfrm>
        </p:spPr>
        <p:txBody>
          <a:bodyPr/>
          <a:lstStyle/>
          <a:p>
            <a:pPr algn="ctr"/>
            <a:r>
              <a:rPr lang="en-US" altLang="ko-KR" dirty="0"/>
              <a:t>Bootstrap</a:t>
            </a:r>
          </a:p>
        </p:txBody>
      </p:sp>
      <p:sp>
        <p:nvSpPr>
          <p:cNvPr id="54275"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noChangeArrowheads="1"/>
          </p:cNvSpPr>
          <p:nvPr>
            <p:ph type="title"/>
          </p:nvPr>
        </p:nvSpPr>
        <p:spPr/>
        <p:txBody>
          <a:bodyPr/>
          <a:lstStyle/>
          <a:p>
            <a:r>
              <a:rPr lang="en-US" altLang="ko-KR" dirty="0"/>
              <a:t>Uncertainty Quantification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8634480-0D94-474B-9604-55542983ACE3}"/>
                  </a:ext>
                </a:extLst>
              </p:cNvPr>
              <p:cNvSpPr>
                <a:spLocks noGrp="1"/>
              </p:cNvSpPr>
              <p:nvPr>
                <p:ph idx="1"/>
              </p:nvPr>
            </p:nvSpPr>
            <p:spPr>
              <a:xfrm>
                <a:off x="228600" y="1524000"/>
                <a:ext cx="8305800" cy="4495800"/>
              </a:xfrm>
            </p:spPr>
            <p:txBody>
              <a:bodyPr/>
              <a:lstStyle/>
              <a:p>
                <a:pPr marL="98425" indent="0">
                  <a:buNone/>
                </a:pPr>
                <a:r>
                  <a:rPr lang="en-AU" sz="2000" dirty="0"/>
                  <a:t>By moving from predictive to probabilistic model we acknowledge that our target is not necessarily a deterministic quantity (given the input)</a:t>
                </a:r>
              </a:p>
              <a:p>
                <a:pPr marL="98425" indent="0">
                  <a:buNone/>
                </a:pPr>
                <a:endParaRPr lang="en-AU" sz="2000" dirty="0"/>
              </a:p>
              <a:p>
                <a:pPr marL="98425" indent="0">
                  <a:buNone/>
                </a:pPr>
                <a:r>
                  <a:rPr lang="en-AU" sz="2000" dirty="0">
                    <a:solidFill>
                      <a:srgbClr val="0070C0"/>
                    </a:solidFill>
                  </a:rPr>
                  <a:t>Aleatoric uncertainty</a:t>
                </a:r>
                <a:r>
                  <a:rPr lang="en-AU" sz="2000" dirty="0"/>
                  <a:t>: inherent </a:t>
                </a:r>
                <a:r>
                  <a:rPr lang="en-AU" sz="2000" i="1" dirty="0"/>
                  <a:t>non-determinism</a:t>
                </a:r>
                <a:r>
                  <a:rPr lang="en-AU" sz="2000" dirty="0"/>
                  <a:t> of modelled process</a:t>
                </a:r>
              </a:p>
              <a:p>
                <a:pPr marL="98425" indent="0">
                  <a:buNone/>
                </a:pPr>
                <a:r>
                  <a:rPr lang="en-AU" sz="1800" b="1" dirty="0"/>
                  <a:t>Example</a:t>
                </a:r>
                <a:r>
                  <a:rPr lang="en-AU" sz="1800" dirty="0"/>
                  <a:t>: uncertainty of outcome of coin flip even if exact probability known</a:t>
                </a:r>
              </a:p>
              <a:p>
                <a:pPr marL="98425" indent="0">
                  <a:buNone/>
                </a:pPr>
                <a:endParaRPr lang="en-AU" sz="2000" dirty="0"/>
              </a:p>
              <a:p>
                <a:pPr marL="98425" indent="0">
                  <a:buNone/>
                </a:pPr>
                <a:r>
                  <a:rPr lang="en-AU" sz="2000" dirty="0"/>
                  <a:t>However, there is an additional source of uncertainty due to the finitude of our specific observed dataset</a:t>
                </a:r>
              </a:p>
              <a:p>
                <a:pPr marL="98425" indent="0">
                  <a:buNone/>
                </a:pPr>
                <a:endParaRPr lang="en-AU" sz="2000" dirty="0"/>
              </a:p>
              <a:p>
                <a:pPr marL="98425" indent="0">
                  <a:buNone/>
                </a:pPr>
                <a:r>
                  <a:rPr lang="en-AU" sz="2000" dirty="0">
                    <a:solidFill>
                      <a:srgbClr val="0070C0"/>
                    </a:solidFill>
                  </a:rPr>
                  <a:t>Epistemic (data) uncertainty</a:t>
                </a:r>
                <a:r>
                  <a:rPr lang="en-AU" sz="2000" dirty="0"/>
                  <a:t>: lack of </a:t>
                </a:r>
                <a:r>
                  <a:rPr lang="en-AU" sz="2000" i="1" dirty="0"/>
                  <a:t>knowledge</a:t>
                </a:r>
                <a:r>
                  <a:rPr lang="en-AU" sz="2000" dirty="0"/>
                  <a:t> about the process</a:t>
                </a:r>
              </a:p>
              <a:p>
                <a:pPr marL="98425" indent="0">
                  <a:buNone/>
                </a:pPr>
                <a:r>
                  <a:rPr lang="en-AU" sz="1800" b="1" dirty="0"/>
                  <a:t>Example</a:t>
                </a:r>
                <a:r>
                  <a:rPr lang="en-AU" sz="1800" dirty="0"/>
                  <a:t>: uncertainty about probability of heads (</a:t>
                </a:r>
                <a:r>
                  <a:rPr lang="en-AU" sz="1800" dirty="0">
                    <a:solidFill>
                      <a:srgbClr val="0070C0"/>
                    </a:solidFill>
                  </a:rPr>
                  <a:t>parameter uncertainty</a:t>
                </a:r>
                <a:r>
                  <a:rPr lang="en-AU" sz="1800" dirty="0"/>
                  <a:t>) or uncertainty about what model to use to represent </a:t>
                </a:r>
                <a14:m>
                  <m:oMath xmlns:m="http://schemas.openxmlformats.org/officeDocument/2006/math">
                    <m:r>
                      <a:rPr lang="en-AU" sz="1800" i="1" dirty="0" smtClean="0">
                        <a:latin typeface="Cambria Math" panose="02040503050406030204" pitchFamily="18" charset="0"/>
                      </a:rPr>
                      <m:t>𝑇</m:t>
                    </m:r>
                    <m:r>
                      <a:rPr lang="en-AU" sz="1800" i="1" dirty="0" smtClean="0">
                        <a:latin typeface="Cambria Math" panose="02040503050406030204" pitchFamily="18" charset="0"/>
                      </a:rPr>
                      <m:t> | </m:t>
                    </m:r>
                    <m:r>
                      <a:rPr lang="en-AU" sz="1800" i="1" dirty="0" smtClean="0">
                        <a:latin typeface="Cambria Math" panose="02040503050406030204" pitchFamily="18" charset="0"/>
                      </a:rPr>
                      <m:t>𝑋</m:t>
                    </m:r>
                    <m:r>
                      <a:rPr lang="en-AU" sz="1800" i="1" dirty="0" smtClean="0">
                        <a:latin typeface="Cambria Math" panose="02040503050406030204" pitchFamily="18" charset="0"/>
                      </a:rPr>
                      <m:t> </m:t>
                    </m:r>
                  </m:oMath>
                </a14:m>
                <a:r>
                  <a:rPr lang="en-AU" sz="1800" dirty="0"/>
                  <a:t>(model uncertainty)</a:t>
                </a:r>
              </a:p>
              <a:p>
                <a:pPr marL="98425" indent="0">
                  <a:buNone/>
                </a:pPr>
                <a:endParaRPr lang="en-AU" sz="2000" dirty="0"/>
              </a:p>
            </p:txBody>
          </p:sp>
        </mc:Choice>
        <mc:Fallback xmlns="">
          <p:sp>
            <p:nvSpPr>
              <p:cNvPr id="4" name="Content Placeholder 3">
                <a:extLst>
                  <a:ext uri="{FF2B5EF4-FFF2-40B4-BE49-F238E27FC236}">
                    <a16:creationId xmlns:a16="http://schemas.microsoft.com/office/drawing/2014/main" id="{38634480-0D94-474B-9604-55542983ACE3}"/>
                  </a:ext>
                </a:extLst>
              </p:cNvPr>
              <p:cNvSpPr>
                <a:spLocks noGrp="1" noRot="1" noChangeAspect="1" noMove="1" noResize="1" noEditPoints="1" noAdjustHandles="1" noChangeArrowheads="1" noChangeShapeType="1" noTextEdit="1"/>
              </p:cNvSpPr>
              <p:nvPr>
                <p:ph idx="1"/>
              </p:nvPr>
            </p:nvSpPr>
            <p:spPr>
              <a:xfrm>
                <a:off x="228600" y="1524000"/>
                <a:ext cx="8305800" cy="4495800"/>
              </a:xfrm>
              <a:blipFill>
                <a:blip r:embed="rId3"/>
                <a:stretch>
                  <a:fillRect t="-845"/>
                </a:stretch>
              </a:blipFill>
            </p:spPr>
            <p:txBody>
              <a:bodyPr/>
              <a:lstStyle/>
              <a:p>
                <a:r>
                  <a:rPr lang="en-US">
                    <a:noFill/>
                  </a:rPr>
                  <a:t> </a:t>
                </a:r>
              </a:p>
            </p:txBody>
          </p:sp>
        </mc:Fallback>
      </mc:AlternateContent>
      <p:sp>
        <p:nvSpPr>
          <p:cNvPr id="56324" name="TextBox 4"/>
          <p:cNvSpPr>
            <a:spLocks noChangeArrowheads="1"/>
          </p:cNvSpPr>
          <p:nvPr/>
        </p:nvSpPr>
        <p:spPr bwMode="auto">
          <a:xfrm>
            <a:off x="228600" y="65055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extLst>
      <p:ext uri="{BB962C8B-B14F-4D97-AF65-F5344CB8AC3E}">
        <p14:creationId xmlns:p14="http://schemas.microsoft.com/office/powerpoint/2010/main" val="227320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75E01-99F8-126D-478C-6C358FA7F8C9}"/>
              </a:ext>
            </a:extLst>
          </p:cNvPr>
          <p:cNvSpPr>
            <a:spLocks noGrp="1"/>
          </p:cNvSpPr>
          <p:nvPr>
            <p:ph type="title"/>
          </p:nvPr>
        </p:nvSpPr>
        <p:spPr/>
        <p:txBody>
          <a:bodyPr/>
          <a:lstStyle/>
          <a:p>
            <a:r>
              <a:rPr lang="en-US" dirty="0"/>
              <a:t>Parameter Uncertainty Conceptually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949412-D511-7983-784A-3D56FE7EB1B5}"/>
                  </a:ext>
                </a:extLst>
              </p:cNvPr>
              <p:cNvSpPr>
                <a:spLocks noGrp="1"/>
              </p:cNvSpPr>
              <p:nvPr>
                <p:ph idx="1"/>
              </p:nvPr>
            </p:nvSpPr>
            <p:spPr/>
            <p:txBody>
              <a:bodyPr/>
              <a:lstStyle/>
              <a:p>
                <a:r>
                  <a:rPr lang="en-US" sz="2000" dirty="0"/>
                  <a:t>We had a specific (random) dataset </a:t>
                </a:r>
                <a14:m>
                  <m:oMath xmlns:m="http://schemas.openxmlformats.org/officeDocument/2006/math">
                    <m:r>
                      <a:rPr lang="en-US" sz="2000" i="1" dirty="0" smtClean="0">
                        <a:latin typeface="Cambria Math" panose="02040503050406030204" pitchFamily="18" charset="0"/>
                      </a:rPr>
                      <m:t>𝐷</m:t>
                    </m:r>
                  </m:oMath>
                </a14:m>
                <a:r>
                  <a:rPr lang="en-US" sz="2000" dirty="0"/>
                  <a:t> to find parameters </a:t>
                </a:r>
                <a14:m>
                  <m:oMath xmlns:m="http://schemas.openxmlformats.org/officeDocument/2006/math">
                    <m:r>
                      <a:rPr lang="en-US" sz="2000" b="1" i="1" dirty="0" smtClean="0">
                        <a:latin typeface="Cambria Math" panose="02040503050406030204" pitchFamily="18" charset="0"/>
                      </a:rPr>
                      <m:t>𝒘</m:t>
                    </m:r>
                    <m:r>
                      <a:rPr lang="en-US" sz="2000" i="1" dirty="0" smtClean="0">
                        <a:latin typeface="Cambria Math" panose="02040503050406030204" pitchFamily="18" charset="0"/>
                      </a:rPr>
                      <m:t>(</m:t>
                    </m:r>
                    <m:r>
                      <a:rPr lang="en-US" sz="2000" i="1" dirty="0" smtClean="0">
                        <a:latin typeface="Cambria Math" panose="02040503050406030204" pitchFamily="18" charset="0"/>
                      </a:rPr>
                      <m:t>𝐷</m:t>
                    </m:r>
                    <m:r>
                      <a:rPr lang="en-US" sz="2000" i="1" dirty="0" smtClean="0">
                        <a:latin typeface="Cambria Math" panose="02040503050406030204" pitchFamily="18" charset="0"/>
                      </a:rPr>
                      <m:t>)</m:t>
                    </m:r>
                  </m:oMath>
                </a14:m>
                <a:r>
                  <a:rPr lang="en-US" sz="2000" dirty="0"/>
                  <a:t>, e.g., with maximum likelihood</a:t>
                </a:r>
              </a:p>
              <a:p>
                <a:endParaRPr lang="en-US" sz="2000" dirty="0"/>
              </a:p>
              <a:p>
                <a:r>
                  <a:rPr lang="en-US" sz="2000" b="1" dirty="0"/>
                  <a:t>Observation:</a:t>
                </a:r>
                <a:r>
                  <a:rPr lang="en-US" sz="2000" dirty="0"/>
                  <a:t> that makes </a:t>
                </a:r>
                <a14:m>
                  <m:oMath xmlns:m="http://schemas.openxmlformats.org/officeDocument/2006/math">
                    <m:r>
                      <a:rPr lang="en-US" sz="2000" b="1" i="1" dirty="0" smtClean="0">
                        <a:latin typeface="Cambria Math" panose="02040503050406030204" pitchFamily="18" charset="0"/>
                      </a:rPr>
                      <m:t>𝒘</m:t>
                    </m:r>
                  </m:oMath>
                </a14:m>
                <a:r>
                  <a:rPr lang="en-US" sz="2000" dirty="0"/>
                  <a:t> as well as individual parameters </a:t>
                </a:r>
                <a14:m>
                  <m:oMath xmlns:m="http://schemas.openxmlformats.org/officeDocument/2006/math">
                    <m:r>
                      <a:rPr lang="en-US" sz="2000" i="1" dirty="0" smtClean="0">
                        <a:latin typeface="Cambria Math" panose="02040503050406030204" pitchFamily="18" charset="0"/>
                      </a:rPr>
                      <m:t>𝑤</m:t>
                    </m:r>
                  </m:oMath>
                </a14:m>
                <a:r>
                  <a:rPr lang="en-US" sz="2000" dirty="0"/>
                  <a:t> a </a:t>
                </a:r>
                <a:r>
                  <a:rPr lang="en-US" sz="2000" dirty="0">
                    <a:solidFill>
                      <a:srgbClr val="0070C0"/>
                    </a:solidFill>
                  </a:rPr>
                  <a:t>random variable </a:t>
                </a:r>
                <a:r>
                  <a:rPr lang="en-US" sz="2000" dirty="0"/>
                  <a:t>with some distribution</a:t>
                </a:r>
              </a:p>
              <a:p>
                <a:endParaRPr lang="en-US" sz="2000" dirty="0"/>
              </a:p>
              <a:p>
                <a:r>
                  <a:rPr lang="en-US" sz="2000" b="1" dirty="0"/>
                  <a:t>Conceptually: </a:t>
                </a:r>
                <a:r>
                  <a:rPr lang="en-US" sz="2000" dirty="0"/>
                  <a:t>the less the distribution of </a:t>
                </a:r>
                <a14:m>
                  <m:oMath xmlns:m="http://schemas.openxmlformats.org/officeDocument/2006/math">
                    <m:r>
                      <a:rPr lang="en-US" sz="2000" i="1" dirty="0" smtClean="0">
                        <a:latin typeface="Cambria Math" panose="02040503050406030204" pitchFamily="18" charset="0"/>
                      </a:rPr>
                      <m:t>𝑤</m:t>
                    </m:r>
                  </m:oMath>
                </a14:m>
                <a:r>
                  <a:rPr lang="en-US" sz="2000" dirty="0"/>
                  <a:t> is </a:t>
                </a:r>
                <a:r>
                  <a:rPr lang="en-US" sz="2000" dirty="0">
                    <a:solidFill>
                      <a:srgbClr val="0070C0"/>
                    </a:solidFill>
                  </a:rPr>
                  <a:t>concentrated</a:t>
                </a:r>
                <a:r>
                  <a:rPr lang="en-US" sz="2000" dirty="0"/>
                  <a:t>, the more </a:t>
                </a:r>
                <a:r>
                  <a:rPr lang="en-US" sz="2000" dirty="0">
                    <a:solidFill>
                      <a:srgbClr val="0070C0"/>
                    </a:solidFill>
                  </a:rPr>
                  <a:t>uncertain</a:t>
                </a:r>
                <a:r>
                  <a:rPr lang="en-US" sz="2000" dirty="0"/>
                  <a:t> we are about our specific estimate </a:t>
                </a:r>
                <a14:m>
                  <m:oMath xmlns:m="http://schemas.openxmlformats.org/officeDocument/2006/math">
                    <m:r>
                      <a:rPr lang="en-US" sz="2000" i="1" dirty="0" smtClean="0">
                        <a:latin typeface="Cambria Math" panose="02040503050406030204" pitchFamily="18" charset="0"/>
                      </a:rPr>
                      <m:t>𝑤</m:t>
                    </m:r>
                    <m:r>
                      <a:rPr lang="en-US" sz="2000" i="1" dirty="0" smtClean="0">
                        <a:latin typeface="Cambria Math" panose="02040503050406030204" pitchFamily="18" charset="0"/>
                      </a:rPr>
                      <m:t>(</m:t>
                    </m:r>
                    <m:r>
                      <a:rPr lang="en-US" sz="2000" i="1" dirty="0" smtClean="0">
                        <a:latin typeface="Cambria Math" panose="02040503050406030204" pitchFamily="18" charset="0"/>
                      </a:rPr>
                      <m:t>𝐷</m:t>
                    </m:r>
                    <m:r>
                      <a:rPr lang="en-US" sz="2000" i="1" dirty="0" smtClean="0">
                        <a:latin typeface="Cambria Math" panose="02040503050406030204" pitchFamily="18" charset="0"/>
                      </a:rPr>
                      <m:t>)</m:t>
                    </m:r>
                  </m:oMath>
                </a14:m>
                <a:endParaRPr lang="en-US" sz="2000" dirty="0"/>
              </a:p>
              <a:p>
                <a:endParaRPr lang="en-US" sz="2000" dirty="0"/>
              </a:p>
              <a:p>
                <a:r>
                  <a:rPr lang="en-US" sz="2000" b="1" dirty="0"/>
                  <a:t>Idea: </a:t>
                </a:r>
                <a:r>
                  <a:rPr lang="en-US" sz="2000" dirty="0"/>
                  <a:t>if we could sample </a:t>
                </a:r>
                <a:r>
                  <a:rPr lang="en-US" sz="2000" dirty="0">
                    <a:solidFill>
                      <a:srgbClr val="0070C0"/>
                    </a:solidFill>
                  </a:rPr>
                  <a:t>new datasets</a:t>
                </a:r>
                <a:r>
                  <a:rPr lang="en-US" sz="2000" dirty="0"/>
                  <a:t>, we could start to estimate that distribution (and the dispersion / variance of </a:t>
                </a:r>
                <a14:m>
                  <m:oMath xmlns:m="http://schemas.openxmlformats.org/officeDocument/2006/math">
                    <m:r>
                      <a:rPr lang="en-US" sz="2000" i="1" dirty="0" smtClean="0">
                        <a:latin typeface="Cambria Math" panose="02040503050406030204" pitchFamily="18" charset="0"/>
                      </a:rPr>
                      <m:t>𝑤</m:t>
                    </m:r>
                  </m:oMath>
                </a14:m>
                <a:r>
                  <a:rPr lang="en-US" sz="2000" dirty="0"/>
                  <a:t>)</a:t>
                </a:r>
              </a:p>
              <a:p>
                <a:endParaRPr lang="en-US" sz="2000" dirty="0"/>
              </a:p>
              <a:p>
                <a:r>
                  <a:rPr lang="en-US" sz="2000" b="1" dirty="0"/>
                  <a:t>Problem: </a:t>
                </a:r>
                <a:r>
                  <a:rPr lang="en-US" sz="2000" dirty="0"/>
                  <a:t>in </a:t>
                </a:r>
                <a:r>
                  <a:rPr lang="en-US" sz="2000" dirty="0">
                    <a:solidFill>
                      <a:srgbClr val="0070C0"/>
                    </a:solidFill>
                  </a:rPr>
                  <a:t>practice</a:t>
                </a:r>
                <a:r>
                  <a:rPr lang="en-US" sz="2000" dirty="0"/>
                  <a:t> we have only one dataset, and we would like to use all data for learning </a:t>
                </a:r>
                <a14:m>
                  <m:oMath xmlns:m="http://schemas.openxmlformats.org/officeDocument/2006/math">
                    <m:r>
                      <a:rPr lang="en-US" sz="2000" i="1" dirty="0" smtClean="0">
                        <a:solidFill>
                          <a:srgbClr val="0070C0"/>
                        </a:solidFill>
                        <a:latin typeface="Cambria Math" panose="02040503050406030204" pitchFamily="18" charset="0"/>
                      </a:rPr>
                      <m:t>𝑤</m:t>
                    </m:r>
                  </m:oMath>
                </a14:m>
                <a:endParaRPr lang="en-US" sz="2000" dirty="0"/>
              </a:p>
            </p:txBody>
          </p:sp>
        </mc:Choice>
        <mc:Fallback xmlns="">
          <p:sp>
            <p:nvSpPr>
              <p:cNvPr id="3" name="Content Placeholder 2">
                <a:extLst>
                  <a:ext uri="{FF2B5EF4-FFF2-40B4-BE49-F238E27FC236}">
                    <a16:creationId xmlns:a16="http://schemas.microsoft.com/office/drawing/2014/main" id="{86949412-D511-7983-784A-3D56FE7EB1B5}"/>
                  </a:ext>
                </a:extLst>
              </p:cNvPr>
              <p:cNvSpPr>
                <a:spLocks noGrp="1" noRot="1" noChangeAspect="1" noMove="1" noResize="1" noEditPoints="1" noAdjustHandles="1" noChangeArrowheads="1" noChangeShapeType="1" noTextEdit="1"/>
              </p:cNvSpPr>
              <p:nvPr>
                <p:ph idx="1"/>
              </p:nvPr>
            </p:nvSpPr>
            <p:spPr>
              <a:blipFill>
                <a:blip r:embed="rId2"/>
                <a:stretch>
                  <a:fillRect t="-845" r="-616" b="-9859"/>
                </a:stretch>
              </a:blipFill>
            </p:spPr>
            <p:txBody>
              <a:bodyPr/>
              <a:lstStyle/>
              <a:p>
                <a:r>
                  <a:rPr lang="en-US">
                    <a:noFill/>
                  </a:rPr>
                  <a:t> </a:t>
                </a:r>
              </a:p>
            </p:txBody>
          </p:sp>
        </mc:Fallback>
      </mc:AlternateContent>
    </p:spTree>
    <p:extLst>
      <p:ext uri="{BB962C8B-B14F-4D97-AF65-F5344CB8AC3E}">
        <p14:creationId xmlns:p14="http://schemas.microsoft.com/office/powerpoint/2010/main" val="339838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noChangeArrowheads="1"/>
          </p:cNvSpPr>
          <p:nvPr>
            <p:ph type="title" idx="4294967295"/>
          </p:nvPr>
        </p:nvSpPr>
        <p:spPr>
          <a:xfrm>
            <a:off x="304800" y="152400"/>
            <a:ext cx="8458200" cy="990600"/>
          </a:xfrm>
        </p:spPr>
        <p:txBody>
          <a:bodyPr/>
          <a:lstStyle/>
          <a:p>
            <a:r>
              <a:rPr lang="en-US" altLang="ko-KR"/>
              <a:t>Bootstrap for Quantifying Uncertainty </a:t>
            </a:r>
          </a:p>
        </p:txBody>
      </p:sp>
      <p:sp>
        <p:nvSpPr>
          <p:cNvPr id="56324" name="TextBox 4"/>
          <p:cNvSpPr>
            <a:spLocks noChangeArrowheads="1"/>
          </p:cNvSpPr>
          <p:nvPr/>
        </p:nvSpPr>
        <p:spPr bwMode="auto">
          <a:xfrm>
            <a:off x="228600" y="65055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
        <p:nvSpPr>
          <p:cNvPr id="2" name="Rectangle 1"/>
          <p:cNvSpPr/>
          <p:nvPr/>
        </p:nvSpPr>
        <p:spPr>
          <a:xfrm>
            <a:off x="220462" y="1556792"/>
            <a:ext cx="7776864" cy="288032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rgbClr val="C00000"/>
                </a:solidFill>
              </a:rPr>
              <a:t>Now, the problem is how to get the alternate datasets?</a:t>
            </a:r>
          </a:p>
          <a:p>
            <a:pPr algn="ctr"/>
            <a:endParaRPr lang="en-US" sz="2000" dirty="0">
              <a:solidFill>
                <a:schemeClr val="tx1"/>
              </a:solidFill>
            </a:endParaRPr>
          </a:p>
          <a:p>
            <a:pPr algn="ctr"/>
            <a:r>
              <a:rPr lang="en-US" sz="2000" dirty="0">
                <a:solidFill>
                  <a:schemeClr val="tx1"/>
                </a:solidFill>
              </a:rPr>
              <a:t>clue: generate the alternate datasets from the original dataset. But how?</a:t>
            </a:r>
          </a:p>
          <a:p>
            <a:pPr algn="ctr"/>
            <a:endParaRPr lang="en-US" sz="2000" dirty="0">
              <a:solidFill>
                <a:schemeClr val="tx1"/>
              </a:solidFill>
            </a:endParaRPr>
          </a:p>
          <a:p>
            <a:pPr algn="ctr"/>
            <a:r>
              <a:rPr lang="en-US" sz="2000" dirty="0">
                <a:solidFill>
                  <a:schemeClr val="tx1"/>
                </a:solidFill>
              </a:rPr>
              <a:t>Solution: resampling with bootstrap strategy</a:t>
            </a:r>
          </a:p>
          <a:p>
            <a:pPr algn="ctr"/>
            <a:endParaRPr lang="en-US" sz="2000" dirty="0">
              <a:solidFill>
                <a:schemeClr val="tx1"/>
              </a:solidFill>
            </a:endParaRPr>
          </a:p>
          <a:p>
            <a:pPr algn="ctr"/>
            <a:r>
              <a:rPr lang="en-US" sz="2000" dirty="0">
                <a:solidFill>
                  <a:schemeClr val="tx1"/>
                </a:solidFill>
              </a:rPr>
              <a:t>Basic idea of bootstrap: approximate the real distribution in the infinity situation with the empirical distribution </a:t>
            </a:r>
            <a:r>
              <a:rPr lang="en-US" sz="2000" dirty="0">
                <a:solidFill>
                  <a:srgbClr val="C00000"/>
                </a:solidFill>
              </a:rPr>
              <a:t> </a:t>
            </a:r>
            <a:endParaRPr lang="en-AU" sz="2000" dirty="0">
              <a:solidFill>
                <a:srgbClr val="C00000"/>
              </a:solidFill>
            </a:endParaRPr>
          </a:p>
        </p:txBody>
      </p:sp>
    </p:spTree>
    <p:extLst>
      <p:ext uri="{BB962C8B-B14F-4D97-AF65-F5344CB8AC3E}">
        <p14:creationId xmlns:p14="http://schemas.microsoft.com/office/powerpoint/2010/main" val="3437975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idx="4294967295"/>
          </p:nvPr>
        </p:nvSpPr>
        <p:spPr>
          <a:xfrm>
            <a:off x="304800" y="152400"/>
            <a:ext cx="8458200" cy="990600"/>
          </a:xfrm>
        </p:spPr>
        <p:txBody>
          <a:bodyPr/>
          <a:lstStyle/>
          <a:p>
            <a:r>
              <a:rPr lang="en-US" altLang="ko-KR"/>
              <a:t>Bootstrap Example</a:t>
            </a:r>
          </a:p>
        </p:txBody>
      </p:sp>
      <p:sp>
        <p:nvSpPr>
          <p:cNvPr id="30896" name="Content Placeholder 2"/>
          <p:cNvSpPr>
            <a:spLocks noGrp="1" noChangeArrowheads="1"/>
          </p:cNvSpPr>
          <p:nvPr>
            <p:ph idx="4294967295"/>
          </p:nvPr>
        </p:nvSpPr>
        <p:spPr>
          <a:xfrm>
            <a:off x="228600" y="1524000"/>
            <a:ext cx="8763000" cy="4495800"/>
          </a:xfrm>
        </p:spPr>
        <p:txBody>
          <a:bodyPr/>
          <a:lstStyle/>
          <a:p>
            <a:pPr marL="155575" indent="0">
              <a:buNone/>
            </a:pPr>
            <a:r>
              <a:rPr lang="en-US" altLang="ko-KR" sz="2000" dirty="0"/>
              <a:t>A </a:t>
            </a:r>
            <a:r>
              <a:rPr lang="en-US" altLang="ko-KR" sz="2000" dirty="0">
                <a:solidFill>
                  <a:srgbClr val="0070C0"/>
                </a:solidFill>
              </a:rPr>
              <a:t>bootstrap sample </a:t>
            </a:r>
            <a:r>
              <a:rPr lang="en-US" altLang="ko-KR" sz="2000" dirty="0"/>
              <a:t>is a random sample conducted with </a:t>
            </a:r>
            <a:r>
              <a:rPr lang="en-US" altLang="ko-KR" sz="2000" dirty="0">
                <a:solidFill>
                  <a:srgbClr val="FF0000"/>
                </a:solidFill>
              </a:rPr>
              <a:t>replacement</a:t>
            </a:r>
            <a:endParaRPr lang="is-IS" altLang="ko-KR" dirty="0">
              <a:solidFill>
                <a:srgbClr val="FF0000"/>
              </a:solidFill>
            </a:endParaRPr>
          </a:p>
          <a:p>
            <a:pPr marL="1077913" lvl="1" indent="-457200">
              <a:buFont typeface="Arial" panose="020B0604020202020204" pitchFamily="34" charset="0"/>
              <a:buAutoNum type="arabicPeriod"/>
            </a:pPr>
            <a:r>
              <a:rPr lang="is-IS" altLang="ko-KR" sz="1800" dirty="0">
                <a:ea typeface="MS PGothic" panose="020B0600070205080204" pitchFamily="34" charset="-128"/>
              </a:rPr>
              <a:t>Randomly select an observation from the original data</a:t>
            </a:r>
          </a:p>
          <a:p>
            <a:pPr marL="1077913" lvl="1" indent="-457200">
              <a:buFont typeface="Arial" panose="020B0604020202020204" pitchFamily="34" charset="0"/>
              <a:buAutoNum type="arabicPeriod"/>
            </a:pPr>
            <a:r>
              <a:rPr lang="is-IS" altLang="ko-KR" sz="1800" dirty="0">
                <a:ea typeface="MS PGothic" panose="020B0600070205080204" pitchFamily="34" charset="-128"/>
              </a:rPr>
              <a:t>Write it down</a:t>
            </a:r>
          </a:p>
          <a:p>
            <a:pPr marL="1077913" lvl="1" indent="-457200">
              <a:buFont typeface="Arial" panose="020B0604020202020204" pitchFamily="34" charset="0"/>
              <a:buAutoNum type="arabicPeriod"/>
            </a:pPr>
            <a:r>
              <a:rPr lang="is-IS" altLang="ko-KR" sz="1800" dirty="0">
                <a:ea typeface="MS PGothic" panose="020B0600070205080204" pitchFamily="34" charset="-128"/>
              </a:rPr>
              <a:t>Put it back (i.e. </a:t>
            </a:r>
            <a:r>
              <a:rPr lang="en-US" altLang="ko-KR" sz="1800" dirty="0">
                <a:ea typeface="MS PGothic" panose="020B0600070205080204" pitchFamily="34" charset="-128"/>
              </a:rPr>
              <a:t>A</a:t>
            </a:r>
            <a:r>
              <a:rPr lang="is-IS" altLang="ko-KR" sz="1800" dirty="0">
                <a:ea typeface="MS PGothic" panose="020B0600070205080204" pitchFamily="34" charset="-128"/>
              </a:rPr>
              <a:t>ny observation can be selected more than once)</a:t>
            </a:r>
          </a:p>
          <a:p>
            <a:pPr marL="155575" indent="0">
              <a:buFont typeface="Wingdings" panose="05000000000000000000" pitchFamily="2" charset="2"/>
              <a:buNone/>
            </a:pPr>
            <a:r>
              <a:rPr lang="is-IS" altLang="ko-KR" sz="2000" dirty="0"/>
              <a:t>Repeat these steps 1-3 N times; N is the number of observations in the original sample</a:t>
            </a:r>
          </a:p>
          <a:p>
            <a:pPr marL="155575" indent="0">
              <a:buFont typeface="Wingdings" panose="05000000000000000000" pitchFamily="2" charset="2"/>
              <a:buNone/>
            </a:pPr>
            <a:r>
              <a:rPr lang="is-IS" altLang="ko-KR" sz="2000" b="1" dirty="0">
                <a:solidFill>
                  <a:srgbClr val="FF0000"/>
                </a:solidFill>
              </a:rPr>
              <a:t>Final Result: One </a:t>
            </a:r>
            <a:r>
              <a:rPr lang="is-IS" altLang="en-US" sz="2000" b="1" dirty="0">
                <a:solidFill>
                  <a:srgbClr val="FF0000"/>
                </a:solidFill>
                <a:latin typeface="Arial" panose="020B0604020202020204" pitchFamily="34" charset="0"/>
              </a:rPr>
              <a:t>“</a:t>
            </a:r>
            <a:r>
              <a:rPr lang="is-IS" altLang="ko-KR" sz="2000" b="1" dirty="0">
                <a:solidFill>
                  <a:srgbClr val="FF0000"/>
                </a:solidFill>
              </a:rPr>
              <a:t>bootstrap sample</a:t>
            </a:r>
            <a:r>
              <a:rPr lang="is-IS" altLang="en-US" sz="2000" b="1" dirty="0">
                <a:solidFill>
                  <a:srgbClr val="FF0000"/>
                </a:solidFill>
                <a:latin typeface="Arial" panose="020B0604020202020204" pitchFamily="34" charset="0"/>
              </a:rPr>
              <a:t>”</a:t>
            </a:r>
            <a:r>
              <a:rPr lang="is-IS" altLang="ko-KR" sz="2000" b="1" dirty="0">
                <a:solidFill>
                  <a:srgbClr val="FF0000"/>
                </a:solidFill>
              </a:rPr>
              <a:t> with N observations</a:t>
            </a:r>
          </a:p>
          <a:p>
            <a:pPr marL="1077913" lvl="1" indent="-457200">
              <a:buFont typeface="Arial" panose="020B0604020202020204" pitchFamily="34" charset="0"/>
              <a:buAutoNum type="arabicPeriod"/>
            </a:pPr>
            <a:endParaRPr lang="is-IS" altLang="ko-KR" dirty="0">
              <a:ea typeface="굴림" pitchFamily="6" charset="-127"/>
            </a:endParaRPr>
          </a:p>
          <a:p>
            <a:pPr marL="1077913" lvl="1" indent="-457200">
              <a:buFont typeface="Arial" panose="020B0604020202020204" pitchFamily="34" charset="0"/>
              <a:buAutoNum type="arabicPeriod"/>
            </a:pPr>
            <a:endParaRPr lang="is-IS" altLang="ko-KR" dirty="0">
              <a:ea typeface="굴림" pitchFamily="6" charset="-127"/>
            </a:endParaRPr>
          </a:p>
        </p:txBody>
      </p:sp>
      <p:sp>
        <p:nvSpPr>
          <p:cNvPr id="58372" name="Rectangle 1"/>
          <p:cNvSpPr>
            <a:spLocks noChangeArrowheads="1"/>
          </p:cNvSpPr>
          <p:nvPr/>
        </p:nvSpPr>
        <p:spPr bwMode="auto">
          <a:xfrm>
            <a:off x="2362200" y="5943600"/>
            <a:ext cx="2286000" cy="457200"/>
          </a:xfrm>
          <a:prstGeom prst="rect">
            <a:avLst/>
          </a:prstGeom>
          <a:solidFill>
            <a:srgbClr val="BBE0E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lgn="ctr" eaLnBrk="1" hangingPunct="1">
              <a:spcBef>
                <a:spcPct val="0"/>
              </a:spcBef>
              <a:buFontTx/>
              <a:buNone/>
            </a:pPr>
            <a:r>
              <a:rPr lang="en-AU" altLang="ko-KR" sz="2000" b="1">
                <a:ea typeface="굴림" pitchFamily="6" charset="-127"/>
              </a:rPr>
              <a:t>Original Data</a:t>
            </a:r>
          </a:p>
        </p:txBody>
      </p:sp>
      <p:grpSp>
        <p:nvGrpSpPr>
          <p:cNvPr id="58373" name="Group 4"/>
          <p:cNvGrpSpPr>
            <a:grpSpLocks/>
          </p:cNvGrpSpPr>
          <p:nvPr/>
        </p:nvGrpSpPr>
        <p:grpSpPr bwMode="auto">
          <a:xfrm>
            <a:off x="5757863" y="4343400"/>
            <a:ext cx="2776537" cy="304800"/>
            <a:chOff x="5736771" y="4343400"/>
            <a:chExt cx="2775859" cy="304800"/>
          </a:xfrm>
        </p:grpSpPr>
        <p:sp>
          <p:nvSpPr>
            <p:cNvPr id="58409" name="Rectangle 3"/>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Target</a:t>
              </a:r>
            </a:p>
          </p:txBody>
        </p:sp>
        <p:sp>
          <p:nvSpPr>
            <p:cNvPr id="58410" name="Rectangle 7"/>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Age</a:t>
              </a:r>
            </a:p>
          </p:txBody>
        </p:sp>
        <p:sp>
          <p:nvSpPr>
            <p:cNvPr id="58411" name="Rectangle 8"/>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Inquires</a:t>
              </a:r>
            </a:p>
          </p:txBody>
        </p:sp>
      </p:grpSp>
      <p:grpSp>
        <p:nvGrpSpPr>
          <p:cNvPr id="30902" name="Group 13"/>
          <p:cNvGrpSpPr>
            <a:grpSpLocks/>
          </p:cNvGrpSpPr>
          <p:nvPr/>
        </p:nvGrpSpPr>
        <p:grpSpPr bwMode="auto">
          <a:xfrm>
            <a:off x="2044700" y="4343400"/>
            <a:ext cx="2776538" cy="304800"/>
            <a:chOff x="5736771" y="4343400"/>
            <a:chExt cx="2775859" cy="304800"/>
          </a:xfrm>
        </p:grpSpPr>
        <p:sp>
          <p:nvSpPr>
            <p:cNvPr id="58406" name="Rectangle 14"/>
            <p:cNvSpPr>
              <a:spLocks noChangeArrowheads="1"/>
            </p:cNvSpPr>
            <p:nvPr/>
          </p:nvSpPr>
          <p:spPr bwMode="auto">
            <a:xfrm>
              <a:off x="5736771" y="4343400"/>
              <a:ext cx="914176"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407" name="Rectangle 15"/>
            <p:cNvSpPr>
              <a:spLocks noChangeArrowheads="1"/>
            </p:cNvSpPr>
            <p:nvPr/>
          </p:nvSpPr>
          <p:spPr bwMode="auto">
            <a:xfrm>
              <a:off x="6650947"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48</a:t>
              </a:r>
            </a:p>
          </p:txBody>
        </p:sp>
        <p:sp>
          <p:nvSpPr>
            <p:cNvPr id="58408" name="Rectangle 16"/>
            <p:cNvSpPr>
              <a:spLocks noChangeArrowheads="1"/>
            </p:cNvSpPr>
            <p:nvPr/>
          </p:nvSpPr>
          <p:spPr bwMode="auto">
            <a:xfrm>
              <a:off x="7315948" y="4343400"/>
              <a:ext cx="1196682"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a:t>
              </a:r>
            </a:p>
          </p:txBody>
        </p:sp>
      </p:grpSp>
      <p:grpSp>
        <p:nvGrpSpPr>
          <p:cNvPr id="30906" name="Group 21"/>
          <p:cNvGrpSpPr>
            <a:grpSpLocks/>
          </p:cNvGrpSpPr>
          <p:nvPr/>
        </p:nvGrpSpPr>
        <p:grpSpPr bwMode="auto">
          <a:xfrm>
            <a:off x="5757863" y="4724400"/>
            <a:ext cx="2776537" cy="304800"/>
            <a:chOff x="5736771" y="4343400"/>
            <a:chExt cx="2775859" cy="304800"/>
          </a:xfrm>
        </p:grpSpPr>
        <p:sp>
          <p:nvSpPr>
            <p:cNvPr id="58403" name="Rectangle 22"/>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404" name="Rectangle 23"/>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48</a:t>
              </a:r>
            </a:p>
          </p:txBody>
        </p:sp>
        <p:sp>
          <p:nvSpPr>
            <p:cNvPr id="58405" name="Rectangle 24"/>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a:t>
              </a:r>
            </a:p>
          </p:txBody>
        </p:sp>
      </p:grpSp>
      <p:grpSp>
        <p:nvGrpSpPr>
          <p:cNvPr id="30910" name="Group 33"/>
          <p:cNvGrpSpPr>
            <a:grpSpLocks/>
          </p:cNvGrpSpPr>
          <p:nvPr/>
        </p:nvGrpSpPr>
        <p:grpSpPr bwMode="auto">
          <a:xfrm>
            <a:off x="2052638" y="4343400"/>
            <a:ext cx="2776537" cy="304800"/>
            <a:chOff x="5736771" y="4343400"/>
            <a:chExt cx="2775859" cy="304800"/>
          </a:xfrm>
        </p:grpSpPr>
        <p:sp>
          <p:nvSpPr>
            <p:cNvPr id="58400" name="Rectangle 34"/>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401" name="Rectangle 35"/>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37</a:t>
              </a:r>
            </a:p>
          </p:txBody>
        </p:sp>
        <p:sp>
          <p:nvSpPr>
            <p:cNvPr id="58402" name="Rectangle 36"/>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1</a:t>
              </a:r>
            </a:p>
          </p:txBody>
        </p:sp>
      </p:grpSp>
      <p:grpSp>
        <p:nvGrpSpPr>
          <p:cNvPr id="30914" name="Group 37"/>
          <p:cNvGrpSpPr>
            <a:grpSpLocks/>
          </p:cNvGrpSpPr>
          <p:nvPr/>
        </p:nvGrpSpPr>
        <p:grpSpPr bwMode="auto">
          <a:xfrm>
            <a:off x="5757863" y="5029200"/>
            <a:ext cx="2776537" cy="304800"/>
            <a:chOff x="5736771" y="4343400"/>
            <a:chExt cx="2775859" cy="304800"/>
          </a:xfrm>
        </p:grpSpPr>
        <p:sp>
          <p:nvSpPr>
            <p:cNvPr id="58397" name="Rectangle 38"/>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398" name="Rectangle 39"/>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37</a:t>
              </a:r>
            </a:p>
          </p:txBody>
        </p:sp>
        <p:sp>
          <p:nvSpPr>
            <p:cNvPr id="58399" name="Rectangle 40"/>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1</a:t>
              </a:r>
            </a:p>
          </p:txBody>
        </p:sp>
      </p:grpSp>
      <p:grpSp>
        <p:nvGrpSpPr>
          <p:cNvPr id="30918" name="Group 41"/>
          <p:cNvGrpSpPr>
            <a:grpSpLocks/>
          </p:cNvGrpSpPr>
          <p:nvPr/>
        </p:nvGrpSpPr>
        <p:grpSpPr bwMode="auto">
          <a:xfrm>
            <a:off x="2052638" y="4352925"/>
            <a:ext cx="2776537" cy="304800"/>
            <a:chOff x="5736771" y="4343400"/>
            <a:chExt cx="2775859" cy="304800"/>
          </a:xfrm>
        </p:grpSpPr>
        <p:sp>
          <p:nvSpPr>
            <p:cNvPr id="58394" name="Rectangle 42"/>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395" name="Rectangle 43"/>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37</a:t>
              </a:r>
            </a:p>
          </p:txBody>
        </p:sp>
        <p:sp>
          <p:nvSpPr>
            <p:cNvPr id="58396" name="Rectangle 44"/>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1</a:t>
              </a:r>
            </a:p>
          </p:txBody>
        </p:sp>
      </p:grpSp>
      <p:grpSp>
        <p:nvGrpSpPr>
          <p:cNvPr id="30922" name="Group 45"/>
          <p:cNvGrpSpPr>
            <a:grpSpLocks/>
          </p:cNvGrpSpPr>
          <p:nvPr/>
        </p:nvGrpSpPr>
        <p:grpSpPr bwMode="auto">
          <a:xfrm>
            <a:off x="5757863" y="5334000"/>
            <a:ext cx="2776537" cy="304800"/>
            <a:chOff x="5736771" y="4343400"/>
            <a:chExt cx="2775859" cy="304800"/>
          </a:xfrm>
        </p:grpSpPr>
        <p:sp>
          <p:nvSpPr>
            <p:cNvPr id="58391" name="Rectangle 46"/>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392" name="Rectangle 47"/>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37</a:t>
              </a:r>
            </a:p>
          </p:txBody>
        </p:sp>
        <p:sp>
          <p:nvSpPr>
            <p:cNvPr id="58393" name="Rectangle 48"/>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1</a:t>
              </a:r>
            </a:p>
          </p:txBody>
        </p:sp>
      </p:grpSp>
      <p:sp>
        <p:nvSpPr>
          <p:cNvPr id="30926" name="TextBox 5"/>
          <p:cNvSpPr>
            <a:spLocks noChangeArrowheads="1"/>
          </p:cNvSpPr>
          <p:nvPr/>
        </p:nvSpPr>
        <p:spPr bwMode="auto">
          <a:xfrm>
            <a:off x="6672263" y="5638800"/>
            <a:ext cx="663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is-IS" altLang="ko-KR" sz="1600">
                <a:latin typeface="Arial" panose="020B0604020202020204" pitchFamily="34" charset="0"/>
                <a:ea typeface="굴림" pitchFamily="6" charset="-127"/>
              </a:rPr>
              <a:t>…</a:t>
            </a:r>
            <a:endParaRPr lang="is-IS" altLang="ko-KR" sz="1600">
              <a:ea typeface="굴림" pitchFamily="6" charset="-127"/>
            </a:endParaRPr>
          </a:p>
        </p:txBody>
      </p:sp>
      <p:grpSp>
        <p:nvGrpSpPr>
          <p:cNvPr id="30927" name="Group 54"/>
          <p:cNvGrpSpPr>
            <a:grpSpLocks/>
          </p:cNvGrpSpPr>
          <p:nvPr/>
        </p:nvGrpSpPr>
        <p:grpSpPr bwMode="auto">
          <a:xfrm>
            <a:off x="2044700" y="4343400"/>
            <a:ext cx="2776538" cy="304800"/>
            <a:chOff x="5736771" y="4343400"/>
            <a:chExt cx="2775859" cy="304800"/>
          </a:xfrm>
        </p:grpSpPr>
        <p:sp>
          <p:nvSpPr>
            <p:cNvPr id="58388" name="Rectangle 55"/>
            <p:cNvSpPr>
              <a:spLocks noChangeArrowheads="1"/>
            </p:cNvSpPr>
            <p:nvPr/>
          </p:nvSpPr>
          <p:spPr bwMode="auto">
            <a:xfrm>
              <a:off x="5736771" y="4343400"/>
              <a:ext cx="914176"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389" name="Rectangle 56"/>
            <p:cNvSpPr>
              <a:spLocks noChangeArrowheads="1"/>
            </p:cNvSpPr>
            <p:nvPr/>
          </p:nvSpPr>
          <p:spPr bwMode="auto">
            <a:xfrm>
              <a:off x="6650947"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24</a:t>
              </a:r>
            </a:p>
          </p:txBody>
        </p:sp>
        <p:sp>
          <p:nvSpPr>
            <p:cNvPr id="58390" name="Rectangle 57"/>
            <p:cNvSpPr>
              <a:spLocks noChangeArrowheads="1"/>
            </p:cNvSpPr>
            <p:nvPr/>
          </p:nvSpPr>
          <p:spPr bwMode="auto">
            <a:xfrm>
              <a:off x="7315948" y="4343400"/>
              <a:ext cx="1196682"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5</a:t>
              </a:r>
            </a:p>
          </p:txBody>
        </p:sp>
      </p:grpSp>
      <p:grpSp>
        <p:nvGrpSpPr>
          <p:cNvPr id="30931" name="Group 58"/>
          <p:cNvGrpSpPr>
            <a:grpSpLocks/>
          </p:cNvGrpSpPr>
          <p:nvPr/>
        </p:nvGrpSpPr>
        <p:grpSpPr bwMode="auto">
          <a:xfrm>
            <a:off x="5757863" y="5926138"/>
            <a:ext cx="2776537" cy="304800"/>
            <a:chOff x="5736771" y="4343400"/>
            <a:chExt cx="2775859" cy="304800"/>
          </a:xfrm>
        </p:grpSpPr>
        <p:sp>
          <p:nvSpPr>
            <p:cNvPr id="58385" name="Rectangle 59"/>
            <p:cNvSpPr>
              <a:spLocks noChangeArrowheads="1"/>
            </p:cNvSpPr>
            <p:nvPr/>
          </p:nvSpPr>
          <p:spPr bwMode="auto">
            <a:xfrm>
              <a:off x="5736771" y="4343400"/>
              <a:ext cx="914177"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0</a:t>
              </a:r>
            </a:p>
          </p:txBody>
        </p:sp>
        <p:sp>
          <p:nvSpPr>
            <p:cNvPr id="58386" name="Rectangle 60"/>
            <p:cNvSpPr>
              <a:spLocks noChangeArrowheads="1"/>
            </p:cNvSpPr>
            <p:nvPr/>
          </p:nvSpPr>
          <p:spPr bwMode="auto">
            <a:xfrm>
              <a:off x="6650948" y="4343400"/>
              <a:ext cx="665000"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24</a:t>
              </a:r>
            </a:p>
          </p:txBody>
        </p:sp>
        <p:sp>
          <p:nvSpPr>
            <p:cNvPr id="58387" name="Rectangle 61"/>
            <p:cNvSpPr>
              <a:spLocks noChangeArrowheads="1"/>
            </p:cNvSpPr>
            <p:nvPr/>
          </p:nvSpPr>
          <p:spPr bwMode="auto">
            <a:xfrm>
              <a:off x="7315947" y="4343400"/>
              <a:ext cx="1196683" cy="304800"/>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eaLnBrk="1" hangingPunct="1">
                <a:spcBef>
                  <a:spcPct val="0"/>
                </a:spcBef>
                <a:buFontTx/>
                <a:buNone/>
              </a:pPr>
              <a:r>
                <a:rPr lang="en-AU" altLang="ko-KR" sz="1600">
                  <a:ea typeface="굴림" pitchFamily="6" charset="-127"/>
                </a:rPr>
                <a:t>5</a:t>
              </a:r>
            </a:p>
          </p:txBody>
        </p:sp>
      </p:grpSp>
      <p:sp>
        <p:nvSpPr>
          <p:cNvPr id="30935" name="Freeform 6">
            <a:extLst>
              <a:ext uri="{FF2B5EF4-FFF2-40B4-BE49-F238E27FC236}">
                <a16:creationId xmlns:a16="http://schemas.microsoft.com/office/drawing/2014/main" id="{ED2F3CDF-F3AA-F34F-A3F5-40B18436B3F9}"/>
              </a:ext>
            </a:extLst>
          </p:cNvPr>
          <p:cNvSpPr>
            <a:spLocks/>
          </p:cNvSpPr>
          <p:nvPr/>
        </p:nvSpPr>
        <p:spPr bwMode="auto">
          <a:xfrm>
            <a:off x="8669338" y="4398963"/>
            <a:ext cx="169862" cy="1804987"/>
          </a:xfrm>
          <a:custGeom>
            <a:avLst/>
            <a:gdLst>
              <a:gd name="T0" fmla="*/ 0 w 289462"/>
              <a:gd name="T1" fmla="*/ 0 h 1805650"/>
              <a:gd name="T2" fmla="*/ 169806 w 289462"/>
              <a:gd name="T3" fmla="*/ 879353 h 1805650"/>
              <a:gd name="T4" fmla="*/ 20377 w 289462"/>
              <a:gd name="T5" fmla="*/ 1804987 h 1805650"/>
              <a:gd name="T6" fmla="*/ 0 60000 65536"/>
              <a:gd name="T7" fmla="*/ 0 60000 65536"/>
              <a:gd name="T8" fmla="*/ 0 60000 65536"/>
            </a:gdLst>
            <a:ahLst/>
            <a:cxnLst>
              <a:cxn ang="T6">
                <a:pos x="T0" y="T1"/>
              </a:cxn>
              <a:cxn ang="T7">
                <a:pos x="T2" y="T3"/>
              </a:cxn>
              <a:cxn ang="T8">
                <a:pos x="T4" y="T5"/>
              </a:cxn>
            </a:cxnLst>
            <a:rect l="0" t="0" r="r" b="b"/>
            <a:pathLst>
              <a:path w="289462" h="1805650">
                <a:moveTo>
                  <a:pt x="0" y="0"/>
                </a:moveTo>
                <a:cubicBezTo>
                  <a:pt x="141790" y="289367"/>
                  <a:pt x="283580" y="578734"/>
                  <a:pt x="289367" y="879676"/>
                </a:cubicBezTo>
                <a:cubicBezTo>
                  <a:pt x="295154" y="1180618"/>
                  <a:pt x="34724" y="1805650"/>
                  <a:pt x="34724" y="1805650"/>
                </a:cubicBezTo>
              </a:path>
            </a:pathLst>
          </a:custGeom>
          <a:noFill/>
          <a:ln w="2540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lstStyle/>
          <a:p>
            <a:pPr eaLnBrk="1" hangingPunct="1">
              <a:defRPr/>
            </a:pPr>
            <a:endParaRPr lang="en-US">
              <a:ea typeface="굴림" panose="020B0600000101010101" pitchFamily="34" charset="-127"/>
            </a:endParaRPr>
          </a:p>
        </p:txBody>
      </p:sp>
      <p:sp>
        <p:nvSpPr>
          <p:cNvPr id="30936" name="TextBox 10"/>
          <p:cNvSpPr>
            <a:spLocks noChangeArrowheads="1"/>
          </p:cNvSpPr>
          <p:nvPr/>
        </p:nvSpPr>
        <p:spPr bwMode="auto">
          <a:xfrm>
            <a:off x="8605838" y="4005263"/>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600">
                <a:ea typeface="굴림" pitchFamily="6" charset="-127"/>
              </a:rPr>
              <a:t>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0896">
                                            <p:txEl>
                                              <p:pRg st="1" end="1"/>
                                            </p:txEl>
                                          </p:spTgt>
                                        </p:tgtEl>
                                        <p:attrNameLst>
                                          <p:attrName>style.visibility</p:attrName>
                                        </p:attrNameLst>
                                      </p:cBhvr>
                                      <p:to>
                                        <p:strVal val="visible"/>
                                      </p:to>
                                    </p:set>
                                    <p:anim calcmode="lin" valueType="num">
                                      <p:cBhvr>
                                        <p:cTn id="7" dur="500" fill="hold"/>
                                        <p:tgtEl>
                                          <p:spTgt spid="3089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0896">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902"/>
                                        </p:tgtEl>
                                        <p:attrNameLst>
                                          <p:attrName>style.visibility</p:attrName>
                                        </p:attrNameLst>
                                      </p:cBhvr>
                                      <p:to>
                                        <p:strVal val="visible"/>
                                      </p:to>
                                    </p:set>
                                    <p:anim calcmode="lin" valueType="num">
                                      <p:cBhvr additive="base">
                                        <p:cTn id="13" dur="500" fill="hold"/>
                                        <p:tgtEl>
                                          <p:spTgt spid="30902"/>
                                        </p:tgtEl>
                                        <p:attrNameLst>
                                          <p:attrName>ppt_x</p:attrName>
                                        </p:attrNameLst>
                                      </p:cBhvr>
                                      <p:tavLst>
                                        <p:tav tm="0">
                                          <p:val>
                                            <p:strVal val="#ppt_x"/>
                                          </p:val>
                                        </p:tav>
                                        <p:tav tm="100000">
                                          <p:val>
                                            <p:strVal val="#ppt_x"/>
                                          </p:val>
                                        </p:tav>
                                      </p:tavLst>
                                    </p:anim>
                                    <p:anim calcmode="lin" valueType="num">
                                      <p:cBhvr additive="base">
                                        <p:cTn id="14" dur="500" fill="hold"/>
                                        <p:tgtEl>
                                          <p:spTgt spid="3090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30896">
                                            <p:txEl>
                                              <p:pRg st="2" end="2"/>
                                            </p:txEl>
                                          </p:spTgt>
                                        </p:tgtEl>
                                        <p:attrNameLst>
                                          <p:attrName>style.visibility</p:attrName>
                                        </p:attrNameLst>
                                      </p:cBhvr>
                                      <p:to>
                                        <p:strVal val="visible"/>
                                      </p:to>
                                    </p:set>
                                    <p:anim calcmode="lin" valueType="num">
                                      <p:cBhvr>
                                        <p:cTn id="19" dur="500" fill="hold"/>
                                        <p:tgtEl>
                                          <p:spTgt spid="30896">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0896">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30906"/>
                                        </p:tgtEl>
                                        <p:attrNameLst>
                                          <p:attrName>style.visibility</p:attrName>
                                        </p:attrNameLst>
                                      </p:cBhvr>
                                      <p:to>
                                        <p:strVal val="visible"/>
                                      </p:to>
                                    </p:set>
                                    <p:anim calcmode="lin" valueType="num">
                                      <p:cBhvr>
                                        <p:cTn id="25" dur="500" fill="hold"/>
                                        <p:tgtEl>
                                          <p:spTgt spid="30906"/>
                                        </p:tgtEl>
                                        <p:attrNameLst>
                                          <p:attrName>ppt_w</p:attrName>
                                        </p:attrNameLst>
                                      </p:cBhvr>
                                      <p:tavLst>
                                        <p:tav tm="0">
                                          <p:val>
                                            <p:fltVal val="0"/>
                                          </p:val>
                                        </p:tav>
                                        <p:tav tm="100000">
                                          <p:val>
                                            <p:strVal val="#ppt_w"/>
                                          </p:val>
                                        </p:tav>
                                      </p:tavLst>
                                    </p:anim>
                                    <p:anim calcmode="lin" valueType="num">
                                      <p:cBhvr>
                                        <p:cTn id="26" dur="500" fill="hold"/>
                                        <p:tgtEl>
                                          <p:spTgt spid="30906"/>
                                        </p:tgtEl>
                                        <p:attrNameLst>
                                          <p:attrName>ppt_h</p:attrName>
                                        </p:attrNameLst>
                                      </p:cBhvr>
                                      <p:tavLst>
                                        <p:tav tm="0">
                                          <p:val>
                                            <p:fltVal val="0"/>
                                          </p:val>
                                        </p:tav>
                                        <p:tav tm="100000">
                                          <p:val>
                                            <p:strVal val="#ppt_h"/>
                                          </p:val>
                                        </p:tav>
                                      </p:tavLst>
                                    </p:anim>
                                  </p:childTnLst>
                                </p:cTn>
                              </p:par>
                              <p:par>
                                <p:cTn id="27" presetID="42" presetClass="path" presetSubtype="0" accel="50000" decel="50000" fill="hold" nodeType="withEffect">
                                  <p:stCondLst>
                                    <p:cond delay="0"/>
                                  </p:stCondLst>
                                  <p:childTnLst>
                                    <p:animMotion origin="layout" path="M -0.40642 -0.05555 L -3.61111E-06 -1.11111E-06">
                                      <p:cBhvr>
                                        <p:cTn id="28" dur="2000" fill="hold"/>
                                        <p:tgtEl>
                                          <p:spTgt spid="30906"/>
                                        </p:tgtEl>
                                        <p:attrNameLst>
                                          <p:attrName>ppt_x</p:attrName>
                                          <p:attrName>ppt_y</p:attrName>
                                        </p:attrNameLst>
                                      </p:cBhvr>
                                    </p:animMotion>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30896">
                                            <p:txEl>
                                              <p:pRg st="3" end="3"/>
                                            </p:txEl>
                                          </p:spTgt>
                                        </p:tgtEl>
                                        <p:attrNameLst>
                                          <p:attrName>style.visibility</p:attrName>
                                        </p:attrNameLst>
                                      </p:cBhvr>
                                      <p:to>
                                        <p:strVal val="visible"/>
                                      </p:to>
                                    </p:set>
                                    <p:anim calcmode="lin" valueType="num">
                                      <p:cBhvr>
                                        <p:cTn id="33" dur="500" fill="hold"/>
                                        <p:tgtEl>
                                          <p:spTgt spid="30896">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0896">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xit" presetSubtype="4" fill="hold" nodeType="clickEffect">
                                  <p:stCondLst>
                                    <p:cond delay="0"/>
                                  </p:stCondLst>
                                  <p:childTnLst>
                                    <p:anim calcmode="lin" valueType="num">
                                      <p:cBhvr additive="base">
                                        <p:cTn id="38" dur="500"/>
                                        <p:tgtEl>
                                          <p:spTgt spid="30902"/>
                                        </p:tgtEl>
                                        <p:attrNameLst>
                                          <p:attrName>ppt_x</p:attrName>
                                        </p:attrNameLst>
                                      </p:cBhvr>
                                      <p:tavLst>
                                        <p:tav tm="0">
                                          <p:val>
                                            <p:strVal val="ppt_x"/>
                                          </p:val>
                                        </p:tav>
                                        <p:tav tm="100000">
                                          <p:val>
                                            <p:strVal val="ppt_x"/>
                                          </p:val>
                                        </p:tav>
                                      </p:tavLst>
                                    </p:anim>
                                    <p:anim calcmode="lin" valueType="num">
                                      <p:cBhvr additive="base">
                                        <p:cTn id="39" dur="500"/>
                                        <p:tgtEl>
                                          <p:spTgt spid="30902"/>
                                        </p:tgtEl>
                                        <p:attrNameLst>
                                          <p:attrName>ppt_y</p:attrName>
                                        </p:attrNameLst>
                                      </p:cBhvr>
                                      <p:tavLst>
                                        <p:tav tm="0">
                                          <p:val>
                                            <p:strVal val="ppt_y"/>
                                          </p:val>
                                        </p:tav>
                                        <p:tav tm="100000">
                                          <p:val>
                                            <p:strVal val="1+ppt_h/2"/>
                                          </p:val>
                                        </p:tav>
                                      </p:tavLst>
                                    </p:anim>
                                    <p:set>
                                      <p:cBhvr>
                                        <p:cTn id="40" dur="1" fill="hold">
                                          <p:stCondLst>
                                            <p:cond delay="499"/>
                                          </p:stCondLst>
                                        </p:cTn>
                                        <p:tgtEl>
                                          <p:spTgt spid="30902"/>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nodeType="clickEffect">
                                  <p:stCondLst>
                                    <p:cond delay="0"/>
                                  </p:stCondLst>
                                  <p:childTnLst>
                                    <p:set>
                                      <p:cBhvr>
                                        <p:cTn id="44" dur="1" fill="hold">
                                          <p:stCondLst>
                                            <p:cond delay="0"/>
                                          </p:stCondLst>
                                        </p:cTn>
                                        <p:tgtEl>
                                          <p:spTgt spid="30896">
                                            <p:txEl>
                                              <p:pRg st="4" end="4"/>
                                            </p:txEl>
                                          </p:spTgt>
                                        </p:tgtEl>
                                        <p:attrNameLst>
                                          <p:attrName>style.visibility</p:attrName>
                                        </p:attrNameLst>
                                      </p:cBhvr>
                                      <p:to>
                                        <p:strVal val="visible"/>
                                      </p:to>
                                    </p:set>
                                    <p:anim calcmode="lin" valueType="num">
                                      <p:cBhvr>
                                        <p:cTn id="45" dur="500" fill="hold"/>
                                        <p:tgtEl>
                                          <p:spTgt spid="30896">
                                            <p:txEl>
                                              <p:pRg st="4" end="4"/>
                                            </p:txEl>
                                          </p:spTgt>
                                        </p:tgtEl>
                                        <p:attrNameLst>
                                          <p:attrName>ppt_w</p:attrName>
                                        </p:attrNameLst>
                                      </p:cBhvr>
                                      <p:tavLst>
                                        <p:tav tm="0">
                                          <p:val>
                                            <p:fltVal val="0"/>
                                          </p:val>
                                        </p:tav>
                                        <p:tav tm="100000">
                                          <p:val>
                                            <p:strVal val="#ppt_w"/>
                                          </p:val>
                                        </p:tav>
                                      </p:tavLst>
                                    </p:anim>
                                    <p:anim calcmode="lin" valueType="num">
                                      <p:cBhvr>
                                        <p:cTn id="46" dur="500" fill="hold"/>
                                        <p:tgtEl>
                                          <p:spTgt spid="30896">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30910"/>
                                        </p:tgtEl>
                                        <p:attrNameLst>
                                          <p:attrName>style.visibility</p:attrName>
                                        </p:attrNameLst>
                                      </p:cBhvr>
                                      <p:to>
                                        <p:strVal val="visible"/>
                                      </p:to>
                                    </p:set>
                                    <p:anim calcmode="lin" valueType="num">
                                      <p:cBhvr additive="base">
                                        <p:cTn id="51" dur="500" fill="hold"/>
                                        <p:tgtEl>
                                          <p:spTgt spid="30910"/>
                                        </p:tgtEl>
                                        <p:attrNameLst>
                                          <p:attrName>ppt_x</p:attrName>
                                        </p:attrNameLst>
                                      </p:cBhvr>
                                      <p:tavLst>
                                        <p:tav tm="0">
                                          <p:val>
                                            <p:strVal val="#ppt_x"/>
                                          </p:val>
                                        </p:tav>
                                        <p:tav tm="100000">
                                          <p:val>
                                            <p:strVal val="#ppt_x"/>
                                          </p:val>
                                        </p:tav>
                                      </p:tavLst>
                                    </p:anim>
                                    <p:anim calcmode="lin" valueType="num">
                                      <p:cBhvr additive="base">
                                        <p:cTn id="52" dur="500" fill="hold"/>
                                        <p:tgtEl>
                                          <p:spTgt spid="30910"/>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30914"/>
                                        </p:tgtEl>
                                        <p:attrNameLst>
                                          <p:attrName>style.visibility</p:attrName>
                                        </p:attrNameLst>
                                      </p:cBhvr>
                                      <p:to>
                                        <p:strVal val="visible"/>
                                      </p:to>
                                    </p:set>
                                    <p:anim calcmode="lin" valueType="num">
                                      <p:cBhvr>
                                        <p:cTn id="57" dur="500" fill="hold"/>
                                        <p:tgtEl>
                                          <p:spTgt spid="30914"/>
                                        </p:tgtEl>
                                        <p:attrNameLst>
                                          <p:attrName>ppt_w</p:attrName>
                                        </p:attrNameLst>
                                      </p:cBhvr>
                                      <p:tavLst>
                                        <p:tav tm="0">
                                          <p:val>
                                            <p:fltVal val="0"/>
                                          </p:val>
                                        </p:tav>
                                        <p:tav tm="100000">
                                          <p:val>
                                            <p:strVal val="#ppt_w"/>
                                          </p:val>
                                        </p:tav>
                                      </p:tavLst>
                                    </p:anim>
                                    <p:anim calcmode="lin" valueType="num">
                                      <p:cBhvr>
                                        <p:cTn id="58" dur="500" fill="hold"/>
                                        <p:tgtEl>
                                          <p:spTgt spid="30914"/>
                                        </p:tgtEl>
                                        <p:attrNameLst>
                                          <p:attrName>ppt_h</p:attrName>
                                        </p:attrNameLst>
                                      </p:cBhvr>
                                      <p:tavLst>
                                        <p:tav tm="0">
                                          <p:val>
                                            <p:fltVal val="0"/>
                                          </p:val>
                                        </p:tav>
                                        <p:tav tm="100000">
                                          <p:val>
                                            <p:strVal val="#ppt_h"/>
                                          </p:val>
                                        </p:tav>
                                      </p:tavLst>
                                    </p:anim>
                                  </p:childTnLst>
                                </p:cTn>
                              </p:par>
                              <p:par>
                                <p:cTn id="59" presetID="42" presetClass="path" presetSubtype="0" accel="50000" decel="50000" fill="hold" nodeType="withEffect">
                                  <p:stCondLst>
                                    <p:cond delay="0"/>
                                  </p:stCondLst>
                                  <p:childTnLst>
                                    <p:animMotion origin="layout" path="M -0.40642 -0.1 L -3.61111E-06 4.44444E-06">
                                      <p:cBhvr>
                                        <p:cTn id="60" dur="2000" fill="hold"/>
                                        <p:tgtEl>
                                          <p:spTgt spid="30914"/>
                                        </p:tgtEl>
                                        <p:attrNameLst>
                                          <p:attrName>ppt_x</p:attrName>
                                          <p:attrName>ppt_y</p:attrName>
                                        </p:attrNameLst>
                                      </p:cBhvr>
                                    </p:animMotion>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xit" presetSubtype="4" fill="hold" nodeType="clickEffect">
                                  <p:stCondLst>
                                    <p:cond delay="0"/>
                                  </p:stCondLst>
                                  <p:childTnLst>
                                    <p:anim calcmode="lin" valueType="num">
                                      <p:cBhvr additive="base">
                                        <p:cTn id="64" dur="500"/>
                                        <p:tgtEl>
                                          <p:spTgt spid="30910"/>
                                        </p:tgtEl>
                                        <p:attrNameLst>
                                          <p:attrName>ppt_x</p:attrName>
                                        </p:attrNameLst>
                                      </p:cBhvr>
                                      <p:tavLst>
                                        <p:tav tm="0">
                                          <p:val>
                                            <p:strVal val="ppt_x"/>
                                          </p:val>
                                        </p:tav>
                                        <p:tav tm="100000">
                                          <p:val>
                                            <p:strVal val="ppt_x"/>
                                          </p:val>
                                        </p:tav>
                                      </p:tavLst>
                                    </p:anim>
                                    <p:anim calcmode="lin" valueType="num">
                                      <p:cBhvr additive="base">
                                        <p:cTn id="65" dur="500"/>
                                        <p:tgtEl>
                                          <p:spTgt spid="30910"/>
                                        </p:tgtEl>
                                        <p:attrNameLst>
                                          <p:attrName>ppt_y</p:attrName>
                                        </p:attrNameLst>
                                      </p:cBhvr>
                                      <p:tavLst>
                                        <p:tav tm="0">
                                          <p:val>
                                            <p:strVal val="ppt_y"/>
                                          </p:val>
                                        </p:tav>
                                        <p:tav tm="100000">
                                          <p:val>
                                            <p:strVal val="1+ppt_h/2"/>
                                          </p:val>
                                        </p:tav>
                                      </p:tavLst>
                                    </p:anim>
                                    <p:set>
                                      <p:cBhvr>
                                        <p:cTn id="66" dur="1" fill="hold">
                                          <p:stCondLst>
                                            <p:cond delay="499"/>
                                          </p:stCondLst>
                                        </p:cTn>
                                        <p:tgtEl>
                                          <p:spTgt spid="30910"/>
                                        </p:tgtEl>
                                        <p:attrNameLst>
                                          <p:attrName>style.visibility</p:attrName>
                                        </p:attrNameLst>
                                      </p:cBhvr>
                                      <p:to>
                                        <p:strVal val="hidden"/>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30918"/>
                                        </p:tgtEl>
                                        <p:attrNameLst>
                                          <p:attrName>style.visibility</p:attrName>
                                        </p:attrNameLst>
                                      </p:cBhvr>
                                      <p:to>
                                        <p:strVal val="visible"/>
                                      </p:to>
                                    </p:set>
                                    <p:anim calcmode="lin" valueType="num">
                                      <p:cBhvr additive="base">
                                        <p:cTn id="71" dur="500" fill="hold"/>
                                        <p:tgtEl>
                                          <p:spTgt spid="30918"/>
                                        </p:tgtEl>
                                        <p:attrNameLst>
                                          <p:attrName>ppt_x</p:attrName>
                                        </p:attrNameLst>
                                      </p:cBhvr>
                                      <p:tavLst>
                                        <p:tav tm="0">
                                          <p:val>
                                            <p:strVal val="#ppt_x"/>
                                          </p:val>
                                        </p:tav>
                                        <p:tav tm="100000">
                                          <p:val>
                                            <p:strVal val="#ppt_x"/>
                                          </p:val>
                                        </p:tav>
                                      </p:tavLst>
                                    </p:anim>
                                    <p:anim calcmode="lin" valueType="num">
                                      <p:cBhvr additive="base">
                                        <p:cTn id="72" dur="500" fill="hold"/>
                                        <p:tgtEl>
                                          <p:spTgt spid="30918"/>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nodeType="clickEffect">
                                  <p:stCondLst>
                                    <p:cond delay="0"/>
                                  </p:stCondLst>
                                  <p:childTnLst>
                                    <p:set>
                                      <p:cBhvr>
                                        <p:cTn id="76" dur="1" fill="hold">
                                          <p:stCondLst>
                                            <p:cond delay="0"/>
                                          </p:stCondLst>
                                        </p:cTn>
                                        <p:tgtEl>
                                          <p:spTgt spid="30922"/>
                                        </p:tgtEl>
                                        <p:attrNameLst>
                                          <p:attrName>style.visibility</p:attrName>
                                        </p:attrNameLst>
                                      </p:cBhvr>
                                      <p:to>
                                        <p:strVal val="visible"/>
                                      </p:to>
                                    </p:set>
                                    <p:anim calcmode="lin" valueType="num">
                                      <p:cBhvr>
                                        <p:cTn id="77" dur="500" fill="hold"/>
                                        <p:tgtEl>
                                          <p:spTgt spid="30922"/>
                                        </p:tgtEl>
                                        <p:attrNameLst>
                                          <p:attrName>ppt_w</p:attrName>
                                        </p:attrNameLst>
                                      </p:cBhvr>
                                      <p:tavLst>
                                        <p:tav tm="0">
                                          <p:val>
                                            <p:fltVal val="0"/>
                                          </p:val>
                                        </p:tav>
                                        <p:tav tm="100000">
                                          <p:val>
                                            <p:strVal val="#ppt_w"/>
                                          </p:val>
                                        </p:tav>
                                      </p:tavLst>
                                    </p:anim>
                                    <p:anim calcmode="lin" valueType="num">
                                      <p:cBhvr>
                                        <p:cTn id="78" dur="500" fill="hold"/>
                                        <p:tgtEl>
                                          <p:spTgt spid="30922"/>
                                        </p:tgtEl>
                                        <p:attrNameLst>
                                          <p:attrName>ppt_h</p:attrName>
                                        </p:attrNameLst>
                                      </p:cBhvr>
                                      <p:tavLst>
                                        <p:tav tm="0">
                                          <p:val>
                                            <p:fltVal val="0"/>
                                          </p:val>
                                        </p:tav>
                                        <p:tav tm="100000">
                                          <p:val>
                                            <p:strVal val="#ppt_h"/>
                                          </p:val>
                                        </p:tav>
                                      </p:tavLst>
                                    </p:anim>
                                  </p:childTnLst>
                                </p:cTn>
                              </p:par>
                              <p:par>
                                <p:cTn id="79" presetID="42" presetClass="path" presetSubtype="0" accel="50000" decel="50000" fill="hold" nodeType="withEffect">
                                  <p:stCondLst>
                                    <p:cond delay="0"/>
                                  </p:stCondLst>
                                  <p:childTnLst>
                                    <p:animMotion origin="layout" path="M -0.40642 -0.13333 L -3.61111E-06 0">
                                      <p:cBhvr>
                                        <p:cTn id="80" dur="2000" fill="hold"/>
                                        <p:tgtEl>
                                          <p:spTgt spid="30922"/>
                                        </p:tgtEl>
                                        <p:attrNameLst>
                                          <p:attrName>ppt_x</p:attrName>
                                          <p:attrName>ppt_y</p:attrName>
                                        </p:attrNameLst>
                                      </p:cBhvr>
                                    </p:animMotion>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xit" presetSubtype="4" fill="hold" nodeType="clickEffect">
                                  <p:stCondLst>
                                    <p:cond delay="0"/>
                                  </p:stCondLst>
                                  <p:childTnLst>
                                    <p:anim calcmode="lin" valueType="num">
                                      <p:cBhvr additive="base">
                                        <p:cTn id="84" dur="500"/>
                                        <p:tgtEl>
                                          <p:spTgt spid="30918"/>
                                        </p:tgtEl>
                                        <p:attrNameLst>
                                          <p:attrName>ppt_x</p:attrName>
                                        </p:attrNameLst>
                                      </p:cBhvr>
                                      <p:tavLst>
                                        <p:tav tm="0">
                                          <p:val>
                                            <p:strVal val="ppt_x"/>
                                          </p:val>
                                        </p:tav>
                                        <p:tav tm="100000">
                                          <p:val>
                                            <p:strVal val="ppt_x"/>
                                          </p:val>
                                        </p:tav>
                                      </p:tavLst>
                                    </p:anim>
                                    <p:anim calcmode="lin" valueType="num">
                                      <p:cBhvr additive="base">
                                        <p:cTn id="85" dur="500"/>
                                        <p:tgtEl>
                                          <p:spTgt spid="30918"/>
                                        </p:tgtEl>
                                        <p:attrNameLst>
                                          <p:attrName>ppt_y</p:attrName>
                                        </p:attrNameLst>
                                      </p:cBhvr>
                                      <p:tavLst>
                                        <p:tav tm="0">
                                          <p:val>
                                            <p:strVal val="ppt_y"/>
                                          </p:val>
                                        </p:tav>
                                        <p:tav tm="100000">
                                          <p:val>
                                            <p:strVal val="1+ppt_h/2"/>
                                          </p:val>
                                        </p:tav>
                                      </p:tavLst>
                                    </p:anim>
                                    <p:set>
                                      <p:cBhvr>
                                        <p:cTn id="86" dur="1" fill="hold">
                                          <p:stCondLst>
                                            <p:cond delay="499"/>
                                          </p:stCondLst>
                                        </p:cTn>
                                        <p:tgtEl>
                                          <p:spTgt spid="30918"/>
                                        </p:tgtEl>
                                        <p:attrNameLst>
                                          <p:attrName>style.visibility</p:attrName>
                                        </p:attrNameLst>
                                      </p:cBhvr>
                                      <p:to>
                                        <p:strVal val="hidden"/>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3" presetClass="entr" presetSubtype="16" fill="hold" grpId="0" nodeType="clickEffect">
                                  <p:stCondLst>
                                    <p:cond delay="0"/>
                                  </p:stCondLst>
                                  <p:childTnLst>
                                    <p:set>
                                      <p:cBhvr>
                                        <p:cTn id="90" dur="1" fill="hold">
                                          <p:stCondLst>
                                            <p:cond delay="0"/>
                                          </p:stCondLst>
                                        </p:cTn>
                                        <p:tgtEl>
                                          <p:spTgt spid="30926"/>
                                        </p:tgtEl>
                                        <p:attrNameLst>
                                          <p:attrName>style.visibility</p:attrName>
                                        </p:attrNameLst>
                                      </p:cBhvr>
                                      <p:to>
                                        <p:strVal val="visible"/>
                                      </p:to>
                                    </p:set>
                                    <p:anim calcmode="lin" valueType="num">
                                      <p:cBhvr>
                                        <p:cTn id="91" dur="500" fill="hold"/>
                                        <p:tgtEl>
                                          <p:spTgt spid="30926"/>
                                        </p:tgtEl>
                                        <p:attrNameLst>
                                          <p:attrName>ppt_w</p:attrName>
                                        </p:attrNameLst>
                                      </p:cBhvr>
                                      <p:tavLst>
                                        <p:tav tm="0">
                                          <p:val>
                                            <p:fltVal val="0"/>
                                          </p:val>
                                        </p:tav>
                                        <p:tav tm="100000">
                                          <p:val>
                                            <p:strVal val="#ppt_w"/>
                                          </p:val>
                                        </p:tav>
                                      </p:tavLst>
                                    </p:anim>
                                    <p:anim calcmode="lin" valueType="num">
                                      <p:cBhvr>
                                        <p:cTn id="92" dur="500" fill="hold"/>
                                        <p:tgtEl>
                                          <p:spTgt spid="30926"/>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nodeType="clickEffect">
                                  <p:stCondLst>
                                    <p:cond delay="0"/>
                                  </p:stCondLst>
                                  <p:childTnLst>
                                    <p:set>
                                      <p:cBhvr>
                                        <p:cTn id="96" dur="1" fill="hold">
                                          <p:stCondLst>
                                            <p:cond delay="0"/>
                                          </p:stCondLst>
                                        </p:cTn>
                                        <p:tgtEl>
                                          <p:spTgt spid="30927"/>
                                        </p:tgtEl>
                                        <p:attrNameLst>
                                          <p:attrName>style.visibility</p:attrName>
                                        </p:attrNameLst>
                                      </p:cBhvr>
                                      <p:to>
                                        <p:strVal val="visible"/>
                                      </p:to>
                                    </p:set>
                                    <p:anim calcmode="lin" valueType="num">
                                      <p:cBhvr additive="base">
                                        <p:cTn id="97" dur="500" fill="hold"/>
                                        <p:tgtEl>
                                          <p:spTgt spid="30927"/>
                                        </p:tgtEl>
                                        <p:attrNameLst>
                                          <p:attrName>ppt_x</p:attrName>
                                        </p:attrNameLst>
                                      </p:cBhvr>
                                      <p:tavLst>
                                        <p:tav tm="0">
                                          <p:val>
                                            <p:strVal val="#ppt_x"/>
                                          </p:val>
                                        </p:tav>
                                        <p:tav tm="100000">
                                          <p:val>
                                            <p:strVal val="#ppt_x"/>
                                          </p:val>
                                        </p:tav>
                                      </p:tavLst>
                                    </p:anim>
                                    <p:anim calcmode="lin" valueType="num">
                                      <p:cBhvr additive="base">
                                        <p:cTn id="98" dur="500" fill="hold"/>
                                        <p:tgtEl>
                                          <p:spTgt spid="30927"/>
                                        </p:tgtEl>
                                        <p:attrNameLst>
                                          <p:attrName>ppt_y</p:attrName>
                                        </p:attrNameLst>
                                      </p:cBhvr>
                                      <p:tavLst>
                                        <p:tav tm="0">
                                          <p:val>
                                            <p:strVal val="1+#ppt_h/2"/>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3" presetClass="entr" presetSubtype="16" fill="hold" nodeType="clickEffect">
                                  <p:stCondLst>
                                    <p:cond delay="0"/>
                                  </p:stCondLst>
                                  <p:childTnLst>
                                    <p:set>
                                      <p:cBhvr>
                                        <p:cTn id="102" dur="1" fill="hold">
                                          <p:stCondLst>
                                            <p:cond delay="0"/>
                                          </p:stCondLst>
                                        </p:cTn>
                                        <p:tgtEl>
                                          <p:spTgt spid="30931"/>
                                        </p:tgtEl>
                                        <p:attrNameLst>
                                          <p:attrName>style.visibility</p:attrName>
                                        </p:attrNameLst>
                                      </p:cBhvr>
                                      <p:to>
                                        <p:strVal val="visible"/>
                                      </p:to>
                                    </p:set>
                                    <p:anim calcmode="lin" valueType="num">
                                      <p:cBhvr>
                                        <p:cTn id="103" dur="500" fill="hold"/>
                                        <p:tgtEl>
                                          <p:spTgt spid="30931"/>
                                        </p:tgtEl>
                                        <p:attrNameLst>
                                          <p:attrName>ppt_w</p:attrName>
                                        </p:attrNameLst>
                                      </p:cBhvr>
                                      <p:tavLst>
                                        <p:tav tm="0">
                                          <p:val>
                                            <p:fltVal val="0"/>
                                          </p:val>
                                        </p:tav>
                                        <p:tav tm="100000">
                                          <p:val>
                                            <p:strVal val="#ppt_w"/>
                                          </p:val>
                                        </p:tav>
                                      </p:tavLst>
                                    </p:anim>
                                    <p:anim calcmode="lin" valueType="num">
                                      <p:cBhvr>
                                        <p:cTn id="104" dur="500" fill="hold"/>
                                        <p:tgtEl>
                                          <p:spTgt spid="30931"/>
                                        </p:tgtEl>
                                        <p:attrNameLst>
                                          <p:attrName>ppt_h</p:attrName>
                                        </p:attrNameLst>
                                      </p:cBhvr>
                                      <p:tavLst>
                                        <p:tav tm="0">
                                          <p:val>
                                            <p:fltVal val="0"/>
                                          </p:val>
                                        </p:tav>
                                        <p:tav tm="100000">
                                          <p:val>
                                            <p:strVal val="#ppt_h"/>
                                          </p:val>
                                        </p:tav>
                                      </p:tavLst>
                                    </p:anim>
                                  </p:childTnLst>
                                </p:cTn>
                              </p:par>
                              <p:par>
                                <p:cTn id="105" presetID="42" presetClass="path" presetSubtype="0" accel="50000" decel="50000" fill="hold" nodeType="withEffect">
                                  <p:stCondLst>
                                    <p:cond delay="0"/>
                                  </p:stCondLst>
                                  <p:childTnLst>
                                    <p:animMotion origin="layout" path="M -0.40642 -0.23078 L -3.61111E-06 -2.59259E-06">
                                      <p:cBhvr>
                                        <p:cTn id="106" dur="2000" fill="hold"/>
                                        <p:tgtEl>
                                          <p:spTgt spid="30931"/>
                                        </p:tgtEl>
                                        <p:attrNameLst>
                                          <p:attrName>ppt_x</p:attrName>
                                          <p:attrName>ppt_y</p:attrName>
                                        </p:attrNameLst>
                                      </p:cBhvr>
                                    </p:animMotion>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xit" presetSubtype="4" fill="hold" nodeType="clickEffect">
                                  <p:stCondLst>
                                    <p:cond delay="0"/>
                                  </p:stCondLst>
                                  <p:childTnLst>
                                    <p:anim calcmode="lin" valueType="num">
                                      <p:cBhvr additive="base">
                                        <p:cTn id="110" dur="500"/>
                                        <p:tgtEl>
                                          <p:spTgt spid="30927"/>
                                        </p:tgtEl>
                                        <p:attrNameLst>
                                          <p:attrName>ppt_x</p:attrName>
                                        </p:attrNameLst>
                                      </p:cBhvr>
                                      <p:tavLst>
                                        <p:tav tm="0">
                                          <p:val>
                                            <p:strVal val="ppt_x"/>
                                          </p:val>
                                        </p:tav>
                                        <p:tav tm="100000">
                                          <p:val>
                                            <p:strVal val="ppt_x"/>
                                          </p:val>
                                        </p:tav>
                                      </p:tavLst>
                                    </p:anim>
                                    <p:anim calcmode="lin" valueType="num">
                                      <p:cBhvr additive="base">
                                        <p:cTn id="111" dur="500"/>
                                        <p:tgtEl>
                                          <p:spTgt spid="30927"/>
                                        </p:tgtEl>
                                        <p:attrNameLst>
                                          <p:attrName>ppt_y</p:attrName>
                                        </p:attrNameLst>
                                      </p:cBhvr>
                                      <p:tavLst>
                                        <p:tav tm="0">
                                          <p:val>
                                            <p:strVal val="ppt_y"/>
                                          </p:val>
                                        </p:tav>
                                        <p:tav tm="100000">
                                          <p:val>
                                            <p:strVal val="1+ppt_h/2"/>
                                          </p:val>
                                        </p:tav>
                                      </p:tavLst>
                                    </p:anim>
                                    <p:set>
                                      <p:cBhvr>
                                        <p:cTn id="112" dur="1" fill="hold">
                                          <p:stCondLst>
                                            <p:cond delay="499"/>
                                          </p:stCondLst>
                                        </p:cTn>
                                        <p:tgtEl>
                                          <p:spTgt spid="30927"/>
                                        </p:tgtEl>
                                        <p:attrNameLst>
                                          <p:attrName>style.visibility</p:attrName>
                                        </p:attrNameLst>
                                      </p:cBhvr>
                                      <p:to>
                                        <p:strVal val="hidden"/>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3" presetClass="entr" presetSubtype="16" fill="hold" nodeType="clickEffect">
                                  <p:stCondLst>
                                    <p:cond delay="0"/>
                                  </p:stCondLst>
                                  <p:childTnLst>
                                    <p:set>
                                      <p:cBhvr>
                                        <p:cTn id="116" dur="1" fill="hold">
                                          <p:stCondLst>
                                            <p:cond delay="0"/>
                                          </p:stCondLst>
                                        </p:cTn>
                                        <p:tgtEl>
                                          <p:spTgt spid="30896">
                                            <p:txEl>
                                              <p:pRg st="5" end="5"/>
                                            </p:txEl>
                                          </p:spTgt>
                                        </p:tgtEl>
                                        <p:attrNameLst>
                                          <p:attrName>style.visibility</p:attrName>
                                        </p:attrNameLst>
                                      </p:cBhvr>
                                      <p:to>
                                        <p:strVal val="visible"/>
                                      </p:to>
                                    </p:set>
                                    <p:anim calcmode="lin" valueType="num">
                                      <p:cBhvr>
                                        <p:cTn id="117" dur="500" fill="hold"/>
                                        <p:tgtEl>
                                          <p:spTgt spid="30896">
                                            <p:txEl>
                                              <p:pRg st="5" end="5"/>
                                            </p:txEl>
                                          </p:spTgt>
                                        </p:tgtEl>
                                        <p:attrNameLst>
                                          <p:attrName>ppt_w</p:attrName>
                                        </p:attrNameLst>
                                      </p:cBhvr>
                                      <p:tavLst>
                                        <p:tav tm="0">
                                          <p:val>
                                            <p:fltVal val="0"/>
                                          </p:val>
                                        </p:tav>
                                        <p:tav tm="100000">
                                          <p:val>
                                            <p:strVal val="#ppt_w"/>
                                          </p:val>
                                        </p:tav>
                                      </p:tavLst>
                                    </p:anim>
                                    <p:anim calcmode="lin" valueType="num">
                                      <p:cBhvr>
                                        <p:cTn id="118" dur="500" fill="hold"/>
                                        <p:tgtEl>
                                          <p:spTgt spid="30896">
                                            <p:txEl>
                                              <p:pRg st="5" end="5"/>
                                            </p:txEl>
                                          </p:spTgt>
                                        </p:tgtEl>
                                        <p:attrNameLst>
                                          <p:attrName>ppt_h</p:attrName>
                                        </p:attrNameLst>
                                      </p:cBhvr>
                                      <p:tavLst>
                                        <p:tav tm="0">
                                          <p:val>
                                            <p:fltVal val="0"/>
                                          </p:val>
                                        </p:tav>
                                        <p:tav tm="100000">
                                          <p:val>
                                            <p:strVal val="#ppt_h"/>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9" presetClass="entr" presetSubtype="0" fill="hold" nodeType="clickEffect">
                                  <p:stCondLst>
                                    <p:cond delay="0"/>
                                  </p:stCondLst>
                                  <p:childTnLst>
                                    <p:set>
                                      <p:cBhvr>
                                        <p:cTn id="122" dur="1" fill="hold">
                                          <p:stCondLst>
                                            <p:cond delay="0"/>
                                          </p:stCondLst>
                                        </p:cTn>
                                        <p:tgtEl>
                                          <p:spTgt spid="30936"/>
                                        </p:tgtEl>
                                        <p:attrNameLst>
                                          <p:attrName>style.visibility</p:attrName>
                                        </p:attrNameLst>
                                      </p:cBhvr>
                                      <p:to>
                                        <p:strVal val="visible"/>
                                      </p:to>
                                    </p:set>
                                    <p:animEffect transition="in" filter="dissolve">
                                      <p:cBhvr>
                                        <p:cTn id="123" dur="500"/>
                                        <p:tgtEl>
                                          <p:spTgt spid="30936"/>
                                        </p:tgtEl>
                                      </p:cBhvr>
                                    </p:animEffect>
                                  </p:childTnLst>
                                </p:cTn>
                              </p:par>
                              <p:par>
                                <p:cTn id="124" presetID="9" presetClass="entr" presetSubtype="0" fill="hold" nodeType="withEffect">
                                  <p:stCondLst>
                                    <p:cond delay="0"/>
                                  </p:stCondLst>
                                  <p:childTnLst>
                                    <p:set>
                                      <p:cBhvr>
                                        <p:cTn id="125" dur="1" fill="hold">
                                          <p:stCondLst>
                                            <p:cond delay="0"/>
                                          </p:stCondLst>
                                        </p:cTn>
                                        <p:tgtEl>
                                          <p:spTgt spid="30935"/>
                                        </p:tgtEl>
                                        <p:attrNameLst>
                                          <p:attrName>style.visibility</p:attrName>
                                        </p:attrNameLst>
                                      </p:cBhvr>
                                      <p:to>
                                        <p:strVal val="visible"/>
                                      </p:to>
                                    </p:set>
                                    <p:animEffect transition="in" filter="dissolve">
                                      <p:cBhvr>
                                        <p:cTn id="126" dur="500"/>
                                        <p:tgtEl>
                                          <p:spTgt spid="30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6" grpId="0" animBg="1"/>
      <p:bldP spid="3093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noChangeArrowheads="1"/>
          </p:cNvSpPr>
          <p:nvPr>
            <p:ph type="title" idx="4294967295"/>
          </p:nvPr>
        </p:nvSpPr>
        <p:spPr>
          <a:xfrm>
            <a:off x="304800" y="152400"/>
            <a:ext cx="8458200" cy="990600"/>
          </a:xfrm>
        </p:spPr>
        <p:txBody>
          <a:bodyPr/>
          <a:lstStyle/>
          <a:p>
            <a:r>
              <a:rPr lang="en-US" altLang="ko-KR" dirty="0"/>
              <a:t>Summary</a:t>
            </a:r>
          </a:p>
        </p:txBody>
      </p:sp>
      <p:sp>
        <p:nvSpPr>
          <p:cNvPr id="56324" name="TextBox 4"/>
          <p:cNvSpPr>
            <a:spLocks noChangeArrowheads="1"/>
          </p:cNvSpPr>
          <p:nvPr/>
        </p:nvSpPr>
        <p:spPr bwMode="auto">
          <a:xfrm>
            <a:off x="228600" y="65055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
        <p:nvSpPr>
          <p:cNvPr id="2" name="Rectangle 1"/>
          <p:cNvSpPr/>
          <p:nvPr/>
        </p:nvSpPr>
        <p:spPr>
          <a:xfrm>
            <a:off x="270186" y="2852936"/>
            <a:ext cx="7776864" cy="288032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2400" dirty="0">
                <a:solidFill>
                  <a:schemeClr val="tx1"/>
                </a:solidFill>
              </a:rPr>
              <a:t>Classical or </a:t>
            </a:r>
            <a:r>
              <a:rPr lang="en-US" sz="2400" dirty="0">
                <a:solidFill>
                  <a:srgbClr val="0070C0"/>
                </a:solidFill>
              </a:rPr>
              <a:t>frequentist</a:t>
            </a:r>
            <a:r>
              <a:rPr lang="en-US" sz="2400" dirty="0">
                <a:solidFill>
                  <a:schemeClr val="tx1"/>
                </a:solidFill>
              </a:rPr>
              <a:t> interpretation of uncertainty</a:t>
            </a:r>
          </a:p>
          <a:p>
            <a:endParaRPr lang="en-US" sz="2400" dirty="0">
              <a:solidFill>
                <a:schemeClr val="tx1"/>
              </a:solidFill>
            </a:endParaRPr>
          </a:p>
          <a:p>
            <a:pPr marL="457200" indent="-457200">
              <a:buAutoNum type="arabicPeriod"/>
            </a:pPr>
            <a:r>
              <a:rPr lang="en-US" sz="2000" dirty="0">
                <a:solidFill>
                  <a:schemeClr val="tx1"/>
                </a:solidFill>
              </a:rPr>
              <a:t>View probabilities in terms of the </a:t>
            </a:r>
            <a:r>
              <a:rPr lang="en-US" sz="2000" dirty="0">
                <a:solidFill>
                  <a:srgbClr val="0070C0"/>
                </a:solidFill>
              </a:rPr>
              <a:t>frequencies</a:t>
            </a:r>
            <a:r>
              <a:rPr lang="en-US" sz="2000" dirty="0">
                <a:solidFill>
                  <a:schemeClr val="tx1"/>
                </a:solidFill>
              </a:rPr>
              <a:t> of random, repeatable events, in the limit of </a:t>
            </a:r>
            <a:r>
              <a:rPr lang="en-US" sz="2000" dirty="0">
                <a:solidFill>
                  <a:srgbClr val="0070C0"/>
                </a:solidFill>
              </a:rPr>
              <a:t>infinity</a:t>
            </a:r>
            <a:r>
              <a:rPr lang="en-US" sz="2000" dirty="0">
                <a:solidFill>
                  <a:schemeClr val="tx1"/>
                </a:solidFill>
              </a:rPr>
              <a:t>. </a:t>
            </a:r>
          </a:p>
          <a:p>
            <a:endParaRPr lang="en-US" sz="2000" dirty="0">
              <a:solidFill>
                <a:schemeClr val="tx1"/>
              </a:solidFill>
            </a:endParaRPr>
          </a:p>
          <a:p>
            <a:pPr marL="457200" indent="-457200">
              <a:buAutoNum type="arabicPeriod" startAt="2"/>
            </a:pPr>
            <a:r>
              <a:rPr lang="en-US" sz="2000" dirty="0">
                <a:solidFill>
                  <a:schemeClr val="tx1"/>
                </a:solidFill>
              </a:rPr>
              <a:t>Use </a:t>
            </a:r>
            <a:r>
              <a:rPr lang="en-US" sz="2000" dirty="0">
                <a:solidFill>
                  <a:srgbClr val="0070C0"/>
                </a:solidFill>
              </a:rPr>
              <a:t>bootstrap</a:t>
            </a:r>
            <a:r>
              <a:rPr lang="en-US" sz="2000" dirty="0">
                <a:solidFill>
                  <a:schemeClr val="tx1"/>
                </a:solidFill>
              </a:rPr>
              <a:t> sample strategy to </a:t>
            </a:r>
            <a:r>
              <a:rPr lang="en-US" sz="2000" dirty="0">
                <a:solidFill>
                  <a:srgbClr val="0070C0"/>
                </a:solidFill>
              </a:rPr>
              <a:t>simulate</a:t>
            </a:r>
            <a:r>
              <a:rPr lang="en-US" sz="2000" dirty="0">
                <a:solidFill>
                  <a:schemeClr val="tx1"/>
                </a:solidFill>
              </a:rPr>
              <a:t> </a:t>
            </a:r>
            <a:r>
              <a:rPr lang="en-US" sz="2000" dirty="0">
                <a:solidFill>
                  <a:srgbClr val="0070C0"/>
                </a:solidFill>
              </a:rPr>
              <a:t>infinity</a:t>
            </a:r>
            <a:r>
              <a:rPr lang="en-US" sz="2000" dirty="0">
                <a:solidFill>
                  <a:schemeClr val="tx1"/>
                </a:solidFill>
              </a:rPr>
              <a:t> based on the     available data.</a:t>
            </a:r>
          </a:p>
          <a:p>
            <a:pPr marL="457200" indent="-457200">
              <a:buAutoNum type="arabicPeriod" startAt="2"/>
            </a:pPr>
            <a:endParaRPr lang="en-US" sz="2000" dirty="0">
              <a:solidFill>
                <a:schemeClr val="tx1"/>
              </a:solidFill>
            </a:endParaRPr>
          </a:p>
          <a:p>
            <a:pPr marL="457200" indent="-457200">
              <a:buAutoNum type="arabicPeriod" startAt="2"/>
            </a:pPr>
            <a:r>
              <a:rPr lang="en-US" sz="2000" dirty="0">
                <a:solidFill>
                  <a:schemeClr val="tx1"/>
                </a:solidFill>
              </a:rPr>
              <a:t>Learn the model by </a:t>
            </a:r>
            <a:r>
              <a:rPr lang="en-US" sz="2000" dirty="0">
                <a:solidFill>
                  <a:srgbClr val="0070C0"/>
                </a:solidFill>
              </a:rPr>
              <a:t>maximizing the likelihood </a:t>
            </a:r>
            <a:r>
              <a:rPr lang="en-US" sz="2000" dirty="0">
                <a:solidFill>
                  <a:schemeClr val="tx1"/>
                </a:solidFill>
              </a:rPr>
              <a:t>of every single bootstrap data set.</a:t>
            </a:r>
          </a:p>
          <a:p>
            <a:pPr marL="457200" indent="-457200">
              <a:buAutoNum type="arabicPeriod" startAt="2"/>
            </a:pPr>
            <a:endParaRPr lang="en-US" sz="2000" dirty="0">
              <a:solidFill>
                <a:schemeClr val="tx1"/>
              </a:solidFill>
            </a:endParaRPr>
          </a:p>
          <a:p>
            <a:pPr marL="457200" indent="-457200">
              <a:buAutoNum type="arabicPeriod" startAt="2"/>
            </a:pPr>
            <a:r>
              <a:rPr lang="en-US" sz="2000" dirty="0">
                <a:solidFill>
                  <a:schemeClr val="tx1"/>
                </a:solidFill>
              </a:rPr>
              <a:t>Evaluate the </a:t>
            </a:r>
            <a:r>
              <a:rPr lang="en-US" sz="2000" dirty="0">
                <a:solidFill>
                  <a:srgbClr val="0070C0"/>
                </a:solidFill>
              </a:rPr>
              <a:t>uncertainty</a:t>
            </a:r>
            <a:r>
              <a:rPr lang="en-US" sz="2000" dirty="0">
                <a:solidFill>
                  <a:schemeClr val="tx1"/>
                </a:solidFill>
              </a:rPr>
              <a:t> by looking at the </a:t>
            </a:r>
            <a:r>
              <a:rPr lang="en-US" sz="2000" dirty="0">
                <a:solidFill>
                  <a:srgbClr val="0070C0"/>
                </a:solidFill>
              </a:rPr>
              <a:t>variability</a:t>
            </a:r>
            <a:r>
              <a:rPr lang="en-US" sz="2000" dirty="0">
                <a:solidFill>
                  <a:schemeClr val="tx1"/>
                </a:solidFill>
              </a:rPr>
              <a:t> of predictions between the different bootstrap data sets. </a:t>
            </a:r>
          </a:p>
          <a:p>
            <a:pPr marL="457200" indent="-457200">
              <a:buAutoNum type="arabicPeriod" startAt="2"/>
            </a:pPr>
            <a:endParaRPr lang="en-US" sz="2000" dirty="0">
              <a:solidFill>
                <a:schemeClr val="tx1"/>
              </a:solidFill>
            </a:endParaRPr>
          </a:p>
          <a:p>
            <a:pPr marL="457200" indent="-457200">
              <a:buAutoNum type="arabicPeriod" startAt="2"/>
            </a:pPr>
            <a:endParaRPr lang="en-US" sz="2000" dirty="0">
              <a:solidFill>
                <a:schemeClr val="tx1"/>
              </a:solidFill>
            </a:endParaRPr>
          </a:p>
          <a:p>
            <a:pPr marL="457200" indent="-457200">
              <a:buAutoNum type="arabicPeriod" startAt="2"/>
            </a:pPr>
            <a:endParaRPr lang="en-US" sz="2000" dirty="0">
              <a:solidFill>
                <a:schemeClr val="tx1"/>
              </a:solidFill>
            </a:endParaRPr>
          </a:p>
          <a:p>
            <a:pPr marL="457200" indent="-457200">
              <a:buAutoNum type="arabicPeriod"/>
            </a:pPr>
            <a:endParaRPr lang="en-AU" sz="2000" dirty="0">
              <a:solidFill>
                <a:schemeClr val="tx1"/>
              </a:solidFill>
            </a:endParaRPr>
          </a:p>
        </p:txBody>
      </p:sp>
    </p:spTree>
    <p:extLst>
      <p:ext uri="{BB962C8B-B14F-4D97-AF65-F5344CB8AC3E}">
        <p14:creationId xmlns:p14="http://schemas.microsoft.com/office/powerpoint/2010/main" val="2381868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p:cNvSpPr>
            <a:spLocks noGrp="1" noChangeArrowheads="1"/>
          </p:cNvSpPr>
          <p:nvPr>
            <p:ph idx="4294967295"/>
          </p:nvPr>
        </p:nvSpPr>
        <p:spPr/>
        <p:txBody>
          <a:bodyPr anchor="ctr"/>
          <a:lstStyle/>
          <a:p>
            <a:pPr marL="98425" indent="0" algn="ctr">
              <a:buFont typeface="Wingdings" panose="05000000000000000000" pitchFamily="2" charset="2"/>
              <a:buNone/>
            </a:pPr>
            <a:r>
              <a:rPr lang="en-US" altLang="ko-KR" sz="3200" b="1" dirty="0">
                <a:solidFill>
                  <a:srgbClr val="C00000"/>
                </a:solidFill>
              </a:rPr>
              <a:t>Bayesian Approach to </a:t>
            </a:r>
          </a:p>
          <a:p>
            <a:pPr marL="98425" indent="0" algn="ctr">
              <a:buFont typeface="Wingdings" panose="05000000000000000000" pitchFamily="2" charset="2"/>
              <a:buNone/>
            </a:pPr>
            <a:r>
              <a:rPr lang="en-US" altLang="ko-KR" sz="3200" b="1" dirty="0">
                <a:solidFill>
                  <a:srgbClr val="C00000"/>
                </a:solidFill>
              </a:rPr>
              <a:t>Machine Learning</a:t>
            </a:r>
          </a:p>
          <a:p>
            <a:pPr marL="98425" indent="0" algn="ctr">
              <a:buFont typeface="Wingdings" panose="05000000000000000000" pitchFamily="2" charset="2"/>
              <a:buNone/>
            </a:pPr>
            <a:r>
              <a:rPr lang="en-US" altLang="ko-KR" sz="1800" b="1" dirty="0"/>
              <a:t>(use probabilities to quantify the uncertainty directly)</a:t>
            </a:r>
          </a:p>
        </p:txBody>
      </p:sp>
      <p:sp>
        <p:nvSpPr>
          <p:cNvPr id="60419" name="TextBox 2"/>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idx="4294967295"/>
          </p:nvPr>
        </p:nvSpPr>
        <p:spPr>
          <a:xfrm>
            <a:off x="304800" y="152400"/>
            <a:ext cx="8458200" cy="990600"/>
          </a:xfrm>
        </p:spPr>
        <p:txBody>
          <a:bodyPr/>
          <a:lstStyle/>
          <a:p>
            <a:r>
              <a:rPr lang="en-US" altLang="ko-KR" dirty="0"/>
              <a:t>Motivation for Bayesian Approach</a:t>
            </a:r>
          </a:p>
        </p:txBody>
      </p:sp>
      <p:sp>
        <p:nvSpPr>
          <p:cNvPr id="62467" name="Content Placeholder 2"/>
          <p:cNvSpPr>
            <a:spLocks noGrp="1" noRot="1" noChangeAspect="1" noMove="1" noResize="1" noEditPoints="1" noAdjustHandles="1" noChangeArrowheads="1" noTextEdit="1"/>
          </p:cNvSpPr>
          <p:nvPr>
            <p:ph idx="4294967295"/>
          </p:nvPr>
        </p:nvSpPr>
        <p:spPr>
          <a:xfrm>
            <a:off x="228600" y="1524000"/>
            <a:ext cx="8534400" cy="4724400"/>
          </a:xfrm>
          <a:blipFill dpi="0" rotWithShape="0">
            <a:blip r:embed="rId3"/>
            <a:srcRect/>
            <a:stretch>
              <a:fillRect/>
            </a:stretch>
          </a:blipFill>
        </p:spPr>
        <p:txBody>
          <a:bodyPr/>
          <a:lstStyle/>
          <a:p>
            <a:endParaRPr lang="en-AU" dirty="0"/>
          </a:p>
        </p:txBody>
      </p:sp>
      <p:sp>
        <p:nvSpPr>
          <p:cNvPr id="62468" name="TextBox 3"/>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idx="4294967295"/>
          </p:nvPr>
        </p:nvSpPr>
        <p:spPr>
          <a:xfrm>
            <a:off x="304800" y="152400"/>
            <a:ext cx="8458200" cy="990600"/>
          </a:xfrm>
        </p:spPr>
        <p:txBody>
          <a:bodyPr/>
          <a:lstStyle/>
          <a:p>
            <a:r>
              <a:rPr lang="en-US" altLang="ko-KR"/>
              <a:t>What is Bayesian Approach to ML</a:t>
            </a:r>
          </a:p>
        </p:txBody>
      </p:sp>
      <p:sp>
        <p:nvSpPr>
          <p:cNvPr id="80904" name="TextBox 7"/>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mc:AlternateContent xmlns:mc="http://schemas.openxmlformats.org/markup-compatibility/2006" xmlns:a14="http://schemas.microsoft.com/office/drawing/2010/main">
        <mc:Choice Requires="a14">
          <p:sp>
            <p:nvSpPr>
              <p:cNvPr id="9" name="Rectangle 8"/>
              <p:cNvSpPr/>
              <p:nvPr/>
            </p:nvSpPr>
            <p:spPr>
              <a:xfrm>
                <a:off x="467544" y="1556792"/>
                <a:ext cx="7776864" cy="468052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t" anchorCtr="0"/>
              <a:lstStyle/>
              <a:p>
                <a:pPr marL="457200" indent="-457200">
                  <a:buAutoNum type="arabicPeriod"/>
                </a:pPr>
                <a:r>
                  <a:rPr lang="en-US" sz="2000" dirty="0">
                    <a:solidFill>
                      <a:schemeClr val="tx1"/>
                    </a:solidFill>
                  </a:rPr>
                  <a:t>Define probabilistic model (likelihood) </a:t>
                </a:r>
                <a14:m>
                  <m:oMath xmlns:m="http://schemas.openxmlformats.org/officeDocument/2006/math">
                    <m:r>
                      <a:rPr lang="en-US" sz="2000" i="1">
                        <a:solidFill>
                          <a:srgbClr val="0070C0"/>
                        </a:solidFill>
                        <a:latin typeface="Cambria Math" panose="02040503050406030204" pitchFamily="18" charset="0"/>
                      </a:rPr>
                      <m:t>𝑝</m:t>
                    </m:r>
                    <m:d>
                      <m:dPr>
                        <m:ctrlPr>
                          <a:rPr lang="en-US" sz="2000" i="1">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𝐷</m:t>
                        </m:r>
                        <m:r>
                          <a:rPr lang="en-AU" sz="2000" b="1" i="1" smtClean="0">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𝒘</m:t>
                        </m:r>
                      </m:e>
                    </m:d>
                    <m:r>
                      <a:rPr lang="en-US" sz="2000" b="1" i="1">
                        <a:solidFill>
                          <a:srgbClr val="0070C0"/>
                        </a:solidFill>
                        <a:latin typeface="Cambria Math" panose="02040503050406030204" pitchFamily="18" charset="0"/>
                      </a:rPr>
                      <m:t> </m:t>
                    </m:r>
                  </m:oMath>
                </a14:m>
                <a:r>
                  <a:rPr lang="en-US" sz="2000" dirty="0">
                    <a:solidFill>
                      <a:schemeClr val="tx1"/>
                    </a:solidFill>
                  </a:rPr>
                  <a:t>as before</a:t>
                </a:r>
              </a:p>
              <a:p>
                <a:pPr marL="457200" indent="-457200">
                  <a:buAutoNum type="arabicPeriod"/>
                </a:pPr>
                <a:endParaRPr lang="en-US" sz="2000" dirty="0">
                  <a:solidFill>
                    <a:schemeClr val="tx1"/>
                  </a:solidFill>
                </a:endParaRPr>
              </a:p>
              <a:p>
                <a:pPr marL="457200" indent="-457200">
                  <a:buAutoNum type="arabicPeriod"/>
                </a:pPr>
                <a:r>
                  <a:rPr lang="en-US" sz="2000" dirty="0">
                    <a:solidFill>
                      <a:schemeClr val="tx1"/>
                    </a:solidFill>
                  </a:rPr>
                  <a:t>Assume parameters </a:t>
                </a:r>
                <a14:m>
                  <m:oMath xmlns:m="http://schemas.openxmlformats.org/officeDocument/2006/math">
                    <m:r>
                      <a:rPr lang="en-US" sz="2000" b="1" i="1" smtClean="0">
                        <a:solidFill>
                          <a:srgbClr val="0070C0"/>
                        </a:solidFill>
                        <a:latin typeface="Cambria Math" panose="02040503050406030204" pitchFamily="18" charset="0"/>
                      </a:rPr>
                      <m:t>𝒘</m:t>
                    </m:r>
                  </m:oMath>
                </a14:m>
                <a:r>
                  <a:rPr lang="en-US" sz="2000" dirty="0">
                    <a:solidFill>
                      <a:schemeClr val="tx1"/>
                    </a:solidFill>
                  </a:rPr>
                  <a:t> of model </a:t>
                </a:r>
                <a14:m>
                  <m:oMath xmlns:m="http://schemas.openxmlformats.org/officeDocument/2006/math">
                    <m:r>
                      <a:rPr lang="en-US" sz="2000" b="0" i="1" smtClean="0">
                        <a:solidFill>
                          <a:srgbClr val="0070C0"/>
                        </a:solidFill>
                        <a:latin typeface="Cambria Math" panose="02040503050406030204" pitchFamily="18" charset="0"/>
                      </a:rPr>
                      <m:t>𝑝</m:t>
                    </m:r>
                    <m:d>
                      <m:dPr>
                        <m:endChr m:val="|"/>
                        <m:ctrlPr>
                          <a:rPr lang="en-US"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𝑦</m:t>
                        </m:r>
                      </m:e>
                    </m:d>
                    <m:r>
                      <a:rPr lang="en-AU" sz="2000" b="1" i="1" smtClean="0">
                        <a:solidFill>
                          <a:srgbClr val="0070C0"/>
                        </a:solidFill>
                        <a:latin typeface="Cambria Math" panose="02040503050406030204" pitchFamily="18" charset="0"/>
                      </a:rPr>
                      <m:t>𝒙</m:t>
                    </m:r>
                    <m:r>
                      <a:rPr lang="en-AU" sz="2000" b="0" i="1" smtClean="0">
                        <a:solidFill>
                          <a:srgbClr val="0070C0"/>
                        </a:solidFill>
                        <a:latin typeface="Cambria Math" panose="02040503050406030204" pitchFamily="18" charset="0"/>
                      </a:rPr>
                      <m:t>, </m:t>
                    </m:r>
                    <m:r>
                      <a:rPr lang="en-US" sz="2000" b="1" i="1" smtClean="0">
                        <a:solidFill>
                          <a:srgbClr val="0070C0"/>
                        </a:solidFill>
                        <a:latin typeface="Cambria Math" panose="02040503050406030204" pitchFamily="18" charset="0"/>
                      </a:rPr>
                      <m:t>𝒘</m:t>
                    </m:r>
                    <m:r>
                      <a:rPr lang="en-US" sz="2000" b="0" i="1" smtClean="0">
                        <a:solidFill>
                          <a:srgbClr val="0070C0"/>
                        </a:solidFill>
                        <a:latin typeface="Cambria Math" panose="02040503050406030204" pitchFamily="18" charset="0"/>
                      </a:rPr>
                      <m:t>)</m:t>
                    </m:r>
                  </m:oMath>
                </a14:m>
                <a:r>
                  <a:rPr lang="en-US" sz="2000" dirty="0">
                    <a:solidFill>
                      <a:schemeClr val="tx1"/>
                    </a:solidFill>
                  </a:rPr>
                  <a:t> are itself a </a:t>
                </a:r>
                <a:r>
                  <a:rPr lang="en-US" sz="2000" dirty="0">
                    <a:solidFill>
                      <a:srgbClr val="0070C0"/>
                    </a:solidFill>
                  </a:rPr>
                  <a:t>random variable</a:t>
                </a:r>
              </a:p>
              <a:p>
                <a:pPr marL="457200" indent="-457200">
                  <a:buAutoNum type="arabicPeriod"/>
                </a:pPr>
                <a:endParaRPr lang="en-US" sz="2000" dirty="0">
                  <a:solidFill>
                    <a:schemeClr val="tx1"/>
                  </a:solidFill>
                </a:endParaRPr>
              </a:p>
              <a:p>
                <a:pPr marL="457200" indent="-457200">
                  <a:buAutoNum type="arabicPeriod"/>
                </a:pPr>
                <a:r>
                  <a:rPr lang="en-US" sz="2000" dirty="0">
                    <a:solidFill>
                      <a:schemeClr val="tx1"/>
                    </a:solidFill>
                  </a:rPr>
                  <a:t>Define marginal distribution </a:t>
                </a:r>
                <a14:m>
                  <m:oMath xmlns:m="http://schemas.openxmlformats.org/officeDocument/2006/math">
                    <m:r>
                      <a:rPr lang="en-US" sz="2000" i="1" smtClean="0">
                        <a:solidFill>
                          <a:srgbClr val="0070C0"/>
                        </a:solidFill>
                        <a:latin typeface="Cambria Math" panose="02040503050406030204" pitchFamily="18" charset="0"/>
                      </a:rPr>
                      <m:t>𝑝</m:t>
                    </m:r>
                    <m:d>
                      <m:dPr>
                        <m:ctrlPr>
                          <a:rPr lang="en-US" sz="2000" i="1">
                            <a:solidFill>
                              <a:srgbClr val="0070C0"/>
                            </a:solidFill>
                            <a:latin typeface="Cambria Math" panose="02040503050406030204" pitchFamily="18" charset="0"/>
                          </a:rPr>
                        </m:ctrlPr>
                      </m:dPr>
                      <m:e>
                        <m:r>
                          <a:rPr lang="en-US" sz="2000" b="1" i="1">
                            <a:solidFill>
                              <a:srgbClr val="0070C0"/>
                            </a:solidFill>
                            <a:latin typeface="Cambria Math" panose="02040503050406030204" pitchFamily="18" charset="0"/>
                          </a:rPr>
                          <m:t>𝒘</m:t>
                        </m:r>
                      </m:e>
                    </m:d>
                  </m:oMath>
                </a14:m>
                <a:r>
                  <a:rPr lang="en-US" sz="2000" dirty="0">
                    <a:solidFill>
                      <a:schemeClr val="tx1"/>
                    </a:solidFill>
                  </a:rPr>
                  <a:t>, called </a:t>
                </a:r>
                <a:r>
                  <a:rPr lang="en-US" sz="2000" b="1" dirty="0">
                    <a:solidFill>
                      <a:schemeClr val="tx1"/>
                    </a:solidFill>
                  </a:rPr>
                  <a:t>prior distribution</a:t>
                </a:r>
                <a:r>
                  <a:rPr lang="en-US" sz="2000" dirty="0">
                    <a:solidFill>
                      <a:schemeClr val="tx1"/>
                    </a:solidFill>
                  </a:rPr>
                  <a:t>, that captures prior knowledge / belief about parameter</a:t>
                </a:r>
              </a:p>
              <a:p>
                <a:pPr marL="457200" indent="-457200">
                  <a:buAutoNum type="arabicPeriod"/>
                </a:pPr>
                <a:endParaRPr lang="en-US" sz="2000" dirty="0">
                  <a:solidFill>
                    <a:schemeClr val="tx1"/>
                  </a:solidFill>
                </a:endParaRPr>
              </a:p>
              <a:p>
                <a:pPr marL="457200" indent="-457200">
                  <a:buAutoNum type="arabicPeriod"/>
                </a:pPr>
                <a:r>
                  <a:rPr lang="en-US" sz="2000" dirty="0">
                    <a:solidFill>
                      <a:schemeClr val="tx1"/>
                    </a:solidFill>
                  </a:rPr>
                  <a:t>Compute </a:t>
                </a:r>
                <a:r>
                  <a:rPr lang="en-US" sz="2000" b="1" dirty="0">
                    <a:solidFill>
                      <a:schemeClr val="tx1"/>
                    </a:solidFill>
                  </a:rPr>
                  <a:t>posterior distribution </a:t>
                </a:r>
                <a14:m>
                  <m:oMath xmlns:m="http://schemas.openxmlformats.org/officeDocument/2006/math">
                    <m:r>
                      <a:rPr lang="en-US" sz="2000" b="0" i="1" smtClean="0">
                        <a:solidFill>
                          <a:srgbClr val="0070C0"/>
                        </a:solidFill>
                        <a:latin typeface="Cambria Math" panose="02040503050406030204" pitchFamily="18" charset="0"/>
                      </a:rPr>
                      <m:t>𝑝</m:t>
                    </m:r>
                    <m:r>
                      <a:rPr lang="en-US" sz="2000" b="0" i="1" smtClean="0">
                        <a:solidFill>
                          <a:srgbClr val="0070C0"/>
                        </a:solidFill>
                        <a:latin typeface="Cambria Math" panose="02040503050406030204" pitchFamily="18" charset="0"/>
                      </a:rPr>
                      <m:t>(</m:t>
                    </m:r>
                    <m:r>
                      <a:rPr lang="en-US" sz="2000" b="1" i="1" smtClean="0">
                        <a:solidFill>
                          <a:srgbClr val="0070C0"/>
                        </a:solidFill>
                        <a:latin typeface="Cambria Math" panose="02040503050406030204" pitchFamily="18" charset="0"/>
                      </a:rPr>
                      <m:t>𝒘</m:t>
                    </m:r>
                    <m:r>
                      <a:rPr lang="en-US" sz="2000" b="0" i="1" smtClean="0">
                        <a:solidFill>
                          <a:srgbClr val="0070C0"/>
                        </a:solidFill>
                        <a:latin typeface="Cambria Math" panose="02040503050406030204" pitchFamily="18" charset="0"/>
                      </a:rPr>
                      <m:t>|</m:t>
                    </m:r>
                    <m:r>
                      <a:rPr lang="en-US" sz="2000" b="0" i="1" smtClean="0">
                        <a:solidFill>
                          <a:srgbClr val="0070C0"/>
                        </a:solidFill>
                        <a:latin typeface="Cambria Math" panose="02040503050406030204" pitchFamily="18" charset="0"/>
                      </a:rPr>
                      <m:t>𝐷</m:t>
                    </m:r>
                    <m:r>
                      <a:rPr lang="en-US" sz="2000" b="0" i="1" smtClean="0">
                        <a:solidFill>
                          <a:srgbClr val="0070C0"/>
                        </a:solidFill>
                        <a:latin typeface="Cambria Math" panose="02040503050406030204" pitchFamily="18" charset="0"/>
                      </a:rPr>
                      <m:t>)</m:t>
                    </m:r>
                  </m:oMath>
                </a14:m>
                <a:r>
                  <a:rPr lang="en-US" sz="2000" dirty="0">
                    <a:solidFill>
                      <a:schemeClr val="tx1"/>
                    </a:solidFill>
                  </a:rPr>
                  <a:t> with Bayes’ Theorem</a:t>
                </a:r>
              </a:p>
              <a:p>
                <a:pPr marL="457200" indent="-457200">
                  <a:buAutoNum type="arabicPeriod"/>
                </a:pPr>
                <a:endParaRPr lang="en-US" sz="2000" dirty="0">
                  <a:solidFill>
                    <a:schemeClr val="tx1"/>
                  </a:solidFill>
                </a:endParaRPr>
              </a:p>
              <a:p>
                <a:pPr/>
                <a14:m>
                  <m:oMathPara xmlns:m="http://schemas.openxmlformats.org/officeDocument/2006/math">
                    <m:oMathParaPr>
                      <m:jc m:val="centerGroup"/>
                    </m:oMathParaPr>
                    <m:oMath xmlns:m="http://schemas.openxmlformats.org/officeDocument/2006/math">
                      <m:r>
                        <a:rPr lang="en-AU" sz="2000" b="0" i="1" smtClean="0">
                          <a:solidFill>
                            <a:schemeClr val="tx1"/>
                          </a:solidFill>
                          <a:latin typeface="Cambria Math" panose="02040503050406030204" pitchFamily="18" charset="0"/>
                        </a:rPr>
                        <m:t>𝑝</m:t>
                      </m:r>
                      <m:d>
                        <m:dPr>
                          <m:ctrlPr>
                            <a:rPr lang="en-AU" sz="2000" b="0" i="1" smtClean="0">
                              <a:solidFill>
                                <a:schemeClr val="tx1"/>
                              </a:solidFill>
                              <a:latin typeface="Cambria Math" panose="02040503050406030204" pitchFamily="18" charset="0"/>
                            </a:rPr>
                          </m:ctrlPr>
                        </m:dPr>
                        <m:e>
                          <m:r>
                            <a:rPr lang="en-AU" sz="2000" b="1" i="1" smtClean="0">
                              <a:solidFill>
                                <a:schemeClr val="tx1"/>
                              </a:solidFill>
                              <a:latin typeface="Cambria Math" panose="02040503050406030204" pitchFamily="18" charset="0"/>
                            </a:rPr>
                            <m:t>𝒘</m:t>
                          </m:r>
                        </m:e>
                        <m:e>
                          <m:r>
                            <a:rPr lang="en-AU" sz="2000" b="0" i="1" smtClean="0">
                              <a:solidFill>
                                <a:schemeClr val="tx1"/>
                              </a:solidFill>
                              <a:latin typeface="Cambria Math" panose="02040503050406030204" pitchFamily="18" charset="0"/>
                            </a:rPr>
                            <m:t>𝐷</m:t>
                          </m:r>
                        </m:e>
                      </m:d>
                      <m:r>
                        <a:rPr lang="en-AU" sz="2000" b="0" i="1" smtClean="0">
                          <a:solidFill>
                            <a:schemeClr val="tx1"/>
                          </a:solidFill>
                          <a:latin typeface="Cambria Math" panose="02040503050406030204" pitchFamily="18" charset="0"/>
                        </a:rPr>
                        <m:t>=</m:t>
                      </m:r>
                      <m:f>
                        <m:fPr>
                          <m:ctrlPr>
                            <a:rPr lang="en-AU" sz="2000" b="0" i="1" smtClean="0">
                              <a:solidFill>
                                <a:schemeClr val="tx1"/>
                              </a:solidFill>
                              <a:latin typeface="Cambria Math" panose="02040503050406030204" pitchFamily="18" charset="0"/>
                            </a:rPr>
                          </m:ctrlPr>
                        </m:fPr>
                        <m:num>
                          <m:r>
                            <a:rPr lang="en-AU" sz="2000" b="0" i="1" smtClean="0">
                              <a:solidFill>
                                <a:schemeClr val="tx1"/>
                              </a:solidFill>
                              <a:latin typeface="Cambria Math" panose="02040503050406030204" pitchFamily="18" charset="0"/>
                            </a:rPr>
                            <m:t>𝑝</m:t>
                          </m:r>
                          <m:d>
                            <m:dPr>
                              <m:ctrlPr>
                                <a:rPr lang="en-AU" sz="2000" b="0" i="1" smtClean="0">
                                  <a:solidFill>
                                    <a:schemeClr val="tx1"/>
                                  </a:solidFill>
                                  <a:latin typeface="Cambria Math" panose="02040503050406030204" pitchFamily="18" charset="0"/>
                                </a:rPr>
                              </m:ctrlPr>
                            </m:dPr>
                            <m:e>
                              <m:r>
                                <a:rPr lang="en-AU" sz="2000" b="0" i="1" smtClean="0">
                                  <a:solidFill>
                                    <a:schemeClr val="tx1"/>
                                  </a:solidFill>
                                  <a:latin typeface="Cambria Math" panose="02040503050406030204" pitchFamily="18" charset="0"/>
                                </a:rPr>
                                <m:t>𝐷</m:t>
                              </m:r>
                            </m:e>
                            <m:e>
                              <m:r>
                                <a:rPr lang="en-AU" sz="2000" b="1" i="1" smtClean="0">
                                  <a:solidFill>
                                    <a:schemeClr val="tx1"/>
                                  </a:solidFill>
                                  <a:latin typeface="Cambria Math" panose="02040503050406030204" pitchFamily="18" charset="0"/>
                                </a:rPr>
                                <m:t>𝒘</m:t>
                              </m:r>
                            </m:e>
                          </m:d>
                          <m:r>
                            <a:rPr lang="en-AU" sz="2000" b="0" i="1" smtClean="0">
                              <a:solidFill>
                                <a:schemeClr val="tx1"/>
                              </a:solidFill>
                              <a:latin typeface="Cambria Math" panose="02040503050406030204" pitchFamily="18" charset="0"/>
                            </a:rPr>
                            <m:t>𝑝</m:t>
                          </m:r>
                          <m:r>
                            <a:rPr lang="en-AU" sz="2000" b="0" i="1" smtClean="0">
                              <a:solidFill>
                                <a:schemeClr val="tx1"/>
                              </a:solidFill>
                              <a:latin typeface="Cambria Math" panose="02040503050406030204" pitchFamily="18" charset="0"/>
                            </a:rPr>
                            <m:t>(</m:t>
                          </m:r>
                          <m:r>
                            <a:rPr lang="en-AU" sz="2000" b="1" i="1" smtClean="0">
                              <a:solidFill>
                                <a:schemeClr val="tx1"/>
                              </a:solidFill>
                              <a:latin typeface="Cambria Math" panose="02040503050406030204" pitchFamily="18" charset="0"/>
                            </a:rPr>
                            <m:t>𝒘</m:t>
                          </m:r>
                          <m:r>
                            <a:rPr lang="en-AU" sz="2000" b="0" i="1" smtClean="0">
                              <a:solidFill>
                                <a:schemeClr val="tx1"/>
                              </a:solidFill>
                              <a:latin typeface="Cambria Math" panose="02040503050406030204" pitchFamily="18" charset="0"/>
                            </a:rPr>
                            <m:t>)</m:t>
                          </m:r>
                        </m:num>
                        <m:den>
                          <m:r>
                            <a:rPr lang="en-AU" sz="2000" b="0" i="1" smtClean="0">
                              <a:solidFill>
                                <a:schemeClr val="tx1"/>
                              </a:solidFill>
                              <a:latin typeface="Cambria Math" panose="02040503050406030204" pitchFamily="18" charset="0"/>
                            </a:rPr>
                            <m:t>𝑝</m:t>
                          </m:r>
                          <m:r>
                            <a:rPr lang="en-AU" sz="2000" b="0" i="1" smtClean="0">
                              <a:solidFill>
                                <a:schemeClr val="tx1"/>
                              </a:solidFill>
                              <a:latin typeface="Cambria Math" panose="02040503050406030204" pitchFamily="18" charset="0"/>
                            </a:rPr>
                            <m:t>(</m:t>
                          </m:r>
                          <m:r>
                            <a:rPr lang="en-AU" sz="2000" b="0" i="1" smtClean="0">
                              <a:solidFill>
                                <a:schemeClr val="tx1"/>
                              </a:solidFill>
                              <a:latin typeface="Cambria Math" panose="02040503050406030204" pitchFamily="18" charset="0"/>
                            </a:rPr>
                            <m:t>𝐷</m:t>
                          </m:r>
                          <m:r>
                            <a:rPr lang="en-AU" sz="2000" b="0" i="1" smtClean="0">
                              <a:solidFill>
                                <a:schemeClr val="tx1"/>
                              </a:solidFill>
                              <a:latin typeface="Cambria Math" panose="02040503050406030204" pitchFamily="18" charset="0"/>
                            </a:rPr>
                            <m:t>)</m:t>
                          </m:r>
                        </m:den>
                      </m:f>
                    </m:oMath>
                  </m:oMathPara>
                </a14:m>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This directly gives us uncertainty about parameters!</a:t>
                </a:r>
              </a:p>
            </p:txBody>
          </p:sp>
        </mc:Choice>
        <mc:Fallback xmlns="">
          <p:sp>
            <p:nvSpPr>
              <p:cNvPr id="9" name="Rectangle 8"/>
              <p:cNvSpPr>
                <a:spLocks noRot="1" noChangeAspect="1" noMove="1" noResize="1" noEditPoints="1" noAdjustHandles="1" noChangeArrowheads="1" noChangeShapeType="1" noTextEdit="1"/>
              </p:cNvSpPr>
              <p:nvPr/>
            </p:nvSpPr>
            <p:spPr>
              <a:xfrm>
                <a:off x="467544" y="1556792"/>
                <a:ext cx="7776864" cy="4680520"/>
              </a:xfrm>
              <a:prstGeom prst="rect">
                <a:avLst/>
              </a:prstGeom>
              <a:blipFill>
                <a:blip r:embed="rId3"/>
                <a:stretch>
                  <a:fillRect l="-816" t="-542" r="-326" b="-2710"/>
                </a:stretch>
              </a:blipFill>
              <a:ln>
                <a:noFill/>
              </a:ln>
            </p:spPr>
            <p:txBody>
              <a:bodyPr/>
              <a:lstStyle/>
              <a:p>
                <a:r>
                  <a:rPr lang="en-AU">
                    <a:noFill/>
                  </a:rPr>
                  <a:t> </a:t>
                </a:r>
              </a:p>
            </p:txBody>
          </p:sp>
        </mc:Fallback>
      </mc:AlternateContent>
      <p:sp>
        <p:nvSpPr>
          <p:cNvPr id="2" name="TextBox 1">
            <a:extLst>
              <a:ext uri="{FF2B5EF4-FFF2-40B4-BE49-F238E27FC236}">
                <a16:creationId xmlns:a16="http://schemas.microsoft.com/office/drawing/2014/main" id="{1C31C370-DD68-B945-A085-329022ED1ECF}"/>
              </a:ext>
            </a:extLst>
          </p:cNvPr>
          <p:cNvSpPr txBox="1"/>
          <p:nvPr/>
        </p:nvSpPr>
        <p:spPr>
          <a:xfrm>
            <a:off x="2411760" y="5373216"/>
            <a:ext cx="1048685" cy="338554"/>
          </a:xfrm>
          <a:prstGeom prst="rect">
            <a:avLst/>
          </a:prstGeom>
          <a:noFill/>
        </p:spPr>
        <p:txBody>
          <a:bodyPr wrap="none" rtlCol="0">
            <a:spAutoFit/>
          </a:bodyPr>
          <a:lstStyle/>
          <a:p>
            <a:r>
              <a:rPr lang="en-AU" dirty="0">
                <a:solidFill>
                  <a:srgbClr val="FF0000"/>
                </a:solidFill>
              </a:rPr>
              <a:t>posterior </a:t>
            </a:r>
          </a:p>
        </p:txBody>
      </p:sp>
      <p:sp>
        <p:nvSpPr>
          <p:cNvPr id="6" name="TextBox 5">
            <a:extLst>
              <a:ext uri="{FF2B5EF4-FFF2-40B4-BE49-F238E27FC236}">
                <a16:creationId xmlns:a16="http://schemas.microsoft.com/office/drawing/2014/main" id="{D644E91E-A079-A44C-ACEB-6A8C4566FC94}"/>
              </a:ext>
            </a:extLst>
          </p:cNvPr>
          <p:cNvSpPr txBox="1"/>
          <p:nvPr/>
        </p:nvSpPr>
        <p:spPr>
          <a:xfrm>
            <a:off x="3863693" y="5373216"/>
            <a:ext cx="1031244" cy="338554"/>
          </a:xfrm>
          <a:prstGeom prst="rect">
            <a:avLst/>
          </a:prstGeom>
          <a:noFill/>
        </p:spPr>
        <p:txBody>
          <a:bodyPr wrap="none" rtlCol="0">
            <a:spAutoFit/>
          </a:bodyPr>
          <a:lstStyle/>
          <a:p>
            <a:r>
              <a:rPr lang="en-AU" dirty="0">
                <a:solidFill>
                  <a:srgbClr val="FF0000"/>
                </a:solidFill>
              </a:rPr>
              <a:t>likelihood</a:t>
            </a:r>
          </a:p>
        </p:txBody>
      </p:sp>
      <p:sp>
        <p:nvSpPr>
          <p:cNvPr id="7" name="TextBox 6">
            <a:extLst>
              <a:ext uri="{FF2B5EF4-FFF2-40B4-BE49-F238E27FC236}">
                <a16:creationId xmlns:a16="http://schemas.microsoft.com/office/drawing/2014/main" id="{B2BA07ED-A585-9C48-8A46-97E13A7A7F0A}"/>
              </a:ext>
            </a:extLst>
          </p:cNvPr>
          <p:cNvSpPr txBox="1"/>
          <p:nvPr/>
        </p:nvSpPr>
        <p:spPr>
          <a:xfrm>
            <a:off x="5370255" y="5373216"/>
            <a:ext cx="604653" cy="338554"/>
          </a:xfrm>
          <a:prstGeom prst="rect">
            <a:avLst/>
          </a:prstGeom>
          <a:noFill/>
        </p:spPr>
        <p:txBody>
          <a:bodyPr wrap="none" rtlCol="0">
            <a:spAutoFit/>
          </a:bodyPr>
          <a:lstStyle/>
          <a:p>
            <a:r>
              <a:rPr lang="en-AU" dirty="0">
                <a:solidFill>
                  <a:srgbClr val="FF0000"/>
                </a:solidFill>
              </a:rPr>
              <a:t>prior</a:t>
            </a:r>
          </a:p>
        </p:txBody>
      </p:sp>
      <p:cxnSp>
        <p:nvCxnSpPr>
          <p:cNvPr id="8" name="Straight Arrow Connector 5">
            <a:extLst>
              <a:ext uri="{FF2B5EF4-FFF2-40B4-BE49-F238E27FC236}">
                <a16:creationId xmlns:a16="http://schemas.microsoft.com/office/drawing/2014/main" id="{C354E22E-79A1-804A-8727-EB169E373E36}"/>
              </a:ext>
            </a:extLst>
          </p:cNvPr>
          <p:cNvCxnSpPr>
            <a:cxnSpLocks noChangeArrowheads="1" noChangeShapeType="1"/>
          </p:cNvCxnSpPr>
          <p:nvPr/>
        </p:nvCxnSpPr>
        <p:spPr bwMode="auto">
          <a:xfrm>
            <a:off x="5483263" y="4946583"/>
            <a:ext cx="275769" cy="500372"/>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 name="Straight Arrow Connector 8">
            <a:extLst>
              <a:ext uri="{FF2B5EF4-FFF2-40B4-BE49-F238E27FC236}">
                <a16:creationId xmlns:a16="http://schemas.microsoft.com/office/drawing/2014/main" id="{C3B7A642-100A-0140-AF54-3D65F875A4E3}"/>
              </a:ext>
            </a:extLst>
          </p:cNvPr>
          <p:cNvCxnSpPr>
            <a:cxnSpLocks noChangeArrowheads="1" noChangeShapeType="1"/>
          </p:cNvCxnSpPr>
          <p:nvPr/>
        </p:nvCxnSpPr>
        <p:spPr bwMode="auto">
          <a:xfrm flipH="1">
            <a:off x="4139952" y="4946583"/>
            <a:ext cx="288032" cy="426633"/>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 name="Straight Arrow Connector 11">
            <a:extLst>
              <a:ext uri="{FF2B5EF4-FFF2-40B4-BE49-F238E27FC236}">
                <a16:creationId xmlns:a16="http://schemas.microsoft.com/office/drawing/2014/main" id="{0FCD4675-9C35-C246-A5DD-689575D93AE3}"/>
              </a:ext>
            </a:extLst>
          </p:cNvPr>
          <p:cNvCxnSpPr>
            <a:cxnSpLocks noChangeArrowheads="1" noChangeShapeType="1"/>
          </p:cNvCxnSpPr>
          <p:nvPr/>
        </p:nvCxnSpPr>
        <p:spPr bwMode="auto">
          <a:xfrm flipH="1">
            <a:off x="2994689" y="5194285"/>
            <a:ext cx="281168" cy="252670"/>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7553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idx="4294967295"/>
          </p:nvPr>
        </p:nvSpPr>
        <p:spPr>
          <a:xfrm>
            <a:off x="304800" y="152400"/>
            <a:ext cx="8458200" cy="990600"/>
          </a:xfrm>
        </p:spPr>
        <p:txBody>
          <a:bodyPr/>
          <a:lstStyle/>
          <a:p>
            <a:r>
              <a:rPr lang="en-US" altLang="ko-KR" dirty="0"/>
              <a:t>Encoding Prior Knowledge</a:t>
            </a:r>
          </a:p>
        </p:txBody>
      </p:sp>
      <p:sp>
        <p:nvSpPr>
          <p:cNvPr id="68611" name="Content Placeholder 2"/>
          <p:cNvSpPr>
            <a:spLocks noGrp="1" noRot="1" noChangeAspect="1" noMove="1" noResize="1" noEditPoints="1" noAdjustHandles="1" noChangeArrowheads="1" noTextEdit="1"/>
          </p:cNvSpPr>
          <p:nvPr>
            <p:ph idx="4294967295"/>
          </p:nvPr>
        </p:nvSpPr>
        <p:spPr>
          <a:xfrm>
            <a:off x="228600" y="1524000"/>
            <a:ext cx="8534400" cy="4724400"/>
          </a:xfrm>
          <a:blipFill dpi="0" rotWithShape="0">
            <a:blip r:embed="rId3"/>
            <a:srcRect/>
            <a:stretch>
              <a:fillRect/>
            </a:stretch>
          </a:blipFill>
        </p:spPr>
        <p:txBody>
          <a:bodyPr/>
          <a:lstStyle/>
          <a:p>
            <a:endParaRPr lang="en-AU"/>
          </a:p>
        </p:txBody>
      </p:sp>
      <p:sp>
        <p:nvSpPr>
          <p:cNvPr id="68612" name="TextBox 3"/>
          <p:cNvSpPr>
            <a:spLocks noChangeArrowheads="1"/>
          </p:cNvSpPr>
          <p:nvPr/>
        </p:nvSpPr>
        <p:spPr bwMode="auto">
          <a:xfrm>
            <a:off x="9078913" y="54467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endParaRPr lang="en-AU" altLang="en-US" sz="1600">
              <a:ea typeface="굴림" pitchFamily="6" charset="-127"/>
            </a:endParaRPr>
          </a:p>
        </p:txBody>
      </p:sp>
      <p:sp>
        <p:nvSpPr>
          <p:cNvPr id="68613" name="TextBox 4"/>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noChangeArrowheads="1"/>
          </p:cNvSpPr>
          <p:nvPr>
            <p:ph type="title" idx="4294967295"/>
          </p:nvPr>
        </p:nvSpPr>
        <p:spPr>
          <a:xfrm>
            <a:off x="304800" y="152400"/>
            <a:ext cx="8458200" cy="990600"/>
          </a:xfrm>
        </p:spPr>
        <p:txBody>
          <a:bodyPr/>
          <a:lstStyle/>
          <a:p>
            <a:r>
              <a:rPr lang="en-US" altLang="ko-KR" dirty="0"/>
              <a:t>Encoding Prior Knowledge</a:t>
            </a:r>
          </a:p>
        </p:txBody>
      </p:sp>
      <p:sp>
        <p:nvSpPr>
          <p:cNvPr id="37120" name="Content Placeholder 2"/>
          <p:cNvSpPr>
            <a:spLocks noGrp="1" noRot="1" noChangeAspect="1" noMove="1" noResize="1" noEditPoints="1" noAdjustHandles="1" noChangeArrowheads="1" noTextEdit="1"/>
          </p:cNvSpPr>
          <p:nvPr>
            <p:ph idx="4294967295"/>
          </p:nvPr>
        </p:nvSpPr>
        <p:spPr>
          <a:xfrm>
            <a:off x="228600" y="1524000"/>
            <a:ext cx="8534400" cy="4724400"/>
          </a:xfrm>
          <a:blipFill dpi="0" rotWithShape="0">
            <a:blip r:embed="rId3"/>
            <a:srcRect/>
            <a:stretch>
              <a:fillRect/>
            </a:stretch>
          </a:blipFill>
        </p:spPr>
        <p:txBody>
          <a:bodyPr/>
          <a:lstStyle/>
          <a:p>
            <a:endParaRPr lang="en-AU"/>
          </a:p>
        </p:txBody>
      </p:sp>
      <p:pic>
        <p:nvPicPr>
          <p:cNvPr id="37121"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3670300"/>
            <a:ext cx="4008438"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22"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313" y="3594100"/>
            <a:ext cx="3889375"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23" name="TextBox 16"/>
          <p:cNvSpPr>
            <a:spLocks noChangeArrowheads="1"/>
          </p:cNvSpPr>
          <p:nvPr/>
        </p:nvSpPr>
        <p:spPr bwMode="auto">
          <a:xfrm>
            <a:off x="2895600" y="6335713"/>
            <a:ext cx="914400" cy="246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endParaRPr lang="en-AU" altLang="en-US" sz="1000">
              <a:ea typeface="굴림" pitchFamily="6" charset="-127"/>
            </a:endParaRPr>
          </a:p>
        </p:txBody>
      </p:sp>
      <p:sp>
        <p:nvSpPr>
          <p:cNvPr id="37124" name="TextBox 17"/>
          <p:cNvSpPr>
            <a:spLocks noChangeArrowheads="1"/>
          </p:cNvSpPr>
          <p:nvPr/>
        </p:nvSpPr>
        <p:spPr bwMode="auto">
          <a:xfrm>
            <a:off x="6858000" y="6319838"/>
            <a:ext cx="914400" cy="246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endParaRPr lang="en-AU" altLang="en-US" sz="1000">
              <a:ea typeface="굴림" pitchFamily="6" charset="-127"/>
            </a:endParaRPr>
          </a:p>
        </p:txBody>
      </p:sp>
      <p:sp>
        <p:nvSpPr>
          <p:cNvPr id="37125" name="TextBox 18"/>
          <p:cNvSpPr>
            <a:spLocks noChangeArrowheads="1"/>
          </p:cNvSpPr>
          <p:nvPr/>
        </p:nvSpPr>
        <p:spPr bwMode="auto">
          <a:xfrm>
            <a:off x="2387600" y="6397625"/>
            <a:ext cx="609600" cy="338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600">
                <a:ea typeface="굴림" pitchFamily="6" charset="-127"/>
              </a:rPr>
              <a:t>w</a:t>
            </a:r>
          </a:p>
        </p:txBody>
      </p:sp>
      <p:sp>
        <p:nvSpPr>
          <p:cNvPr id="70665" name="TextBox 19"/>
          <p:cNvSpPr>
            <a:spLocks noChangeArrowheads="1"/>
          </p:cNvSpPr>
          <p:nvPr/>
        </p:nvSpPr>
        <p:spPr bwMode="auto">
          <a:xfrm>
            <a:off x="6461125" y="6443663"/>
            <a:ext cx="609600" cy="338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600">
                <a:ea typeface="굴림" pitchFamily="6" charset="-127"/>
              </a:rPr>
              <a:t>w</a:t>
            </a:r>
          </a:p>
        </p:txBody>
      </p:sp>
      <p:sp>
        <p:nvSpPr>
          <p:cNvPr id="37127" name="TextBox 1"/>
          <p:cNvSpPr>
            <a:spLocks noChangeArrowheads="1"/>
          </p:cNvSpPr>
          <p:nvPr/>
        </p:nvSpPr>
        <p:spPr bwMode="auto">
          <a:xfrm>
            <a:off x="7070725" y="3962400"/>
            <a:ext cx="16922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AU" altLang="ko-KR" sz="1600" dirty="0">
                <a:solidFill>
                  <a:srgbClr val="0070C0"/>
                </a:solidFill>
                <a:ea typeface="굴림" pitchFamily="6" charset="-127"/>
              </a:rPr>
              <a:t>2+3-2= 3 tosses</a:t>
            </a:r>
          </a:p>
          <a:p>
            <a:pPr>
              <a:spcBef>
                <a:spcPct val="0"/>
              </a:spcBef>
              <a:buFontTx/>
              <a:buNone/>
            </a:pPr>
            <a:r>
              <a:rPr lang="en-AU" altLang="ko-KR" sz="1600" dirty="0">
                <a:solidFill>
                  <a:srgbClr val="0070C0"/>
                </a:solidFill>
                <a:ea typeface="굴림" pitchFamily="6" charset="-127"/>
              </a:rPr>
              <a:t>2-1=1 (H)</a:t>
            </a:r>
          </a:p>
          <a:p>
            <a:pPr>
              <a:spcBef>
                <a:spcPct val="0"/>
              </a:spcBef>
              <a:buFontTx/>
              <a:buNone/>
            </a:pPr>
            <a:r>
              <a:rPr lang="en-AU" altLang="ko-KR" sz="1600" dirty="0">
                <a:solidFill>
                  <a:srgbClr val="0070C0"/>
                </a:solidFill>
                <a:ea typeface="굴림" pitchFamily="6" charset="-127"/>
              </a:rPr>
              <a:t>3-1=2 (T)</a:t>
            </a:r>
          </a:p>
          <a:p>
            <a:pPr>
              <a:spcBef>
                <a:spcPct val="0"/>
              </a:spcBef>
              <a:buFontTx/>
              <a:buNone/>
            </a:pPr>
            <a:r>
              <a:rPr lang="en-AU" altLang="ko-KR" sz="1600" dirty="0">
                <a:solidFill>
                  <a:srgbClr val="0070C0"/>
                </a:solidFill>
                <a:ea typeface="굴림" pitchFamily="6" charset="-127"/>
              </a:rPr>
              <a:t>4th toss H? 1/3</a:t>
            </a:r>
          </a:p>
        </p:txBody>
      </p:sp>
      <p:sp>
        <p:nvSpPr>
          <p:cNvPr id="37128" name="Straight Connector 26"/>
          <p:cNvSpPr>
            <a:spLocks noChangeShapeType="1"/>
          </p:cNvSpPr>
          <p:nvPr/>
        </p:nvSpPr>
        <p:spPr bwMode="auto">
          <a:xfrm>
            <a:off x="5943600" y="4800600"/>
            <a:ext cx="0" cy="1447800"/>
          </a:xfrm>
          <a:prstGeom prst="line">
            <a:avLst/>
          </a:prstGeom>
          <a:noFill/>
          <a:ln w="38100">
            <a:solidFill>
              <a:srgbClr val="0066FF"/>
            </a:solidFill>
            <a:prstDash val="sysDash"/>
            <a:round/>
            <a:headEnd/>
            <a:tailEnd/>
          </a:ln>
          <a:extLst>
            <a:ext uri="{909E8E84-426E-40DD-AFC4-6F175D3DCCD1}">
              <a14:hiddenFill xmlns:a14="http://schemas.microsoft.com/office/drawing/2010/main">
                <a:noFill/>
              </a14:hiddenFill>
            </a:ext>
          </a:extLst>
        </p:spPr>
        <p:txBody>
          <a:bodyP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120"/>
                                        </p:tgtEl>
                                        <p:attrNameLst>
                                          <p:attrName>style.visibility</p:attrName>
                                        </p:attrNameLst>
                                      </p:cBhvr>
                                      <p:to>
                                        <p:strVal val="visible"/>
                                      </p:to>
                                    </p:set>
                                    <p:animEffect transition="in" filter="dissolve">
                                      <p:cBhvr>
                                        <p:cTn id="7" dur="500"/>
                                        <p:tgtEl>
                                          <p:spTgt spid="371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7121"/>
                                        </p:tgtEl>
                                        <p:attrNameLst>
                                          <p:attrName>style.visibility</p:attrName>
                                        </p:attrNameLst>
                                      </p:cBhvr>
                                      <p:to>
                                        <p:strVal val="visible"/>
                                      </p:to>
                                    </p:set>
                                    <p:animEffect transition="in" filter="dissolve">
                                      <p:cBhvr>
                                        <p:cTn id="12" dur="500"/>
                                        <p:tgtEl>
                                          <p:spTgt spid="37121"/>
                                        </p:tgtEl>
                                      </p:cBhvr>
                                    </p:animEffect>
                                  </p:childTnLst>
                                </p:cTn>
                              </p:par>
                              <p:par>
                                <p:cTn id="13" presetID="9" presetClass="entr" presetSubtype="0" fill="hold" nodeType="withEffect">
                                  <p:stCondLst>
                                    <p:cond delay="0"/>
                                  </p:stCondLst>
                                  <p:childTnLst>
                                    <p:set>
                                      <p:cBhvr>
                                        <p:cTn id="14" dur="1" fill="hold">
                                          <p:stCondLst>
                                            <p:cond delay="0"/>
                                          </p:stCondLst>
                                        </p:cTn>
                                        <p:tgtEl>
                                          <p:spTgt spid="37122"/>
                                        </p:tgtEl>
                                        <p:attrNameLst>
                                          <p:attrName>style.visibility</p:attrName>
                                        </p:attrNameLst>
                                      </p:cBhvr>
                                      <p:to>
                                        <p:strVal val="visible"/>
                                      </p:to>
                                    </p:set>
                                    <p:animEffect transition="in" filter="dissolve">
                                      <p:cBhvr>
                                        <p:cTn id="15" dur="500"/>
                                        <p:tgtEl>
                                          <p:spTgt spid="3712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7123"/>
                                        </p:tgtEl>
                                        <p:attrNameLst>
                                          <p:attrName>style.visibility</p:attrName>
                                        </p:attrNameLst>
                                      </p:cBhvr>
                                      <p:to>
                                        <p:strVal val="visible"/>
                                      </p:to>
                                    </p:set>
                                    <p:animEffect transition="in" filter="dissolve">
                                      <p:cBhvr>
                                        <p:cTn id="18" dur="500"/>
                                        <p:tgtEl>
                                          <p:spTgt spid="37123"/>
                                        </p:tgtEl>
                                      </p:cBhvr>
                                    </p:animEffect>
                                  </p:childTnLst>
                                </p:cTn>
                              </p:par>
                              <p:par>
                                <p:cTn id="19" presetID="9" presetClass="entr" presetSubtype="0" fill="hold" nodeType="withEffect">
                                  <p:stCondLst>
                                    <p:cond delay="0"/>
                                  </p:stCondLst>
                                  <p:childTnLst>
                                    <p:set>
                                      <p:cBhvr>
                                        <p:cTn id="20" dur="1" fill="hold">
                                          <p:stCondLst>
                                            <p:cond delay="0"/>
                                          </p:stCondLst>
                                        </p:cTn>
                                        <p:tgtEl>
                                          <p:spTgt spid="37124"/>
                                        </p:tgtEl>
                                        <p:attrNameLst>
                                          <p:attrName>style.visibility</p:attrName>
                                        </p:attrNameLst>
                                      </p:cBhvr>
                                      <p:to>
                                        <p:strVal val="visible"/>
                                      </p:to>
                                    </p:set>
                                    <p:animEffect transition="in" filter="dissolve">
                                      <p:cBhvr>
                                        <p:cTn id="21" dur="500"/>
                                        <p:tgtEl>
                                          <p:spTgt spid="37124"/>
                                        </p:tgtEl>
                                      </p:cBhvr>
                                    </p:animEffect>
                                  </p:childTnLst>
                                </p:cTn>
                              </p:par>
                              <p:par>
                                <p:cTn id="22" presetID="9" presetClass="entr" presetSubtype="0" fill="hold" nodeType="withEffect">
                                  <p:stCondLst>
                                    <p:cond delay="0"/>
                                  </p:stCondLst>
                                  <p:childTnLst>
                                    <p:set>
                                      <p:cBhvr>
                                        <p:cTn id="23" dur="1" fill="hold">
                                          <p:stCondLst>
                                            <p:cond delay="0"/>
                                          </p:stCondLst>
                                        </p:cTn>
                                        <p:tgtEl>
                                          <p:spTgt spid="37125"/>
                                        </p:tgtEl>
                                        <p:attrNameLst>
                                          <p:attrName>style.visibility</p:attrName>
                                        </p:attrNameLst>
                                      </p:cBhvr>
                                      <p:to>
                                        <p:strVal val="visible"/>
                                      </p:to>
                                    </p:set>
                                    <p:animEffect transition="in" filter="dissolve">
                                      <p:cBhvr>
                                        <p:cTn id="24" dur="500"/>
                                        <p:tgtEl>
                                          <p:spTgt spid="37125"/>
                                        </p:tgtEl>
                                      </p:cBhvr>
                                    </p:animEffect>
                                  </p:childTnLst>
                                </p:cTn>
                              </p:par>
                              <p:par>
                                <p:cTn id="25" presetID="9" presetClass="entr" presetSubtype="0" fill="hold" nodeType="withEffect">
                                  <p:stCondLst>
                                    <p:cond delay="0"/>
                                  </p:stCondLst>
                                  <p:childTnLst>
                                    <p:set>
                                      <p:cBhvr>
                                        <p:cTn id="26" dur="1" fill="hold">
                                          <p:stCondLst>
                                            <p:cond delay="0"/>
                                          </p:stCondLst>
                                        </p:cTn>
                                        <p:tgtEl>
                                          <p:spTgt spid="37127"/>
                                        </p:tgtEl>
                                        <p:attrNameLst>
                                          <p:attrName>style.visibility</p:attrName>
                                        </p:attrNameLst>
                                      </p:cBhvr>
                                      <p:to>
                                        <p:strVal val="visible"/>
                                      </p:to>
                                    </p:set>
                                    <p:animEffect transition="in" filter="dissolve">
                                      <p:cBhvr>
                                        <p:cTn id="27" dur="500"/>
                                        <p:tgtEl>
                                          <p:spTgt spid="37127"/>
                                        </p:tgtEl>
                                      </p:cBhvr>
                                    </p:animEffect>
                                  </p:childTnLst>
                                </p:cTn>
                              </p:par>
                              <p:par>
                                <p:cTn id="28" presetID="9" presetClass="entr" presetSubtype="0" fill="hold" nodeType="withEffect">
                                  <p:stCondLst>
                                    <p:cond delay="0"/>
                                  </p:stCondLst>
                                  <p:childTnLst>
                                    <p:set>
                                      <p:cBhvr>
                                        <p:cTn id="29" dur="1" fill="hold">
                                          <p:stCondLst>
                                            <p:cond delay="0"/>
                                          </p:stCondLst>
                                        </p:cTn>
                                        <p:tgtEl>
                                          <p:spTgt spid="37128"/>
                                        </p:tgtEl>
                                        <p:attrNameLst>
                                          <p:attrName>style.visibility</p:attrName>
                                        </p:attrNameLst>
                                      </p:cBhvr>
                                      <p:to>
                                        <p:strVal val="visible"/>
                                      </p:to>
                                    </p:set>
                                    <p:animEffect transition="in" filter="dissolve">
                                      <p:cBhvr>
                                        <p:cTn id="30" dur="500"/>
                                        <p:tgtEl>
                                          <p:spTgt spid="37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23" grpId="0" animBg="1"/>
      <p:bldP spid="37124" grpId="0" animBg="1"/>
      <p:bldP spid="37125" grpId="0" animBg="1"/>
      <p:bldP spid="3712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idx="4294967295"/>
          </p:nvPr>
        </p:nvSpPr>
        <p:spPr>
          <a:xfrm>
            <a:off x="304800" y="152400"/>
            <a:ext cx="8458200" cy="990600"/>
          </a:xfrm>
        </p:spPr>
        <p:txBody>
          <a:bodyPr/>
          <a:lstStyle/>
          <a:p>
            <a:r>
              <a:rPr lang="en-US" altLang="ko-KR"/>
              <a:t>What is Bayesian Approach to ML</a:t>
            </a:r>
          </a:p>
        </p:txBody>
      </p:sp>
      <p:sp>
        <p:nvSpPr>
          <p:cNvPr id="74755" name="Content Placeholder 2"/>
          <p:cNvSpPr>
            <a:spLocks noGrp="1" noRot="1" noChangeAspect="1" noMove="1" noResize="1" noEditPoints="1" noAdjustHandles="1" noChangeArrowheads="1" noTextEdit="1"/>
          </p:cNvSpPr>
          <p:nvPr>
            <p:ph idx="4294967295"/>
          </p:nvPr>
        </p:nvSpPr>
        <p:spPr>
          <a:xfrm>
            <a:off x="228600" y="1447800"/>
            <a:ext cx="8534400" cy="4953000"/>
          </a:xfrm>
          <a:blipFill dpi="0" rotWithShape="0">
            <a:blip r:embed="rId3"/>
            <a:srcRect/>
            <a:stretch>
              <a:fillRect/>
            </a:stretch>
          </a:blipFill>
        </p:spPr>
        <p:txBody>
          <a:bodyPr/>
          <a:lstStyle/>
          <a:p>
            <a:endParaRPr lang="en-US" dirty="0"/>
          </a:p>
        </p:txBody>
      </p:sp>
      <p:sp>
        <p:nvSpPr>
          <p:cNvPr id="74756" name="TextBox 3"/>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noChangeArrowheads="1"/>
          </p:cNvSpPr>
          <p:nvPr>
            <p:ph type="title" idx="4294967295"/>
          </p:nvPr>
        </p:nvSpPr>
        <p:spPr>
          <a:xfrm>
            <a:off x="304800" y="152400"/>
            <a:ext cx="8458200" cy="990600"/>
          </a:xfrm>
        </p:spPr>
        <p:txBody>
          <a:bodyPr/>
          <a:lstStyle/>
          <a:p>
            <a:r>
              <a:rPr lang="en-US" altLang="ko-KR"/>
              <a:t>What is Bayesian Approach to ML</a:t>
            </a:r>
          </a:p>
        </p:txBody>
      </p:sp>
      <p:sp>
        <p:nvSpPr>
          <p:cNvPr id="76803" name="Content Placeholder 2"/>
          <p:cNvSpPr>
            <a:spLocks noGrp="1" noRot="1" noChangeAspect="1" noMove="1" noResize="1" noEditPoints="1" noAdjustHandles="1" noChangeArrowheads="1" noTextEdit="1"/>
          </p:cNvSpPr>
          <p:nvPr>
            <p:ph idx="4294967295"/>
          </p:nvPr>
        </p:nvSpPr>
        <p:spPr>
          <a:xfrm>
            <a:off x="228600" y="1447800"/>
            <a:ext cx="8534400" cy="4953000"/>
          </a:xfrm>
          <a:blipFill dpi="0" rotWithShape="0">
            <a:blip r:embed="rId3"/>
            <a:srcRect/>
            <a:stretch>
              <a:fillRect/>
            </a:stretch>
          </a:blipFill>
        </p:spPr>
        <p:txBody>
          <a:bodyPr/>
          <a:lstStyle/>
          <a:p>
            <a:endParaRPr lang="en-AU" dirty="0"/>
          </a:p>
        </p:txBody>
      </p:sp>
      <p:sp>
        <p:nvSpPr>
          <p:cNvPr id="76804" name="TextBox 3"/>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idx="4294967295"/>
          </p:nvPr>
        </p:nvSpPr>
        <p:spPr>
          <a:xfrm>
            <a:off x="304800" y="152400"/>
            <a:ext cx="8458200" cy="990600"/>
          </a:xfrm>
        </p:spPr>
        <p:txBody>
          <a:bodyPr/>
          <a:lstStyle/>
          <a:p>
            <a:r>
              <a:rPr lang="en-AU" dirty="0"/>
              <a:t>Bayesian Approach: Prediction</a:t>
            </a:r>
            <a:endParaRPr lang="en-US" altLang="ko-KR" dirty="0"/>
          </a:p>
        </p:txBody>
      </p:sp>
      <p:sp>
        <p:nvSpPr>
          <p:cNvPr id="82947" name="Content Placeholder 2"/>
          <p:cNvSpPr>
            <a:spLocks noGrp="1" noRot="1" noChangeAspect="1" noMove="1" noResize="1" noEditPoints="1" noAdjustHandles="1" noChangeArrowheads="1" noTextEdit="1"/>
          </p:cNvSpPr>
          <p:nvPr>
            <p:ph idx="4294967295"/>
          </p:nvPr>
        </p:nvSpPr>
        <p:spPr>
          <a:xfrm>
            <a:off x="228600" y="1447800"/>
            <a:ext cx="8534400" cy="4953000"/>
          </a:xfrm>
          <a:blipFill dpi="0" rotWithShape="0">
            <a:blip r:embed="rId3"/>
            <a:srcRect/>
            <a:stretch>
              <a:fillRect/>
            </a:stretch>
          </a:blipFill>
        </p:spPr>
        <p:txBody>
          <a:bodyPr/>
          <a:lstStyle/>
          <a:p>
            <a:endParaRPr lang="en-AU"/>
          </a:p>
        </p:txBody>
      </p:sp>
      <p:sp>
        <p:nvSpPr>
          <p:cNvPr id="82948" name="TextBox 3"/>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83CBA-7177-4743-A989-5CBFA38EB5D5}"/>
              </a:ext>
            </a:extLst>
          </p:cNvPr>
          <p:cNvSpPr>
            <a:spLocks noGrp="1"/>
          </p:cNvSpPr>
          <p:nvPr>
            <p:ph type="title"/>
          </p:nvPr>
        </p:nvSpPr>
        <p:spPr/>
        <p:txBody>
          <a:bodyPr/>
          <a:lstStyle/>
          <a:p>
            <a:r>
              <a:rPr lang="en-AU" dirty="0"/>
              <a:t>Bayesian Approach: Prediction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A10F62D-B94F-1849-BC50-AA624D7EB9E9}"/>
                  </a:ext>
                </a:extLst>
              </p:cNvPr>
              <p:cNvSpPr>
                <a:spLocks noGrp="1"/>
              </p:cNvSpPr>
              <p:nvPr>
                <p:ph idx="1"/>
              </p:nvPr>
            </p:nvSpPr>
            <p:spPr/>
            <p:txBody>
              <a:bodyPr/>
              <a:lstStyle/>
              <a:p>
                <a:pPr marL="98425" indent="0">
                  <a:buNone/>
                </a:pPr>
                <a:r>
                  <a:rPr lang="en-AU" sz="1800" dirty="0"/>
                  <a:t>Probability of head given data</a:t>
                </a:r>
              </a:p>
              <a:p>
                <a:pPr marL="98425" indent="0">
                  <a:lnSpc>
                    <a:spcPct val="150000"/>
                  </a:lnSpc>
                  <a:spcBef>
                    <a:spcPts val="624"/>
                  </a:spcBef>
                  <a:spcAft>
                    <a:spcPts val="600"/>
                  </a:spcAft>
                  <a:buNone/>
                </a:pPr>
                <a14:m>
                  <m:oMathPara xmlns:m="http://schemas.openxmlformats.org/officeDocument/2006/math">
                    <m:oMathParaPr>
                      <m:jc m:val="centerGroup"/>
                    </m:oMathParaPr>
                    <m:oMath xmlns:m="http://schemas.openxmlformats.org/officeDocument/2006/math">
                      <m:r>
                        <a:rPr lang="en-AU" sz="1800" i="1">
                          <a:latin typeface="Cambria Math" panose="02040503050406030204" pitchFamily="18" charset="0"/>
                        </a:rPr>
                        <m:t>𝑝</m:t>
                      </m:r>
                      <m:d>
                        <m:dPr>
                          <m:ctrlPr>
                            <a:rPr lang="en-AU" sz="1800" i="1">
                              <a:latin typeface="Cambria Math" panose="02040503050406030204" pitchFamily="18" charset="0"/>
                            </a:rPr>
                          </m:ctrlPr>
                        </m:dPr>
                        <m:e>
                          <m:r>
                            <a:rPr lang="en-AU" sz="1800" i="1">
                              <a:latin typeface="Cambria Math" panose="02040503050406030204" pitchFamily="18" charset="0"/>
                            </a:rPr>
                            <m:t>𝐻</m:t>
                          </m:r>
                        </m:e>
                        <m:e>
                          <m:r>
                            <a:rPr lang="en-AU" sz="1800" i="1">
                              <a:latin typeface="Cambria Math" panose="02040503050406030204" pitchFamily="18" charset="0"/>
                            </a:rPr>
                            <m:t>𝐷</m:t>
                          </m:r>
                        </m:e>
                      </m:d>
                      <m:r>
                        <m:rPr>
                          <m:aln/>
                        </m:rPr>
                        <a:rPr lang="en-AU" sz="1800" i="1">
                          <a:latin typeface="Cambria Math" panose="02040503050406030204" pitchFamily="18" charset="0"/>
                        </a:rPr>
                        <m:t>=</m:t>
                      </m:r>
                      <m:nary>
                        <m:naryPr>
                          <m:ctrlPr>
                            <a:rPr lang="en-AU" sz="1800" i="1">
                              <a:latin typeface="Cambria Math" panose="02040503050406030204" pitchFamily="18" charset="0"/>
                            </a:rPr>
                          </m:ctrlPr>
                        </m:naryPr>
                        <m:sub>
                          <m:r>
                            <a:rPr lang="en-AU" sz="1800" i="1">
                              <a:latin typeface="Cambria Math" panose="02040503050406030204" pitchFamily="18" charset="0"/>
                            </a:rPr>
                            <m:t>0</m:t>
                          </m:r>
                        </m:sub>
                        <m:sup>
                          <m:r>
                            <a:rPr lang="en-AU" sz="1800" i="1">
                              <a:latin typeface="Cambria Math" panose="02040503050406030204" pitchFamily="18" charset="0"/>
                            </a:rPr>
                            <m:t>1</m:t>
                          </m:r>
                        </m:sup>
                        <m:e>
                          <m:r>
                            <a:rPr lang="en-AU" sz="1800" i="1">
                              <a:latin typeface="Cambria Math" panose="02040503050406030204" pitchFamily="18" charset="0"/>
                            </a:rPr>
                            <m:t>𝑝</m:t>
                          </m:r>
                          <m:d>
                            <m:dPr>
                              <m:ctrlPr>
                                <a:rPr lang="en-AU" sz="1800" i="1">
                                  <a:latin typeface="Cambria Math" panose="02040503050406030204" pitchFamily="18" charset="0"/>
                                </a:rPr>
                              </m:ctrlPr>
                            </m:dPr>
                            <m:e>
                              <m:r>
                                <a:rPr lang="en-AU" sz="1800" i="1">
                                  <a:latin typeface="Cambria Math" panose="02040503050406030204" pitchFamily="18" charset="0"/>
                                </a:rPr>
                                <m:t>𝐻</m:t>
                              </m:r>
                              <m:r>
                                <a:rPr lang="en-AU" sz="1800" i="1">
                                  <a:latin typeface="Cambria Math" panose="02040503050406030204" pitchFamily="18" charset="0"/>
                                </a:rPr>
                                <m:t>,</m:t>
                              </m:r>
                              <m:r>
                                <a:rPr lang="en-AU" sz="1800" i="1">
                                  <a:latin typeface="Cambria Math" panose="02040503050406030204" pitchFamily="18" charset="0"/>
                                </a:rPr>
                                <m:t>𝑤</m:t>
                              </m:r>
                            </m:e>
                            <m:e>
                              <m:r>
                                <a:rPr lang="en-AU" sz="1800" i="1">
                                  <a:latin typeface="Cambria Math" panose="02040503050406030204" pitchFamily="18" charset="0"/>
                                </a:rPr>
                                <m:t>𝐷</m:t>
                              </m:r>
                            </m:e>
                          </m:d>
                          <m:r>
                            <a:rPr lang="en-AU" sz="1800" i="1">
                              <a:latin typeface="Cambria Math" panose="02040503050406030204" pitchFamily="18" charset="0"/>
                            </a:rPr>
                            <m:t>𝑑𝑤</m:t>
                          </m:r>
                        </m:e>
                      </m:nary>
                    </m:oMath>
                    <m:oMath xmlns:m="http://schemas.openxmlformats.org/officeDocument/2006/math">
                      <m:r>
                        <m:rPr>
                          <m:aln/>
                        </m:rPr>
                        <a:rPr lang="en-AU" sz="1800" i="1">
                          <a:latin typeface="Cambria Math" panose="02040503050406030204" pitchFamily="18" charset="0"/>
                        </a:rPr>
                        <m:t>=</m:t>
                      </m:r>
                      <m:nary>
                        <m:naryPr>
                          <m:ctrlPr>
                            <a:rPr lang="en-AU" sz="1800" i="1">
                              <a:latin typeface="Cambria Math" panose="02040503050406030204" pitchFamily="18" charset="0"/>
                            </a:rPr>
                          </m:ctrlPr>
                        </m:naryPr>
                        <m:sub>
                          <m:r>
                            <a:rPr lang="en-AU" sz="1800" i="1">
                              <a:latin typeface="Cambria Math" panose="02040503050406030204" pitchFamily="18" charset="0"/>
                            </a:rPr>
                            <m:t>0</m:t>
                          </m:r>
                        </m:sub>
                        <m:sup>
                          <m:r>
                            <a:rPr lang="en-AU" sz="1800" i="1">
                              <a:latin typeface="Cambria Math" panose="02040503050406030204" pitchFamily="18" charset="0"/>
                            </a:rPr>
                            <m:t>1</m:t>
                          </m:r>
                        </m:sup>
                        <m:e>
                          <m:r>
                            <a:rPr lang="en-AU" sz="1800" i="1">
                              <a:latin typeface="Cambria Math" panose="02040503050406030204" pitchFamily="18" charset="0"/>
                            </a:rPr>
                            <m:t>𝑝</m:t>
                          </m:r>
                          <m:d>
                            <m:dPr>
                              <m:ctrlPr>
                                <a:rPr lang="en-AU" sz="1800" i="1">
                                  <a:latin typeface="Cambria Math" panose="02040503050406030204" pitchFamily="18" charset="0"/>
                                </a:rPr>
                              </m:ctrlPr>
                            </m:dPr>
                            <m:e>
                              <m:r>
                                <a:rPr lang="en-AU" sz="1800" i="1">
                                  <a:latin typeface="Cambria Math" panose="02040503050406030204" pitchFamily="18" charset="0"/>
                                </a:rPr>
                                <m:t>𝐻</m:t>
                              </m:r>
                            </m:e>
                            <m:e>
                              <m:r>
                                <a:rPr lang="en-AU" sz="1800" i="1">
                                  <a:latin typeface="Cambria Math" panose="02040503050406030204" pitchFamily="18" charset="0"/>
                                </a:rPr>
                                <m:t>𝑤</m:t>
                              </m:r>
                              <m:r>
                                <a:rPr lang="en-AU" sz="1800" i="1">
                                  <a:latin typeface="Cambria Math" panose="02040503050406030204" pitchFamily="18" charset="0"/>
                                </a:rPr>
                                <m:t>,</m:t>
                              </m:r>
                              <m:r>
                                <a:rPr lang="en-AU" sz="1800" i="1">
                                  <a:latin typeface="Cambria Math" panose="02040503050406030204" pitchFamily="18" charset="0"/>
                                </a:rPr>
                                <m:t>𝐷</m:t>
                              </m:r>
                            </m:e>
                          </m:d>
                          <m:r>
                            <a:rPr lang="en-AU" sz="1800" i="1">
                              <a:latin typeface="Cambria Math" panose="02040503050406030204" pitchFamily="18" charset="0"/>
                            </a:rPr>
                            <m:t>𝑝</m:t>
                          </m:r>
                          <m:d>
                            <m:dPr>
                              <m:ctrlPr>
                                <a:rPr lang="en-AU" sz="1800" i="1">
                                  <a:latin typeface="Cambria Math" panose="02040503050406030204" pitchFamily="18" charset="0"/>
                                </a:rPr>
                              </m:ctrlPr>
                            </m:dPr>
                            <m:e>
                              <m:r>
                                <a:rPr lang="en-AU" sz="1800" i="1">
                                  <a:latin typeface="Cambria Math" panose="02040503050406030204" pitchFamily="18" charset="0"/>
                                </a:rPr>
                                <m:t>𝑤</m:t>
                              </m:r>
                            </m:e>
                            <m:e>
                              <m:r>
                                <a:rPr lang="en-AU" sz="1800" i="1">
                                  <a:latin typeface="Cambria Math" panose="02040503050406030204" pitchFamily="18" charset="0"/>
                                </a:rPr>
                                <m:t>𝐷</m:t>
                              </m:r>
                            </m:e>
                          </m:d>
                          <m:r>
                            <a:rPr lang="en-AU" sz="1800" i="1">
                              <a:latin typeface="Cambria Math" panose="02040503050406030204" pitchFamily="18" charset="0"/>
                            </a:rPr>
                            <m:t>𝑑𝑤</m:t>
                          </m:r>
                        </m:e>
                      </m:nary>
                    </m:oMath>
                    <m:oMath xmlns:m="http://schemas.openxmlformats.org/officeDocument/2006/math">
                      <m:r>
                        <m:rPr>
                          <m:aln/>
                        </m:rPr>
                        <a:rPr lang="en-AU" sz="1800" i="1">
                          <a:latin typeface="Cambria Math" panose="02040503050406030204" pitchFamily="18" charset="0"/>
                        </a:rPr>
                        <m:t>=</m:t>
                      </m:r>
                      <m:nary>
                        <m:naryPr>
                          <m:ctrlPr>
                            <a:rPr lang="en-AU" sz="1800" i="1">
                              <a:latin typeface="Cambria Math" panose="02040503050406030204" pitchFamily="18" charset="0"/>
                            </a:rPr>
                          </m:ctrlPr>
                        </m:naryPr>
                        <m:sub>
                          <m:r>
                            <a:rPr lang="en-AU" sz="1800" i="1">
                              <a:latin typeface="Cambria Math" panose="02040503050406030204" pitchFamily="18" charset="0"/>
                            </a:rPr>
                            <m:t>0</m:t>
                          </m:r>
                        </m:sub>
                        <m:sup>
                          <m:r>
                            <a:rPr lang="en-AU" sz="1800" i="1">
                              <a:latin typeface="Cambria Math" panose="02040503050406030204" pitchFamily="18" charset="0"/>
                            </a:rPr>
                            <m:t>1</m:t>
                          </m:r>
                        </m:sup>
                        <m:e>
                          <m:r>
                            <a:rPr lang="en-AU" sz="1800" i="1">
                              <a:latin typeface="Cambria Math" panose="02040503050406030204" pitchFamily="18" charset="0"/>
                            </a:rPr>
                            <m:t>𝑤</m:t>
                          </m:r>
                          <m:r>
                            <a:rPr lang="en-AU" sz="1800" i="1">
                              <a:latin typeface="Cambria Math" panose="02040503050406030204" pitchFamily="18" charset="0"/>
                            </a:rPr>
                            <m:t> </m:t>
                          </m:r>
                          <m:r>
                            <a:rPr lang="en-AU" sz="1800" i="1">
                              <a:latin typeface="Cambria Math" panose="02040503050406030204" pitchFamily="18" charset="0"/>
                            </a:rPr>
                            <m:t>𝑝</m:t>
                          </m:r>
                          <m:d>
                            <m:dPr>
                              <m:ctrlPr>
                                <a:rPr lang="en-AU" sz="1800" i="1">
                                  <a:latin typeface="Cambria Math" panose="02040503050406030204" pitchFamily="18" charset="0"/>
                                </a:rPr>
                              </m:ctrlPr>
                            </m:dPr>
                            <m:e>
                              <m:r>
                                <a:rPr lang="en-AU" sz="1800" i="1">
                                  <a:latin typeface="Cambria Math" panose="02040503050406030204" pitchFamily="18" charset="0"/>
                                </a:rPr>
                                <m:t>𝑤</m:t>
                              </m:r>
                            </m:e>
                            <m:e>
                              <m:r>
                                <a:rPr lang="en-AU" sz="1800" i="1">
                                  <a:latin typeface="Cambria Math" panose="02040503050406030204" pitchFamily="18" charset="0"/>
                                </a:rPr>
                                <m:t>𝐷</m:t>
                              </m:r>
                            </m:e>
                          </m:d>
                          <m:r>
                            <a:rPr lang="en-AU" sz="1800" i="1">
                              <a:latin typeface="Cambria Math" panose="02040503050406030204" pitchFamily="18" charset="0"/>
                            </a:rPr>
                            <m:t>𝑑𝑤</m:t>
                          </m:r>
                        </m:e>
                      </m:nary>
                    </m:oMath>
                    <m:oMath xmlns:m="http://schemas.openxmlformats.org/officeDocument/2006/math">
                      <m:r>
                        <m:rPr>
                          <m:aln/>
                        </m:rPr>
                        <a:rPr lang="en-AU" sz="1800" i="1">
                          <a:latin typeface="Cambria Math" panose="02040503050406030204" pitchFamily="18" charset="0"/>
                        </a:rPr>
                        <m:t>=</m:t>
                      </m:r>
                      <m:r>
                        <a:rPr lang="en-AU" sz="1800" b="1" i="0">
                          <a:latin typeface="Cambria Math" panose="02040503050406030204" pitchFamily="18" charset="0"/>
                        </a:rPr>
                        <m:t>𝐄</m:t>
                      </m:r>
                      <m:d>
                        <m:dPr>
                          <m:begChr m:val="["/>
                          <m:endChr m:val="|"/>
                          <m:ctrlPr>
                            <a:rPr lang="en-AU" sz="1800" b="0" i="1" smtClean="0">
                              <a:latin typeface="Cambria Math" panose="02040503050406030204" pitchFamily="18" charset="0"/>
                            </a:rPr>
                          </m:ctrlPr>
                        </m:dPr>
                        <m:e>
                          <m:r>
                            <a:rPr lang="en-AU" sz="1800" i="1">
                              <a:latin typeface="Cambria Math" panose="02040503050406030204" pitchFamily="18" charset="0"/>
                            </a:rPr>
                            <m:t>𝑤</m:t>
                          </m:r>
                        </m:e>
                      </m:d>
                      <m:r>
                        <a:rPr lang="en-AU" sz="1800" i="1">
                          <a:latin typeface="Cambria Math" panose="02040503050406030204" pitchFamily="18" charset="0"/>
                        </a:rPr>
                        <m:t>𝐷</m:t>
                      </m:r>
                      <m:r>
                        <a:rPr lang="en-AU" sz="1800" b="0" i="1" smtClean="0">
                          <a:latin typeface="Cambria Math" panose="02040503050406030204" pitchFamily="18" charset="0"/>
                        </a:rPr>
                        <m:t>]</m:t>
                      </m:r>
                    </m:oMath>
                    <m:oMath xmlns:m="http://schemas.openxmlformats.org/officeDocument/2006/math">
                      <m:r>
                        <m:rPr>
                          <m:aln/>
                        </m:rPr>
                        <a:rPr lang="en-AU" sz="1800" i="1">
                          <a:latin typeface="Cambria Math" panose="02040503050406030204" pitchFamily="18" charset="0"/>
                        </a:rPr>
                        <m:t>=</m:t>
                      </m:r>
                      <m:f>
                        <m:fPr>
                          <m:ctrlPr>
                            <a:rPr lang="en-AU" sz="1800" i="1">
                              <a:latin typeface="Cambria Math" panose="02040503050406030204" pitchFamily="18" charset="0"/>
                            </a:rPr>
                          </m:ctrlPr>
                        </m:fPr>
                        <m:num>
                          <m:d>
                            <m:dPr>
                              <m:begChr m:val="|"/>
                              <m:endChr m:val="|"/>
                              <m:ctrlPr>
                                <a:rPr lang="en-AU" sz="1800" i="1">
                                  <a:latin typeface="Cambria Math" panose="02040503050406030204" pitchFamily="18" charset="0"/>
                                </a:rPr>
                              </m:ctrlPr>
                            </m:dPr>
                            <m:e>
                              <m:r>
                                <a:rPr lang="en-AU" sz="1800" i="1">
                                  <a:latin typeface="Cambria Math" panose="02040503050406030204" pitchFamily="18" charset="0"/>
                                </a:rPr>
                                <m:t>𝐻</m:t>
                              </m:r>
                            </m:e>
                          </m:d>
                          <m:r>
                            <a:rPr lang="en-AU" sz="1800" i="1">
                              <a:latin typeface="Cambria Math" panose="02040503050406030204" pitchFamily="18" charset="0"/>
                            </a:rPr>
                            <m:t>+</m:t>
                          </m:r>
                          <m:r>
                            <a:rPr lang="en-AU" sz="1800" i="1">
                              <a:latin typeface="Cambria Math" panose="02040503050406030204" pitchFamily="18" charset="0"/>
                            </a:rPr>
                            <m:t>𝑎</m:t>
                          </m:r>
                        </m:num>
                        <m:den>
                          <m:d>
                            <m:dPr>
                              <m:begChr m:val="|"/>
                              <m:endChr m:val="|"/>
                              <m:ctrlPr>
                                <a:rPr lang="en-AU" sz="1800" i="1">
                                  <a:latin typeface="Cambria Math" panose="02040503050406030204" pitchFamily="18" charset="0"/>
                                </a:rPr>
                              </m:ctrlPr>
                            </m:dPr>
                            <m:e>
                              <m:r>
                                <a:rPr lang="en-AU" sz="1800" i="1">
                                  <a:latin typeface="Cambria Math" panose="02040503050406030204" pitchFamily="18" charset="0"/>
                                </a:rPr>
                                <m:t>𝐻</m:t>
                              </m:r>
                            </m:e>
                          </m:d>
                          <m:r>
                            <a:rPr lang="en-AU" sz="1800" i="1">
                              <a:latin typeface="Cambria Math" panose="02040503050406030204" pitchFamily="18" charset="0"/>
                            </a:rPr>
                            <m:t>+</m:t>
                          </m:r>
                          <m:d>
                            <m:dPr>
                              <m:begChr m:val="|"/>
                              <m:endChr m:val="|"/>
                              <m:ctrlPr>
                                <a:rPr lang="en-AU" sz="1800" i="1">
                                  <a:latin typeface="Cambria Math" panose="02040503050406030204" pitchFamily="18" charset="0"/>
                                </a:rPr>
                              </m:ctrlPr>
                            </m:dPr>
                            <m:e>
                              <m:r>
                                <a:rPr lang="en-AU" sz="1800" i="1">
                                  <a:latin typeface="Cambria Math" panose="02040503050406030204" pitchFamily="18" charset="0"/>
                                </a:rPr>
                                <m:t>𝑇</m:t>
                              </m:r>
                            </m:e>
                          </m:d>
                          <m:r>
                            <a:rPr lang="en-AU" sz="1800" i="1">
                              <a:latin typeface="Cambria Math" panose="02040503050406030204" pitchFamily="18" charset="0"/>
                            </a:rPr>
                            <m:t>+</m:t>
                          </m:r>
                          <m:r>
                            <a:rPr lang="en-AU" sz="1800" i="1">
                              <a:latin typeface="Cambria Math" panose="02040503050406030204" pitchFamily="18" charset="0"/>
                            </a:rPr>
                            <m:t>𝑎</m:t>
                          </m:r>
                          <m:r>
                            <a:rPr lang="en-AU" sz="1800" i="1">
                              <a:latin typeface="Cambria Math" panose="02040503050406030204" pitchFamily="18" charset="0"/>
                            </a:rPr>
                            <m:t>+</m:t>
                          </m:r>
                          <m:r>
                            <a:rPr lang="en-AU" sz="1800" i="1">
                              <a:latin typeface="Cambria Math" panose="02040503050406030204" pitchFamily="18" charset="0"/>
                            </a:rPr>
                            <m:t>𝑏</m:t>
                          </m:r>
                        </m:den>
                      </m:f>
                    </m:oMath>
                  </m:oMathPara>
                </a14:m>
                <a:endParaRPr lang="en-AU" sz="1800" dirty="0"/>
              </a:p>
              <a:p>
                <a:pPr marL="98425" indent="0">
                  <a:buNone/>
                </a:pPr>
                <a:endParaRPr lang="en-AU" sz="1800" dirty="0"/>
              </a:p>
            </p:txBody>
          </p:sp>
        </mc:Choice>
        <mc:Fallback xmlns="">
          <p:sp>
            <p:nvSpPr>
              <p:cNvPr id="4" name="Content Placeholder 3">
                <a:extLst>
                  <a:ext uri="{FF2B5EF4-FFF2-40B4-BE49-F238E27FC236}">
                    <a16:creationId xmlns:a16="http://schemas.microsoft.com/office/drawing/2014/main" id="{2A10F62D-B94F-1849-BC50-AA624D7EB9E9}"/>
                  </a:ext>
                </a:extLst>
              </p:cNvPr>
              <p:cNvSpPr>
                <a:spLocks noGrp="1" noRot="1" noChangeAspect="1" noMove="1" noResize="1" noEditPoints="1" noAdjustHandles="1" noChangeArrowheads="1" noChangeShapeType="1" noTextEdit="1"/>
              </p:cNvSpPr>
              <p:nvPr>
                <p:ph idx="1"/>
              </p:nvPr>
            </p:nvSpPr>
            <p:spPr>
              <a:blipFill>
                <a:blip r:embed="rId2"/>
                <a:stretch>
                  <a:fillRect t="-13239" b="-507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8B2783B-464E-A247-B46E-9B3B434B616A}"/>
              </a:ext>
            </a:extLst>
          </p:cNvPr>
          <p:cNvSpPr txBox="1"/>
          <p:nvPr/>
        </p:nvSpPr>
        <p:spPr>
          <a:xfrm>
            <a:off x="6876256" y="2204864"/>
            <a:ext cx="968535" cy="338554"/>
          </a:xfrm>
          <a:prstGeom prst="rect">
            <a:avLst/>
          </a:prstGeom>
          <a:noFill/>
        </p:spPr>
        <p:txBody>
          <a:bodyPr wrap="none" rtlCol="0">
            <a:spAutoFit/>
          </a:bodyPr>
          <a:lstStyle/>
          <a:p>
            <a:r>
              <a:rPr lang="en-AU" dirty="0">
                <a:solidFill>
                  <a:srgbClr val="0070C0"/>
                </a:solidFill>
              </a:rPr>
              <a:t>sum rule</a:t>
            </a:r>
          </a:p>
        </p:txBody>
      </p:sp>
      <p:sp>
        <p:nvSpPr>
          <p:cNvPr id="6" name="TextBox 5">
            <a:extLst>
              <a:ext uri="{FF2B5EF4-FFF2-40B4-BE49-F238E27FC236}">
                <a16:creationId xmlns:a16="http://schemas.microsoft.com/office/drawing/2014/main" id="{67D9B752-B180-CD4D-917E-34045843CEB8}"/>
              </a:ext>
            </a:extLst>
          </p:cNvPr>
          <p:cNvSpPr txBox="1"/>
          <p:nvPr/>
        </p:nvSpPr>
        <p:spPr>
          <a:xfrm>
            <a:off x="6876256" y="3212976"/>
            <a:ext cx="1066318" cy="338554"/>
          </a:xfrm>
          <a:prstGeom prst="rect">
            <a:avLst/>
          </a:prstGeom>
          <a:noFill/>
        </p:spPr>
        <p:txBody>
          <a:bodyPr wrap="none" rtlCol="0">
            <a:spAutoFit/>
          </a:bodyPr>
          <a:lstStyle/>
          <a:p>
            <a:r>
              <a:rPr lang="en-AU" dirty="0">
                <a:solidFill>
                  <a:srgbClr val="0070C0"/>
                </a:solidFill>
              </a:rPr>
              <a:t>chain rule</a:t>
            </a:r>
          </a:p>
        </p:txBody>
      </p:sp>
      <p:sp>
        <p:nvSpPr>
          <p:cNvPr id="7" name="TextBox 6">
            <a:extLst>
              <a:ext uri="{FF2B5EF4-FFF2-40B4-BE49-F238E27FC236}">
                <a16:creationId xmlns:a16="http://schemas.microsoft.com/office/drawing/2014/main" id="{7412A5D6-D6FC-924D-BAF0-6290B1881099}"/>
              </a:ext>
            </a:extLst>
          </p:cNvPr>
          <p:cNvSpPr txBox="1"/>
          <p:nvPr/>
        </p:nvSpPr>
        <p:spPr>
          <a:xfrm>
            <a:off x="6876256" y="4100486"/>
            <a:ext cx="1330814" cy="338554"/>
          </a:xfrm>
          <a:prstGeom prst="rect">
            <a:avLst/>
          </a:prstGeom>
          <a:noFill/>
        </p:spPr>
        <p:txBody>
          <a:bodyPr wrap="none" rtlCol="0">
            <a:spAutoFit/>
          </a:bodyPr>
          <a:lstStyle/>
          <a:p>
            <a:r>
              <a:rPr lang="en-AU" dirty="0">
                <a:solidFill>
                  <a:srgbClr val="0070C0"/>
                </a:solidFill>
              </a:rPr>
              <a:t>def of model</a:t>
            </a:r>
          </a:p>
        </p:txBody>
      </p:sp>
      <p:sp>
        <p:nvSpPr>
          <p:cNvPr id="8" name="TextBox 7">
            <a:extLst>
              <a:ext uri="{FF2B5EF4-FFF2-40B4-BE49-F238E27FC236}">
                <a16:creationId xmlns:a16="http://schemas.microsoft.com/office/drawing/2014/main" id="{60CE5BBB-E3BC-6A42-A166-2A4B672F48AD}"/>
              </a:ext>
            </a:extLst>
          </p:cNvPr>
          <p:cNvSpPr txBox="1"/>
          <p:nvPr/>
        </p:nvSpPr>
        <p:spPr>
          <a:xfrm>
            <a:off x="6876256" y="4710663"/>
            <a:ext cx="1819729" cy="338554"/>
          </a:xfrm>
          <a:prstGeom prst="rect">
            <a:avLst/>
          </a:prstGeom>
          <a:noFill/>
        </p:spPr>
        <p:txBody>
          <a:bodyPr wrap="none" rtlCol="0">
            <a:spAutoFit/>
          </a:bodyPr>
          <a:lstStyle/>
          <a:p>
            <a:r>
              <a:rPr lang="en-AU" dirty="0">
                <a:solidFill>
                  <a:srgbClr val="0070C0"/>
                </a:solidFill>
              </a:rPr>
              <a:t>def of expectation</a:t>
            </a:r>
          </a:p>
        </p:txBody>
      </p:sp>
      <p:sp>
        <p:nvSpPr>
          <p:cNvPr id="9" name="TextBox 8">
            <a:extLst>
              <a:ext uri="{FF2B5EF4-FFF2-40B4-BE49-F238E27FC236}">
                <a16:creationId xmlns:a16="http://schemas.microsoft.com/office/drawing/2014/main" id="{C727E76C-F950-C040-9A27-828E02D8E255}"/>
              </a:ext>
            </a:extLst>
          </p:cNvPr>
          <p:cNvSpPr txBox="1"/>
          <p:nvPr/>
        </p:nvSpPr>
        <p:spPr>
          <a:xfrm>
            <a:off x="6876256" y="5363182"/>
            <a:ext cx="2150525" cy="338554"/>
          </a:xfrm>
          <a:prstGeom prst="rect">
            <a:avLst/>
          </a:prstGeom>
          <a:noFill/>
        </p:spPr>
        <p:txBody>
          <a:bodyPr wrap="none" rtlCol="0">
            <a:spAutoFit/>
          </a:bodyPr>
          <a:lstStyle/>
          <a:p>
            <a:r>
              <a:rPr lang="en-AU" dirty="0">
                <a:solidFill>
                  <a:srgbClr val="0070C0"/>
                </a:solidFill>
              </a:rPr>
              <a:t>from Beta distribution</a:t>
            </a:r>
          </a:p>
        </p:txBody>
      </p:sp>
    </p:spTree>
    <p:extLst>
      <p:ext uri="{BB962C8B-B14F-4D97-AF65-F5344CB8AC3E}">
        <p14:creationId xmlns:p14="http://schemas.microsoft.com/office/powerpoint/2010/main" val="298662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noChangeArrowheads="1"/>
          </p:cNvSpPr>
          <p:nvPr>
            <p:ph type="title" idx="4294967295"/>
          </p:nvPr>
        </p:nvSpPr>
        <p:spPr>
          <a:xfrm>
            <a:off x="304800" y="152400"/>
            <a:ext cx="8458200" cy="990600"/>
          </a:xfrm>
        </p:spPr>
        <p:txBody>
          <a:bodyPr/>
          <a:lstStyle/>
          <a:p>
            <a:r>
              <a:rPr lang="en-AU" dirty="0"/>
              <a:t>Bayesian Approach: Prediction</a:t>
            </a:r>
            <a:endParaRPr lang="en-US" altLang="ko-KR" dirty="0"/>
          </a:p>
        </p:txBody>
      </p:sp>
      <p:sp>
        <p:nvSpPr>
          <p:cNvPr id="89091" name="Content Placeholder 2"/>
          <p:cNvSpPr>
            <a:spLocks noGrp="1" noRot="1" noChangeAspect="1" noMove="1" noResize="1" noEditPoints="1" noAdjustHandles="1" noChangeArrowheads="1" noTextEdit="1"/>
          </p:cNvSpPr>
          <p:nvPr>
            <p:ph idx="4294967295"/>
          </p:nvPr>
        </p:nvSpPr>
        <p:spPr>
          <a:xfrm>
            <a:off x="228600" y="1447800"/>
            <a:ext cx="8534400" cy="4953000"/>
          </a:xfrm>
          <a:blipFill dpi="0" rotWithShape="0">
            <a:blip r:embed="rId3"/>
            <a:srcRect/>
            <a:stretch>
              <a:fillRect/>
            </a:stretch>
          </a:blipFill>
        </p:spPr>
        <p:txBody>
          <a:bodyPr/>
          <a:lstStyle/>
          <a:p>
            <a:endParaRPr lang="en-AU"/>
          </a:p>
        </p:txBody>
      </p:sp>
      <p:sp>
        <p:nvSpPr>
          <p:cNvPr id="89092" name="TextBox 3"/>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20AC-1850-6640-86DB-E07505A54510}"/>
              </a:ext>
            </a:extLst>
          </p:cNvPr>
          <p:cNvSpPr>
            <a:spLocks noGrp="1"/>
          </p:cNvSpPr>
          <p:nvPr>
            <p:ph type="title"/>
          </p:nvPr>
        </p:nvSpPr>
        <p:spPr/>
        <p:txBody>
          <a:bodyPr/>
          <a:lstStyle/>
          <a:p>
            <a:r>
              <a:rPr lang="en-AU" dirty="0"/>
              <a:t>Summary 1/3: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F7D629-778D-C94D-9CB1-576F9B937BA1}"/>
                  </a:ext>
                </a:extLst>
              </p:cNvPr>
              <p:cNvSpPr>
                <a:spLocks noGrp="1"/>
              </p:cNvSpPr>
              <p:nvPr>
                <p:ph idx="1"/>
              </p:nvPr>
            </p:nvSpPr>
            <p:spPr/>
            <p:txBody>
              <a:bodyPr/>
              <a:lstStyle/>
              <a:p>
                <a:pPr>
                  <a:spcBef>
                    <a:spcPts val="1080"/>
                  </a:spcBef>
                </a:pPr>
                <a:r>
                  <a:rPr lang="en-AU" sz="2000" dirty="0"/>
                  <a:t>Random </a:t>
                </a:r>
                <a:r>
                  <a:rPr lang="en-AU" sz="2000" dirty="0">
                    <a:solidFill>
                      <a:srgbClr val="0070C0"/>
                    </a:solidFill>
                  </a:rPr>
                  <a:t>variables</a:t>
                </a:r>
                <a:r>
                  <a:rPr lang="en-AU" sz="2000" dirty="0"/>
                  <a:t> </a:t>
                </a:r>
                <a14:m>
                  <m:oMath xmlns:m="http://schemas.openxmlformats.org/officeDocument/2006/math">
                    <m:r>
                      <a:rPr lang="en-AU" sz="2000" i="1" dirty="0" smtClean="0">
                        <a:solidFill>
                          <a:srgbClr val="0070C0"/>
                        </a:solidFill>
                        <a:latin typeface="Cambria Math" panose="02040503050406030204" pitchFamily="18" charset="0"/>
                      </a:rPr>
                      <m:t>𝑋</m:t>
                    </m:r>
                  </m:oMath>
                </a14:m>
                <a:r>
                  <a:rPr lang="en-AU" sz="2000" dirty="0"/>
                  <a:t> take on values </a:t>
                </a:r>
                <a14:m>
                  <m:oMath xmlns:m="http://schemas.openxmlformats.org/officeDocument/2006/math">
                    <m:r>
                      <a:rPr lang="en-AU" sz="2000" i="1" dirty="0" smtClean="0">
                        <a:solidFill>
                          <a:srgbClr val="0070C0"/>
                        </a:solidFill>
                        <a:latin typeface="Cambria Math" panose="02040503050406030204" pitchFamily="18" charset="0"/>
                      </a:rPr>
                      <m:t>𝑥</m:t>
                    </m:r>
                  </m:oMath>
                </a14:m>
                <a:r>
                  <a:rPr lang="en-AU" sz="2000" dirty="0"/>
                  <a:t> from some domain </a:t>
                </a:r>
                <a14:m>
                  <m:oMath xmlns:m="http://schemas.openxmlformats.org/officeDocument/2006/math">
                    <m:sSub>
                      <m:sSubPr>
                        <m:ctrlPr>
                          <a:rPr lang="en-AU" sz="2000" b="0" i="1" dirty="0" smtClean="0">
                            <a:solidFill>
                              <a:srgbClr val="0070C0"/>
                            </a:solidFill>
                            <a:latin typeface="Cambria Math" panose="02040503050406030204" pitchFamily="18" charset="0"/>
                          </a:rPr>
                        </m:ctrlPr>
                      </m:sSubPr>
                      <m:e>
                        <m:r>
                          <a:rPr lang="en-AU" sz="2000" i="1" dirty="0" smtClean="0">
                            <a:solidFill>
                              <a:srgbClr val="0070C0"/>
                            </a:solidFill>
                            <a:latin typeface="Cambria Math" panose="02040503050406030204" pitchFamily="18" charset="0"/>
                          </a:rPr>
                          <m:t>𝐷</m:t>
                        </m:r>
                      </m:e>
                      <m:sub>
                        <m:r>
                          <a:rPr lang="en-AU" sz="2000" b="0" i="1" dirty="0" smtClean="0">
                            <a:solidFill>
                              <a:srgbClr val="0070C0"/>
                            </a:solidFill>
                            <a:latin typeface="Cambria Math" panose="02040503050406030204" pitchFamily="18" charset="0"/>
                          </a:rPr>
                          <m:t>𝑋</m:t>
                        </m:r>
                      </m:sub>
                    </m:sSub>
                  </m:oMath>
                </a14:m>
                <a:endParaRPr lang="en-AU" sz="2000" dirty="0"/>
              </a:p>
              <a:p>
                <a:pPr>
                  <a:spcBef>
                    <a:spcPts val="1080"/>
                  </a:spcBef>
                </a:pPr>
                <a:r>
                  <a:rPr lang="en-AU" sz="2000" dirty="0"/>
                  <a:t>Probability </a:t>
                </a:r>
                <a:r>
                  <a:rPr lang="en-AU" sz="2000" dirty="0">
                    <a:solidFill>
                      <a:srgbClr val="0070C0"/>
                    </a:solidFill>
                  </a:rPr>
                  <a:t>distributions</a:t>
                </a:r>
                <a:r>
                  <a:rPr lang="en-AU" sz="2000" dirty="0"/>
                  <a:t> of </a:t>
                </a:r>
                <a14:m>
                  <m:oMath xmlns:m="http://schemas.openxmlformats.org/officeDocument/2006/math">
                    <m:r>
                      <a:rPr lang="en-AU" sz="2000" i="1" dirty="0" smtClean="0">
                        <a:solidFill>
                          <a:srgbClr val="0070C0"/>
                        </a:solidFill>
                        <a:latin typeface="Cambria Math" panose="02040503050406030204" pitchFamily="18" charset="0"/>
                      </a:rPr>
                      <m:t>𝑋</m:t>
                    </m:r>
                  </m:oMath>
                </a14:m>
                <a:r>
                  <a:rPr lang="en-AU" sz="2000" dirty="0"/>
                  <a:t> given by mass or density functions </a:t>
                </a:r>
                <a14:m>
                  <m:oMath xmlns:m="http://schemas.openxmlformats.org/officeDocument/2006/math">
                    <m:r>
                      <a:rPr lang="en-AU" sz="2000" i="1" dirty="0" smtClean="0">
                        <a:solidFill>
                          <a:srgbClr val="0070C0"/>
                        </a:solidFill>
                        <a:latin typeface="Cambria Math" panose="02040503050406030204" pitchFamily="18" charset="0"/>
                      </a:rPr>
                      <m:t>𝑝</m:t>
                    </m:r>
                  </m:oMath>
                </a14:m>
                <a:endParaRPr lang="en-AU" sz="2000" dirty="0"/>
              </a:p>
              <a:p>
                <a:pPr>
                  <a:spcBef>
                    <a:spcPts val="1080"/>
                  </a:spcBef>
                </a:pPr>
                <a:r>
                  <a:rPr lang="en-AU" sz="2000" dirty="0"/>
                  <a:t>Probabilities (</a:t>
                </a:r>
                <a:r>
                  <a:rPr lang="en-AU" sz="2000" dirty="0">
                    <a:solidFill>
                      <a:srgbClr val="0070C0"/>
                    </a:solidFill>
                  </a:rPr>
                  <a:t>masses</a:t>
                </a:r>
                <a:r>
                  <a:rPr lang="en-AU" sz="2000" dirty="0"/>
                  <a:t>) lie in </a:t>
                </a:r>
                <a14:m>
                  <m:oMath xmlns:m="http://schemas.openxmlformats.org/officeDocument/2006/math">
                    <m:r>
                      <a:rPr lang="en-AU" sz="2000" i="1" dirty="0" smtClean="0">
                        <a:solidFill>
                          <a:srgbClr val="0070C0"/>
                        </a:solidFill>
                        <a:latin typeface="Cambria Math" panose="02040503050406030204" pitchFamily="18" charset="0"/>
                      </a:rPr>
                      <m:t>[0,1] </m:t>
                    </m:r>
                  </m:oMath>
                </a14:m>
                <a:r>
                  <a:rPr lang="en-AU" sz="2000" dirty="0"/>
                  <a:t>and sum to one </a:t>
                </a:r>
                <a14:m>
                  <m:oMath xmlns:m="http://schemas.openxmlformats.org/officeDocument/2006/math">
                    <m:nary>
                      <m:naryPr>
                        <m:chr m:val="∑"/>
                        <m:limLoc m:val="subSup"/>
                        <m:ctrlPr>
                          <a:rPr lang="en-AU" sz="2000" i="1">
                            <a:solidFill>
                              <a:srgbClr val="0070C0"/>
                            </a:solidFill>
                            <a:latin typeface="Cambria Math" panose="02040503050406030204" pitchFamily="18" charset="0"/>
                          </a:rPr>
                        </m:ctrlPr>
                      </m:naryPr>
                      <m:sub>
                        <m:r>
                          <m:rPr>
                            <m:brk m:alnAt="25"/>
                          </m:rPr>
                          <a:rPr lang="en-AU" sz="2000" i="1">
                            <a:solidFill>
                              <a:srgbClr val="0070C0"/>
                            </a:solidFill>
                            <a:latin typeface="Cambria Math" panose="02040503050406030204" pitchFamily="18" charset="0"/>
                          </a:rPr>
                          <m:t>𝑥</m:t>
                        </m:r>
                        <m:r>
                          <a:rPr lang="en-AU" sz="2000" i="1">
                            <a:solidFill>
                              <a:srgbClr val="0070C0"/>
                            </a:solidFill>
                            <a:latin typeface="Cambria Math" panose="02040503050406030204" pitchFamily="18" charset="0"/>
                            <a:ea typeface="Cambria Math" panose="02040503050406030204" pitchFamily="18" charset="0"/>
                          </a:rPr>
                          <m:t>∈</m:t>
                        </m:r>
                        <m:sSub>
                          <m:sSubPr>
                            <m:ctrlPr>
                              <a:rPr lang="en-AU" sz="2000" i="1">
                                <a:solidFill>
                                  <a:srgbClr val="0070C0"/>
                                </a:solidFill>
                                <a:latin typeface="Cambria Math" panose="02040503050406030204" pitchFamily="18" charset="0"/>
                                <a:ea typeface="Cambria Math" panose="02040503050406030204" pitchFamily="18" charset="0"/>
                              </a:rPr>
                            </m:ctrlPr>
                          </m:sSubPr>
                          <m:e>
                            <m:r>
                              <m:rPr>
                                <m:brk m:alnAt="25"/>
                              </m:rPr>
                              <a:rPr lang="en-AU" sz="2000" i="1">
                                <a:solidFill>
                                  <a:srgbClr val="0070C0"/>
                                </a:solidFill>
                                <a:latin typeface="Cambria Math" panose="02040503050406030204" pitchFamily="18" charset="0"/>
                                <a:ea typeface="Cambria Math" panose="02040503050406030204" pitchFamily="18" charset="0"/>
                              </a:rPr>
                              <m:t>𝐷</m:t>
                            </m:r>
                          </m:e>
                          <m:sub>
                            <m:r>
                              <m:rPr>
                                <m:brk m:alnAt="25"/>
                              </m:rPr>
                              <a:rPr lang="en-AU" sz="2000" i="1">
                                <a:solidFill>
                                  <a:srgbClr val="0070C0"/>
                                </a:solidFill>
                                <a:latin typeface="Cambria Math" panose="02040503050406030204" pitchFamily="18" charset="0"/>
                                <a:ea typeface="Cambria Math" panose="02040503050406030204" pitchFamily="18" charset="0"/>
                              </a:rPr>
                              <m:t>𝑥</m:t>
                            </m:r>
                          </m:sub>
                        </m:sSub>
                      </m:sub>
                      <m:sup/>
                      <m:e>
                        <m:r>
                          <a:rPr lang="en-AU" sz="2000" i="1">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e>
                        </m:d>
                      </m:e>
                    </m:nary>
                    <m:r>
                      <a:rPr lang="en-AU" sz="2000" b="0" i="1" smtClean="0">
                        <a:solidFill>
                          <a:srgbClr val="0070C0"/>
                        </a:solidFill>
                        <a:latin typeface="Cambria Math" panose="02040503050406030204" pitchFamily="18" charset="0"/>
                      </a:rPr>
                      <m:t>=1</m:t>
                    </m:r>
                  </m:oMath>
                </a14:m>
                <a:endParaRPr lang="en-AU" sz="2000" dirty="0"/>
              </a:p>
              <a:p>
                <a:pPr>
                  <a:spcBef>
                    <a:spcPts val="1080"/>
                  </a:spcBef>
                </a:pPr>
                <a:r>
                  <a:rPr lang="en-AU" sz="2000" dirty="0">
                    <a:solidFill>
                      <a:srgbClr val="0070C0"/>
                    </a:solidFill>
                  </a:rPr>
                  <a:t>Densities</a:t>
                </a:r>
                <a:r>
                  <a:rPr lang="en-AU" sz="2000" dirty="0"/>
                  <a:t> integrate to one </a:t>
                </a:r>
                <a14:m>
                  <m:oMath xmlns:m="http://schemas.openxmlformats.org/officeDocument/2006/math">
                    <m:nary>
                      <m:naryPr>
                        <m:ctrlPr>
                          <a:rPr lang="en-AU" sz="2000" i="1" smtClean="0">
                            <a:solidFill>
                              <a:srgbClr val="0070C0"/>
                            </a:solidFill>
                            <a:latin typeface="Cambria Math" panose="02040503050406030204" pitchFamily="18" charset="0"/>
                          </a:rPr>
                        </m:ctrlPr>
                      </m:naryPr>
                      <m:sub>
                        <m:r>
                          <m:rPr>
                            <m:brk m:alnAt="23"/>
                          </m:rPr>
                          <a:rPr lang="en-AU" sz="2000" b="0" i="1" smtClean="0">
                            <a:solidFill>
                              <a:srgbClr val="0070C0"/>
                            </a:solidFill>
                            <a:latin typeface="Cambria Math" panose="02040503050406030204" pitchFamily="18" charset="0"/>
                          </a:rPr>
                          <m:t>−</m:t>
                        </m:r>
                        <m:r>
                          <a:rPr lang="en-AU" sz="2000" i="1" smtClean="0">
                            <a:solidFill>
                              <a:srgbClr val="0070C0"/>
                            </a:solidFill>
                            <a:latin typeface="Cambria Math" panose="02040503050406030204" pitchFamily="18" charset="0"/>
                            <a:ea typeface="Cambria Math" panose="02040503050406030204" pitchFamily="18" charset="0"/>
                          </a:rPr>
                          <m:t>∞</m:t>
                        </m:r>
                      </m:sub>
                      <m:sup>
                        <m:r>
                          <a:rPr lang="en-AU" sz="2000" i="1" smtClean="0">
                            <a:solidFill>
                              <a:srgbClr val="0070C0"/>
                            </a:solidFill>
                            <a:latin typeface="Cambria Math" panose="02040503050406030204" pitchFamily="18" charset="0"/>
                            <a:ea typeface="Cambria Math" panose="02040503050406030204" pitchFamily="18" charset="0"/>
                          </a:rPr>
                          <m:t>∞</m:t>
                        </m:r>
                      </m:sup>
                      <m:e>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e>
                        </m:d>
                        <m:r>
                          <a:rPr lang="en-AU" sz="2000" b="0" i="1" smtClean="0">
                            <a:solidFill>
                              <a:srgbClr val="0070C0"/>
                            </a:solidFill>
                            <a:latin typeface="Cambria Math" panose="02040503050406030204" pitchFamily="18" charset="0"/>
                          </a:rPr>
                          <m:t>𝑑𝑥</m:t>
                        </m:r>
                      </m:e>
                    </m:nary>
                    <m:r>
                      <a:rPr lang="en-AU" sz="2000" b="0" i="1" smtClean="0">
                        <a:solidFill>
                          <a:srgbClr val="0070C0"/>
                        </a:solidFill>
                        <a:latin typeface="Cambria Math" panose="02040503050406030204" pitchFamily="18" charset="0"/>
                      </a:rPr>
                      <m:t>=1</m:t>
                    </m:r>
                  </m:oMath>
                </a14:m>
                <a:endParaRPr lang="en-AU" sz="2000" dirty="0"/>
              </a:p>
              <a:p>
                <a:pPr>
                  <a:spcBef>
                    <a:spcPts val="1080"/>
                  </a:spcBef>
                </a:pPr>
                <a:r>
                  <a:rPr lang="en-AU" sz="2000" dirty="0">
                    <a:solidFill>
                      <a:srgbClr val="0070C0"/>
                    </a:solidFill>
                  </a:rPr>
                  <a:t>Conditional</a:t>
                </a:r>
                <a:r>
                  <a:rPr lang="en-AU" sz="2000" dirty="0"/>
                  <a:t> probability </a:t>
                </a:r>
                <a14:m>
                  <m:oMath xmlns:m="http://schemas.openxmlformats.org/officeDocument/2006/math">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𝑦</m:t>
                        </m:r>
                      </m:e>
                      <m:e>
                        <m:r>
                          <a:rPr lang="en-AU" sz="2000" b="0" i="1" smtClean="0">
                            <a:solidFill>
                              <a:srgbClr val="0070C0"/>
                            </a:solidFill>
                            <a:latin typeface="Cambria Math" panose="02040503050406030204" pitchFamily="18" charset="0"/>
                          </a:rPr>
                          <m:t>𝑥</m:t>
                        </m:r>
                      </m:e>
                    </m:d>
                  </m:oMath>
                </a14:m>
                <a:endParaRPr lang="en-AU" sz="2000" dirty="0"/>
              </a:p>
              <a:p>
                <a:pPr>
                  <a:spcBef>
                    <a:spcPts val="1080"/>
                  </a:spcBef>
                </a:pPr>
                <a:r>
                  <a:rPr lang="en-AU" sz="2000" dirty="0"/>
                  <a:t>Joint probability / </a:t>
                </a:r>
                <a:r>
                  <a:rPr lang="en-AU" sz="2000" dirty="0">
                    <a:solidFill>
                      <a:srgbClr val="0070C0"/>
                    </a:solidFill>
                  </a:rPr>
                  <a:t>product</a:t>
                </a:r>
                <a:r>
                  <a:rPr lang="en-AU" sz="2000" dirty="0"/>
                  <a:t> rule </a:t>
                </a:r>
                <a14:m>
                  <m:oMath xmlns:m="http://schemas.openxmlformats.org/officeDocument/2006/math">
                    <m:r>
                      <a:rPr lang="en-AU" sz="200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𝑦</m:t>
                        </m:r>
                      </m:e>
                    </m:d>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𝑦</m:t>
                        </m:r>
                      </m:e>
                      <m:e>
                        <m:r>
                          <a:rPr lang="en-AU" sz="2000" i="1">
                            <a:solidFill>
                              <a:srgbClr val="0070C0"/>
                            </a:solidFill>
                            <a:latin typeface="Cambria Math" panose="02040503050406030204" pitchFamily="18" charset="0"/>
                          </a:rPr>
                          <m:t>𝑥</m:t>
                        </m:r>
                      </m:e>
                    </m:d>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e>
                    </m:d>
                  </m:oMath>
                </a14:m>
                <a:endParaRPr lang="en-AU" sz="2000" dirty="0"/>
              </a:p>
              <a:p>
                <a:pPr>
                  <a:spcBef>
                    <a:spcPts val="1080"/>
                  </a:spcBef>
                </a:pPr>
                <a:r>
                  <a:rPr lang="en-AU" sz="2000" dirty="0">
                    <a:solidFill>
                      <a:srgbClr val="0070C0"/>
                    </a:solidFill>
                  </a:rPr>
                  <a:t>Marginal</a:t>
                </a:r>
                <a:r>
                  <a:rPr lang="en-AU" sz="2000" dirty="0"/>
                  <a:t> probability </a:t>
                </a:r>
                <a14:m>
                  <m:oMath xmlns:m="http://schemas.openxmlformats.org/officeDocument/2006/math">
                    <m:r>
                      <a:rPr lang="en-AU" sz="2000" i="1" smtClean="0">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e>
                    </m:d>
                    <m:r>
                      <a:rPr lang="en-AU" sz="2000" b="0" i="1" smtClean="0">
                        <a:solidFill>
                          <a:srgbClr val="0070C0"/>
                        </a:solidFill>
                        <a:latin typeface="Cambria Math" panose="02040503050406030204" pitchFamily="18" charset="0"/>
                      </a:rPr>
                      <m:t>=</m:t>
                    </m:r>
                    <m:nary>
                      <m:naryPr>
                        <m:chr m:val="∑"/>
                        <m:limLoc m:val="subSup"/>
                        <m:ctrlPr>
                          <a:rPr lang="en-AU" sz="2000" b="0" i="1" smtClean="0">
                            <a:solidFill>
                              <a:srgbClr val="0070C0"/>
                            </a:solidFill>
                            <a:latin typeface="Cambria Math" panose="02040503050406030204" pitchFamily="18" charset="0"/>
                          </a:rPr>
                        </m:ctrlPr>
                      </m:naryPr>
                      <m:sub>
                        <m:r>
                          <m:rPr>
                            <m:brk m:alnAt="25"/>
                          </m:rPr>
                          <a:rPr lang="en-AU" sz="2000" b="0" i="1" smtClean="0">
                            <a:solidFill>
                              <a:srgbClr val="0070C0"/>
                            </a:solidFill>
                            <a:latin typeface="Cambria Math" panose="02040503050406030204" pitchFamily="18" charset="0"/>
                          </a:rPr>
                          <m:t>𝑥</m:t>
                        </m:r>
                        <m:r>
                          <a:rPr lang="en-AU" sz="2000" b="0" i="1" smtClean="0">
                            <a:solidFill>
                              <a:srgbClr val="0070C0"/>
                            </a:solidFill>
                            <a:latin typeface="Cambria Math" panose="02040503050406030204" pitchFamily="18" charset="0"/>
                            <a:ea typeface="Cambria Math" panose="02040503050406030204" pitchFamily="18" charset="0"/>
                          </a:rPr>
                          <m:t>∈</m:t>
                        </m:r>
                        <m:sSub>
                          <m:sSubPr>
                            <m:ctrlPr>
                              <a:rPr lang="en-AU" sz="2000" b="0" i="1" smtClean="0">
                                <a:solidFill>
                                  <a:srgbClr val="0070C0"/>
                                </a:solidFill>
                                <a:latin typeface="Cambria Math" panose="02040503050406030204" pitchFamily="18" charset="0"/>
                                <a:ea typeface="Cambria Math" panose="02040503050406030204" pitchFamily="18" charset="0"/>
                              </a:rPr>
                            </m:ctrlPr>
                          </m:sSubPr>
                          <m:e>
                            <m:r>
                              <m:rPr>
                                <m:brk m:alnAt="25"/>
                              </m:rPr>
                              <a:rPr lang="en-AU" sz="2000" b="0" i="1" smtClean="0">
                                <a:solidFill>
                                  <a:srgbClr val="0070C0"/>
                                </a:solidFill>
                                <a:latin typeface="Cambria Math" panose="02040503050406030204" pitchFamily="18" charset="0"/>
                                <a:ea typeface="Cambria Math" panose="02040503050406030204" pitchFamily="18" charset="0"/>
                              </a:rPr>
                              <m:t>𝐷</m:t>
                            </m:r>
                          </m:e>
                          <m:sub>
                            <m:r>
                              <m:rPr>
                                <m:brk m:alnAt="25"/>
                              </m:rPr>
                              <a:rPr lang="en-AU" sz="2000" b="0" i="1" smtClean="0">
                                <a:solidFill>
                                  <a:srgbClr val="0070C0"/>
                                </a:solidFill>
                                <a:latin typeface="Cambria Math" panose="02040503050406030204" pitchFamily="18" charset="0"/>
                                <a:ea typeface="Cambria Math" panose="02040503050406030204" pitchFamily="18" charset="0"/>
                              </a:rPr>
                              <m:t>𝑥</m:t>
                            </m:r>
                          </m:sub>
                        </m:sSub>
                      </m:sub>
                      <m:sup/>
                      <m:e>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𝑦</m:t>
                            </m:r>
                          </m:e>
                        </m:d>
                      </m:e>
                    </m:nary>
                  </m:oMath>
                </a14:m>
                <a:r>
                  <a:rPr lang="en-AU" sz="2000" dirty="0"/>
                  <a:t> or </a:t>
                </a:r>
                <a14:m>
                  <m:oMath xmlns:m="http://schemas.openxmlformats.org/officeDocument/2006/math">
                    <m:r>
                      <a:rPr lang="en-AU" sz="2000" i="1" smtClean="0">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e>
                    </m:d>
                    <m:r>
                      <a:rPr lang="en-AU" sz="2000" i="1">
                        <a:solidFill>
                          <a:srgbClr val="0070C0"/>
                        </a:solidFill>
                        <a:latin typeface="Cambria Math" panose="02040503050406030204" pitchFamily="18" charset="0"/>
                      </a:rPr>
                      <m:t>=</m:t>
                    </m:r>
                    <m:nary>
                      <m:naryPr>
                        <m:ctrlPr>
                          <a:rPr lang="en-AU" sz="2000" i="1" smtClean="0">
                            <a:solidFill>
                              <a:srgbClr val="0070C0"/>
                            </a:solidFill>
                            <a:latin typeface="Cambria Math" panose="02040503050406030204" pitchFamily="18" charset="0"/>
                          </a:rPr>
                        </m:ctrlPr>
                      </m:naryPr>
                      <m:sub>
                        <m:sSub>
                          <m:sSubPr>
                            <m:ctrlPr>
                              <a:rPr lang="en-AU" sz="2000" i="1">
                                <a:solidFill>
                                  <a:srgbClr val="0070C0"/>
                                </a:solidFill>
                                <a:latin typeface="Cambria Math" panose="02040503050406030204" pitchFamily="18" charset="0"/>
                                <a:ea typeface="Cambria Math" panose="02040503050406030204" pitchFamily="18" charset="0"/>
                              </a:rPr>
                            </m:ctrlPr>
                          </m:sSubPr>
                          <m:e>
                            <m:r>
                              <m:rPr>
                                <m:brk m:alnAt="25"/>
                              </m:rPr>
                              <a:rPr lang="en-AU" sz="2000" i="1">
                                <a:solidFill>
                                  <a:srgbClr val="0070C0"/>
                                </a:solidFill>
                                <a:latin typeface="Cambria Math" panose="02040503050406030204" pitchFamily="18" charset="0"/>
                                <a:ea typeface="Cambria Math" panose="02040503050406030204" pitchFamily="18" charset="0"/>
                              </a:rPr>
                              <m:t>𝐷</m:t>
                            </m:r>
                          </m:e>
                          <m:sub>
                            <m:r>
                              <m:rPr>
                                <m:brk m:alnAt="25"/>
                              </m:rPr>
                              <a:rPr lang="en-AU" sz="2000" i="1">
                                <a:solidFill>
                                  <a:srgbClr val="0070C0"/>
                                </a:solidFill>
                                <a:latin typeface="Cambria Math" panose="02040503050406030204" pitchFamily="18" charset="0"/>
                                <a:ea typeface="Cambria Math" panose="02040503050406030204" pitchFamily="18" charset="0"/>
                              </a:rPr>
                              <m:t>𝑥</m:t>
                            </m:r>
                          </m:sub>
                        </m:sSub>
                      </m:sub>
                      <m:sup/>
                      <m:e>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𝑦</m:t>
                            </m:r>
                          </m:e>
                        </m:d>
                        <m:r>
                          <a:rPr lang="en-AU" sz="2000" b="0" i="1" smtClean="0">
                            <a:solidFill>
                              <a:srgbClr val="0070C0"/>
                            </a:solidFill>
                            <a:latin typeface="Cambria Math" panose="02040503050406030204" pitchFamily="18" charset="0"/>
                          </a:rPr>
                          <m:t>𝑑𝑥</m:t>
                        </m:r>
                      </m:e>
                    </m:nary>
                  </m:oMath>
                </a14:m>
                <a:endParaRPr lang="en-AU" sz="2000" dirty="0"/>
              </a:p>
              <a:p>
                <a:pPr>
                  <a:spcBef>
                    <a:spcPts val="1080"/>
                  </a:spcBef>
                </a:pPr>
                <a:r>
                  <a:rPr lang="en-AU" sz="2000" dirty="0">
                    <a:solidFill>
                      <a:srgbClr val="0070C0"/>
                    </a:solidFill>
                  </a:rPr>
                  <a:t>Bayes’ </a:t>
                </a:r>
                <a:r>
                  <a:rPr lang="en-AU" sz="2000" dirty="0"/>
                  <a:t>theorem </a:t>
                </a:r>
                <a14:m>
                  <m:oMath xmlns:m="http://schemas.openxmlformats.org/officeDocument/2006/math">
                    <m:r>
                      <a:rPr lang="en-AU" sz="2000" i="1">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e>
                      <m:e>
                        <m:r>
                          <a:rPr lang="en-AU" sz="2000" b="0" i="1" smtClean="0">
                            <a:solidFill>
                              <a:srgbClr val="0070C0"/>
                            </a:solidFill>
                            <a:latin typeface="Cambria Math" panose="02040503050406030204" pitchFamily="18" charset="0"/>
                          </a:rPr>
                          <m:t>𝑦</m:t>
                        </m:r>
                      </m:e>
                    </m:d>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𝑦</m:t>
                        </m:r>
                      </m:e>
                      <m:e>
                        <m:r>
                          <a:rPr lang="en-AU" sz="2000" b="0" i="1" smtClean="0">
                            <a:solidFill>
                              <a:srgbClr val="0070C0"/>
                            </a:solidFill>
                            <a:latin typeface="Cambria Math" panose="02040503050406030204" pitchFamily="18" charset="0"/>
                          </a:rPr>
                          <m:t>𝑥</m:t>
                        </m:r>
                      </m:e>
                    </m:d>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𝑥</m:t>
                        </m:r>
                      </m:e>
                    </m:d>
                    <m:r>
                      <a:rPr lang="en-AU" sz="2000" b="0" i="1" smtClean="0">
                        <a:solidFill>
                          <a:srgbClr val="0070C0"/>
                        </a:solidFill>
                        <a:latin typeface="Cambria Math" panose="02040503050406030204" pitchFamily="18" charset="0"/>
                      </a:rPr>
                      <m:t>/</m:t>
                    </m:r>
                    <m:r>
                      <a:rPr lang="en-AU" sz="2000" b="0" i="1" smtClean="0">
                        <a:solidFill>
                          <a:srgbClr val="0070C0"/>
                        </a:solidFill>
                        <a:latin typeface="Cambria Math" panose="02040503050406030204" pitchFamily="18" charset="0"/>
                      </a:rPr>
                      <m:t>𝑝</m:t>
                    </m:r>
                    <m:d>
                      <m:dPr>
                        <m:ctrlPr>
                          <a:rPr lang="en-AU" sz="2000" b="0" i="1" smtClean="0">
                            <a:solidFill>
                              <a:srgbClr val="0070C0"/>
                            </a:solidFill>
                            <a:latin typeface="Cambria Math" panose="02040503050406030204" pitchFamily="18" charset="0"/>
                          </a:rPr>
                        </m:ctrlPr>
                      </m:dPr>
                      <m:e>
                        <m:r>
                          <a:rPr lang="en-AU" sz="2000" b="0" i="1" smtClean="0">
                            <a:solidFill>
                              <a:srgbClr val="0070C0"/>
                            </a:solidFill>
                            <a:latin typeface="Cambria Math" panose="02040503050406030204" pitchFamily="18" charset="0"/>
                          </a:rPr>
                          <m:t>𝑦</m:t>
                        </m:r>
                      </m:e>
                    </m:d>
                  </m:oMath>
                </a14:m>
                <a:endParaRPr lang="en-AU" sz="2000" dirty="0"/>
              </a:p>
              <a:p>
                <a:pPr>
                  <a:spcBef>
                    <a:spcPts val="1080"/>
                  </a:spcBef>
                </a:pPr>
                <a:r>
                  <a:rPr lang="en-AU" sz="2000" dirty="0">
                    <a:solidFill>
                      <a:srgbClr val="0070C0"/>
                    </a:solidFill>
                  </a:rPr>
                  <a:t>Expected</a:t>
                </a:r>
                <a:r>
                  <a:rPr lang="en-AU" sz="2000" dirty="0"/>
                  <a:t> value </a:t>
                </a:r>
                <a14:m>
                  <m:oMath xmlns:m="http://schemas.openxmlformats.org/officeDocument/2006/math">
                    <m:r>
                      <a:rPr lang="en-AU" sz="2000" i="1" dirty="0" smtClean="0">
                        <a:solidFill>
                          <a:srgbClr val="0070C0"/>
                        </a:solidFill>
                        <a:latin typeface="Cambria Math" panose="02040503050406030204" pitchFamily="18" charset="0"/>
                      </a:rPr>
                      <m:t>𝐸</m:t>
                    </m:r>
                    <m:r>
                      <a:rPr lang="en-AU" sz="2000" i="1" dirty="0" smtClean="0">
                        <a:solidFill>
                          <a:srgbClr val="0070C0"/>
                        </a:solidFill>
                        <a:latin typeface="Cambria Math" panose="02040503050406030204" pitchFamily="18" charset="0"/>
                      </a:rPr>
                      <m:t>[</m:t>
                    </m:r>
                    <m:r>
                      <a:rPr lang="en-AU" sz="2000" i="1" dirty="0" smtClean="0">
                        <a:solidFill>
                          <a:srgbClr val="0070C0"/>
                        </a:solidFill>
                        <a:latin typeface="Cambria Math" panose="02040503050406030204" pitchFamily="18" charset="0"/>
                      </a:rPr>
                      <m:t>𝑋</m:t>
                    </m:r>
                    <m:r>
                      <a:rPr lang="en-AU" sz="2000" i="1" dirty="0" smtClean="0">
                        <a:solidFill>
                          <a:srgbClr val="0070C0"/>
                        </a:solidFill>
                        <a:latin typeface="Cambria Math" panose="02040503050406030204" pitchFamily="18" charset="0"/>
                      </a:rPr>
                      <m:t>]</m:t>
                    </m:r>
                  </m:oMath>
                </a14:m>
                <a:r>
                  <a:rPr lang="en-AU" sz="2000" dirty="0"/>
                  <a:t> (if </a:t>
                </a:r>
                <a14:m>
                  <m:oMath xmlns:m="http://schemas.openxmlformats.org/officeDocument/2006/math">
                    <m:sSub>
                      <m:sSubPr>
                        <m:ctrlPr>
                          <a:rPr lang="en-AU" sz="2000" i="1" dirty="0">
                            <a:solidFill>
                              <a:srgbClr val="0070C0"/>
                            </a:solidFill>
                            <a:latin typeface="Cambria Math" panose="02040503050406030204" pitchFamily="18" charset="0"/>
                          </a:rPr>
                        </m:ctrlPr>
                      </m:sSubPr>
                      <m:e>
                        <m:r>
                          <a:rPr lang="en-AU" sz="2000" i="1" dirty="0">
                            <a:solidFill>
                              <a:srgbClr val="0070C0"/>
                            </a:solidFill>
                            <a:latin typeface="Cambria Math" panose="02040503050406030204" pitchFamily="18" charset="0"/>
                          </a:rPr>
                          <m:t>𝐷</m:t>
                        </m:r>
                      </m:e>
                      <m:sub>
                        <m:r>
                          <a:rPr lang="en-AU" sz="2000" i="1" dirty="0">
                            <a:solidFill>
                              <a:srgbClr val="0070C0"/>
                            </a:solidFill>
                            <a:latin typeface="Cambria Math" panose="02040503050406030204" pitchFamily="18" charset="0"/>
                          </a:rPr>
                          <m:t>𝑋</m:t>
                        </m:r>
                      </m:sub>
                    </m:sSub>
                    <m:r>
                      <a:rPr lang="en-AU" sz="2000" i="1" dirty="0" smtClean="0">
                        <a:solidFill>
                          <a:srgbClr val="0070C0"/>
                        </a:solidFill>
                        <a:latin typeface="Cambria Math" panose="02040503050406030204" pitchFamily="18" charset="0"/>
                        <a:ea typeface="Cambria Math" panose="02040503050406030204" pitchFamily="18" charset="0"/>
                      </a:rPr>
                      <m:t>⊆</m:t>
                    </m:r>
                    <m:r>
                      <a:rPr lang="en-AU" sz="2000" i="1" dirty="0" smtClean="0">
                        <a:solidFill>
                          <a:srgbClr val="0070C0"/>
                        </a:solidFill>
                        <a:latin typeface="Cambria Math" panose="02040503050406030204" pitchFamily="18" charset="0"/>
                        <a:ea typeface="Cambria Math" panose="02040503050406030204" pitchFamily="18" charset="0"/>
                      </a:rPr>
                      <m:t>ℝ</m:t>
                    </m:r>
                  </m:oMath>
                </a14:m>
                <a:r>
                  <a:rPr lang="en-AU" sz="2000" dirty="0"/>
                  <a:t>) </a:t>
                </a:r>
                <a14:m>
                  <m:oMath xmlns:m="http://schemas.openxmlformats.org/officeDocument/2006/math">
                    <m:nary>
                      <m:naryPr>
                        <m:chr m:val="∑"/>
                        <m:limLoc m:val="subSup"/>
                        <m:ctrlPr>
                          <a:rPr lang="en-AU" sz="2000" i="1">
                            <a:solidFill>
                              <a:srgbClr val="0070C0"/>
                            </a:solidFill>
                            <a:latin typeface="Cambria Math" panose="02040503050406030204" pitchFamily="18" charset="0"/>
                          </a:rPr>
                        </m:ctrlPr>
                      </m:naryPr>
                      <m:sub>
                        <m:r>
                          <m:rPr>
                            <m:brk m:alnAt="25"/>
                          </m:rPr>
                          <a:rPr lang="en-AU" sz="2000" i="1">
                            <a:solidFill>
                              <a:srgbClr val="0070C0"/>
                            </a:solidFill>
                            <a:latin typeface="Cambria Math" panose="02040503050406030204" pitchFamily="18" charset="0"/>
                          </a:rPr>
                          <m:t>𝑥</m:t>
                        </m:r>
                        <m:r>
                          <a:rPr lang="en-AU" sz="2000" i="1">
                            <a:solidFill>
                              <a:srgbClr val="0070C0"/>
                            </a:solidFill>
                            <a:latin typeface="Cambria Math" panose="02040503050406030204" pitchFamily="18" charset="0"/>
                            <a:ea typeface="Cambria Math" panose="02040503050406030204" pitchFamily="18" charset="0"/>
                          </a:rPr>
                          <m:t>∈</m:t>
                        </m:r>
                        <m:sSub>
                          <m:sSubPr>
                            <m:ctrlPr>
                              <a:rPr lang="en-AU" sz="2000" i="1">
                                <a:solidFill>
                                  <a:srgbClr val="0070C0"/>
                                </a:solidFill>
                                <a:latin typeface="Cambria Math" panose="02040503050406030204" pitchFamily="18" charset="0"/>
                                <a:ea typeface="Cambria Math" panose="02040503050406030204" pitchFamily="18" charset="0"/>
                              </a:rPr>
                            </m:ctrlPr>
                          </m:sSubPr>
                          <m:e>
                            <m:r>
                              <m:rPr>
                                <m:brk m:alnAt="25"/>
                              </m:rPr>
                              <a:rPr lang="en-AU" sz="2000" i="1">
                                <a:solidFill>
                                  <a:srgbClr val="0070C0"/>
                                </a:solidFill>
                                <a:latin typeface="Cambria Math" panose="02040503050406030204" pitchFamily="18" charset="0"/>
                                <a:ea typeface="Cambria Math" panose="02040503050406030204" pitchFamily="18" charset="0"/>
                              </a:rPr>
                              <m:t>𝐷</m:t>
                            </m:r>
                          </m:e>
                          <m:sub>
                            <m:r>
                              <m:rPr>
                                <m:brk m:alnAt="25"/>
                              </m:rPr>
                              <a:rPr lang="en-AU" sz="2000" i="1">
                                <a:solidFill>
                                  <a:srgbClr val="0070C0"/>
                                </a:solidFill>
                                <a:latin typeface="Cambria Math" panose="02040503050406030204" pitchFamily="18" charset="0"/>
                                <a:ea typeface="Cambria Math" panose="02040503050406030204" pitchFamily="18" charset="0"/>
                              </a:rPr>
                              <m:t>𝑥</m:t>
                            </m:r>
                          </m:sub>
                        </m:sSub>
                      </m:sub>
                      <m:sup/>
                      <m:e>
                        <m:r>
                          <a:rPr lang="en-AU" sz="2000" b="0" i="1" smtClean="0">
                            <a:solidFill>
                              <a:srgbClr val="0070C0"/>
                            </a:solidFill>
                            <a:latin typeface="Cambria Math" panose="02040503050406030204" pitchFamily="18" charset="0"/>
                            <a:ea typeface="Cambria Math" panose="02040503050406030204" pitchFamily="18" charset="0"/>
                          </a:rPr>
                          <m:t>𝑥</m:t>
                        </m:r>
                        <m:r>
                          <a:rPr lang="en-AU" sz="2000" b="0" i="1" smtClean="0">
                            <a:solidFill>
                              <a:srgbClr val="0070C0"/>
                            </a:solidFill>
                            <a:latin typeface="Cambria Math" panose="02040503050406030204" pitchFamily="18" charset="0"/>
                            <a:ea typeface="Cambria Math" panose="02040503050406030204" pitchFamily="18" charset="0"/>
                          </a:rPr>
                          <m:t> </m:t>
                        </m:r>
                        <m:r>
                          <a:rPr lang="en-AU" sz="2000" i="1">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e>
                        </m:d>
                      </m:e>
                    </m:nary>
                  </m:oMath>
                </a14:m>
                <a:r>
                  <a:rPr lang="en-AU" sz="2000" dirty="0"/>
                  <a:t> or </a:t>
                </a:r>
                <a14:m>
                  <m:oMath xmlns:m="http://schemas.openxmlformats.org/officeDocument/2006/math">
                    <m:nary>
                      <m:naryPr>
                        <m:supHide m:val="on"/>
                        <m:ctrlPr>
                          <a:rPr lang="en-AU" sz="2000" i="1">
                            <a:solidFill>
                              <a:srgbClr val="0070C0"/>
                            </a:solidFill>
                            <a:latin typeface="Cambria Math" panose="02040503050406030204" pitchFamily="18" charset="0"/>
                          </a:rPr>
                        </m:ctrlPr>
                      </m:naryPr>
                      <m:sub>
                        <m:sSub>
                          <m:sSubPr>
                            <m:ctrlPr>
                              <a:rPr lang="en-AU" sz="2000" b="0" i="1" smtClean="0">
                                <a:solidFill>
                                  <a:srgbClr val="0070C0"/>
                                </a:solidFill>
                                <a:latin typeface="Cambria Math" panose="02040503050406030204" pitchFamily="18" charset="0"/>
                              </a:rPr>
                            </m:ctrlPr>
                          </m:sSubPr>
                          <m:e>
                            <m:r>
                              <a:rPr lang="en-AU" sz="2000" b="0" i="1" smtClean="0">
                                <a:solidFill>
                                  <a:srgbClr val="0070C0"/>
                                </a:solidFill>
                                <a:latin typeface="Cambria Math" panose="02040503050406030204" pitchFamily="18" charset="0"/>
                              </a:rPr>
                              <m:t>𝐷</m:t>
                            </m:r>
                          </m:e>
                          <m:sub>
                            <m:r>
                              <a:rPr lang="en-AU" sz="2000" b="0" i="1" smtClean="0">
                                <a:solidFill>
                                  <a:srgbClr val="0070C0"/>
                                </a:solidFill>
                                <a:latin typeface="Cambria Math" panose="02040503050406030204" pitchFamily="18" charset="0"/>
                              </a:rPr>
                              <m:t>𝑋</m:t>
                            </m:r>
                          </m:sub>
                        </m:sSub>
                      </m:sub>
                      <m:sup/>
                      <m:e>
                        <m:r>
                          <a:rPr lang="en-AU" sz="2000" b="0" i="1" smtClean="0">
                            <a:solidFill>
                              <a:srgbClr val="0070C0"/>
                            </a:solidFill>
                            <a:latin typeface="Cambria Math" panose="02040503050406030204" pitchFamily="18" charset="0"/>
                            <a:ea typeface="Cambria Math" panose="02040503050406030204" pitchFamily="18" charset="0"/>
                          </a:rPr>
                          <m:t>𝑥</m:t>
                        </m:r>
                        <m:r>
                          <a:rPr lang="en-AU" sz="2000" b="0" i="1" smtClean="0">
                            <a:solidFill>
                              <a:srgbClr val="0070C0"/>
                            </a:solidFill>
                            <a:latin typeface="Cambria Math" panose="02040503050406030204" pitchFamily="18" charset="0"/>
                            <a:ea typeface="Cambria Math" panose="02040503050406030204" pitchFamily="18" charset="0"/>
                          </a:rPr>
                          <m:t> </m:t>
                        </m:r>
                        <m:r>
                          <a:rPr lang="en-AU" sz="2000" i="1">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e>
                        </m:d>
                        <m:r>
                          <a:rPr lang="en-AU" sz="2000" i="1">
                            <a:solidFill>
                              <a:srgbClr val="0070C0"/>
                            </a:solidFill>
                            <a:latin typeface="Cambria Math" panose="02040503050406030204" pitchFamily="18" charset="0"/>
                          </a:rPr>
                          <m:t>𝑑𝑥</m:t>
                        </m:r>
                      </m:e>
                    </m:nary>
                  </m:oMath>
                </a14:m>
                <a:endParaRPr lang="en-AU" sz="2000" dirty="0"/>
              </a:p>
              <a:p>
                <a:pPr>
                  <a:spcBef>
                    <a:spcPts val="1080"/>
                  </a:spcBef>
                </a:pPr>
                <a:r>
                  <a:rPr lang="en-AU" sz="2000" dirty="0"/>
                  <a:t>Conditional expectations </a:t>
                </a:r>
                <a14:m>
                  <m:oMath xmlns:m="http://schemas.openxmlformats.org/officeDocument/2006/math">
                    <m:r>
                      <a:rPr lang="en-AU" sz="2000" i="1" dirty="0">
                        <a:solidFill>
                          <a:srgbClr val="0070C0"/>
                        </a:solidFill>
                        <a:latin typeface="Cambria Math" panose="02040503050406030204" pitchFamily="18" charset="0"/>
                      </a:rPr>
                      <m:t>𝐸</m:t>
                    </m:r>
                    <m:d>
                      <m:dPr>
                        <m:begChr m:val="["/>
                        <m:endChr m:val="]"/>
                        <m:ctrlPr>
                          <a:rPr lang="en-AU" sz="2000" i="1" dirty="0">
                            <a:solidFill>
                              <a:srgbClr val="0070C0"/>
                            </a:solidFill>
                            <a:latin typeface="Cambria Math" panose="02040503050406030204" pitchFamily="18" charset="0"/>
                          </a:rPr>
                        </m:ctrlPr>
                      </m:dPr>
                      <m:e>
                        <m:r>
                          <a:rPr lang="en-AU" sz="2000" b="0" i="1" dirty="0" smtClean="0">
                            <a:solidFill>
                              <a:srgbClr val="0070C0"/>
                            </a:solidFill>
                            <a:latin typeface="Cambria Math" panose="02040503050406030204" pitchFamily="18" charset="0"/>
                          </a:rPr>
                          <m:t>𝑌</m:t>
                        </m:r>
                        <m:r>
                          <a:rPr lang="en-AU" sz="2000" b="0" i="1" dirty="0" smtClean="0">
                            <a:solidFill>
                              <a:srgbClr val="0070C0"/>
                            </a:solidFill>
                            <a:latin typeface="Cambria Math" panose="02040503050406030204" pitchFamily="18" charset="0"/>
                          </a:rPr>
                          <m:t> | </m:t>
                        </m:r>
                        <m:r>
                          <a:rPr lang="en-AU" sz="2000" i="1" dirty="0">
                            <a:solidFill>
                              <a:srgbClr val="0070C0"/>
                            </a:solidFill>
                            <a:latin typeface="Cambria Math" panose="02040503050406030204" pitchFamily="18" charset="0"/>
                          </a:rPr>
                          <m:t>𝑋</m:t>
                        </m:r>
                        <m:r>
                          <a:rPr lang="en-AU" sz="2000" b="0" i="1" dirty="0" smtClean="0">
                            <a:solidFill>
                              <a:srgbClr val="0070C0"/>
                            </a:solidFill>
                            <a:latin typeface="Cambria Math" panose="02040503050406030204" pitchFamily="18" charset="0"/>
                          </a:rPr>
                          <m:t>=</m:t>
                        </m:r>
                        <m:r>
                          <a:rPr lang="en-AU" sz="2000" b="0" i="1" dirty="0" smtClean="0">
                            <a:solidFill>
                              <a:srgbClr val="0070C0"/>
                            </a:solidFill>
                            <a:latin typeface="Cambria Math" panose="02040503050406030204" pitchFamily="18" charset="0"/>
                          </a:rPr>
                          <m:t>𝑥</m:t>
                        </m:r>
                      </m:e>
                    </m:d>
                    <m:r>
                      <a:rPr lang="en-AU" sz="2000" b="0" i="1" dirty="0" smtClean="0">
                        <a:solidFill>
                          <a:srgbClr val="0070C0"/>
                        </a:solidFill>
                        <a:latin typeface="Cambria Math" panose="02040503050406030204" pitchFamily="18" charset="0"/>
                      </a:rPr>
                      <m:t>=</m:t>
                    </m:r>
                    <m:nary>
                      <m:naryPr>
                        <m:ctrlPr>
                          <a:rPr lang="en-AU" sz="2000" i="1">
                            <a:solidFill>
                              <a:srgbClr val="0070C0"/>
                            </a:solidFill>
                            <a:latin typeface="Cambria Math" panose="02040503050406030204" pitchFamily="18" charset="0"/>
                          </a:rPr>
                        </m:ctrlPr>
                      </m:naryPr>
                      <m:sub>
                        <m:sSub>
                          <m:sSubPr>
                            <m:ctrlPr>
                              <a:rPr lang="en-AU" sz="2000" i="1">
                                <a:solidFill>
                                  <a:srgbClr val="0070C0"/>
                                </a:solidFill>
                                <a:latin typeface="Cambria Math" panose="02040503050406030204" pitchFamily="18" charset="0"/>
                              </a:rPr>
                            </m:ctrlPr>
                          </m:sSubPr>
                          <m:e>
                            <m:r>
                              <m:rPr>
                                <m:brk m:alnAt="23"/>
                              </m:rPr>
                              <a:rPr lang="en-AU" sz="2000" i="1">
                                <a:solidFill>
                                  <a:srgbClr val="0070C0"/>
                                </a:solidFill>
                                <a:latin typeface="Cambria Math" panose="02040503050406030204" pitchFamily="18" charset="0"/>
                              </a:rPr>
                              <m:t>𝐷</m:t>
                            </m:r>
                          </m:e>
                          <m:sub>
                            <m:r>
                              <m:rPr>
                                <m:brk m:alnAt="23"/>
                              </m:rPr>
                              <a:rPr lang="en-AU" sz="2000" i="1">
                                <a:solidFill>
                                  <a:srgbClr val="0070C0"/>
                                </a:solidFill>
                                <a:latin typeface="Cambria Math" panose="02040503050406030204" pitchFamily="18" charset="0"/>
                              </a:rPr>
                              <m:t>𝑌</m:t>
                            </m:r>
                          </m:sub>
                        </m:sSub>
                      </m:sub>
                      <m:sup/>
                      <m:e>
                        <m:r>
                          <a:rPr lang="en-AU" sz="2000" i="1">
                            <a:solidFill>
                              <a:srgbClr val="0070C0"/>
                            </a:solidFill>
                            <a:latin typeface="Cambria Math" panose="02040503050406030204" pitchFamily="18" charset="0"/>
                          </a:rPr>
                          <m:t>𝑦</m:t>
                        </m:r>
                        <m:r>
                          <a:rPr lang="en-AU" sz="2000" i="1">
                            <a:solidFill>
                              <a:srgbClr val="0070C0"/>
                            </a:solidFill>
                            <a:latin typeface="Cambria Math" panose="02040503050406030204" pitchFamily="18" charset="0"/>
                            <a:ea typeface="Cambria Math" panose="02040503050406030204" pitchFamily="18" charset="0"/>
                          </a:rPr>
                          <m:t> </m:t>
                        </m:r>
                        <m:r>
                          <a:rPr lang="en-AU" sz="2000" i="1">
                            <a:solidFill>
                              <a:srgbClr val="0070C0"/>
                            </a:solidFill>
                            <a:latin typeface="Cambria Math" panose="02040503050406030204" pitchFamily="18" charset="0"/>
                          </a:rPr>
                          <m:t>𝑝</m:t>
                        </m:r>
                        <m:d>
                          <m:dPr>
                            <m:ctrlPr>
                              <a:rPr lang="en-AU" sz="2000" i="1">
                                <a:solidFill>
                                  <a:srgbClr val="0070C0"/>
                                </a:solidFill>
                                <a:latin typeface="Cambria Math" panose="02040503050406030204" pitchFamily="18" charset="0"/>
                              </a:rPr>
                            </m:ctrlPr>
                          </m:dPr>
                          <m:e>
                            <m:r>
                              <a:rPr lang="en-AU" sz="2000" i="1">
                                <a:solidFill>
                                  <a:srgbClr val="0070C0"/>
                                </a:solidFill>
                                <a:latin typeface="Cambria Math" panose="02040503050406030204" pitchFamily="18" charset="0"/>
                              </a:rPr>
                              <m:t>𝑥</m:t>
                            </m:r>
                            <m:r>
                              <a:rPr lang="en-AU" sz="2000" i="1">
                                <a:solidFill>
                                  <a:srgbClr val="0070C0"/>
                                </a:solidFill>
                                <a:latin typeface="Cambria Math" panose="02040503050406030204" pitchFamily="18" charset="0"/>
                              </a:rPr>
                              <m:t>,</m:t>
                            </m:r>
                            <m:r>
                              <a:rPr lang="en-AU" sz="2000" i="1">
                                <a:solidFill>
                                  <a:srgbClr val="0070C0"/>
                                </a:solidFill>
                                <a:latin typeface="Cambria Math" panose="02040503050406030204" pitchFamily="18" charset="0"/>
                              </a:rPr>
                              <m:t>𝑦</m:t>
                            </m:r>
                          </m:e>
                        </m:d>
                        <m:r>
                          <a:rPr lang="en-AU" sz="2000" i="1">
                            <a:solidFill>
                              <a:srgbClr val="0070C0"/>
                            </a:solidFill>
                            <a:latin typeface="Cambria Math" panose="02040503050406030204" pitchFamily="18" charset="0"/>
                          </a:rPr>
                          <m:t>𝑑𝑦</m:t>
                        </m:r>
                      </m:e>
                    </m:nary>
                  </m:oMath>
                </a14:m>
                <a:endParaRPr lang="en-AU" sz="2000" dirty="0"/>
              </a:p>
            </p:txBody>
          </p:sp>
        </mc:Choice>
        <mc:Fallback xmlns="">
          <p:sp>
            <p:nvSpPr>
              <p:cNvPr id="3" name="Content Placeholder 2">
                <a:extLst>
                  <a:ext uri="{FF2B5EF4-FFF2-40B4-BE49-F238E27FC236}">
                    <a16:creationId xmlns:a16="http://schemas.microsoft.com/office/drawing/2014/main" id="{93F7D629-778D-C94D-9CB1-576F9B937BA1}"/>
                  </a:ext>
                </a:extLst>
              </p:cNvPr>
              <p:cNvSpPr>
                <a:spLocks noGrp="1" noRot="1" noChangeAspect="1" noMove="1" noResize="1" noEditPoints="1" noAdjustHandles="1" noChangeArrowheads="1" noChangeShapeType="1" noTextEdit="1"/>
              </p:cNvSpPr>
              <p:nvPr>
                <p:ph idx="1"/>
              </p:nvPr>
            </p:nvSpPr>
            <p:spPr>
              <a:blipFill>
                <a:blip r:embed="rId2"/>
                <a:stretch>
                  <a:fillRect t="-845" b="-29577"/>
                </a:stretch>
              </a:blipFill>
            </p:spPr>
            <p:txBody>
              <a:bodyPr/>
              <a:lstStyle/>
              <a:p>
                <a:r>
                  <a:rPr lang="en-US">
                    <a:noFill/>
                  </a:rPr>
                  <a:t> </a:t>
                </a:r>
              </a:p>
            </p:txBody>
          </p:sp>
        </mc:Fallback>
      </mc:AlternateContent>
      <p:sp>
        <p:nvSpPr>
          <p:cNvPr id="4" name="TextBox 5">
            <a:extLst>
              <a:ext uri="{FF2B5EF4-FFF2-40B4-BE49-F238E27FC236}">
                <a16:creationId xmlns:a16="http://schemas.microsoft.com/office/drawing/2014/main" id="{8D0B8CA6-A817-E948-8DD4-56774BF897BE}"/>
              </a:ext>
            </a:extLst>
          </p:cNvPr>
          <p:cNvSpPr>
            <a:spLocks noChangeArrowheads="1"/>
          </p:cNvSpPr>
          <p:nvPr/>
        </p:nvSpPr>
        <p:spPr bwMode="auto">
          <a:xfrm>
            <a:off x="228600" y="6537151"/>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extLst>
      <p:ext uri="{BB962C8B-B14F-4D97-AF65-F5344CB8AC3E}">
        <p14:creationId xmlns:p14="http://schemas.microsoft.com/office/powerpoint/2010/main" val="176465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idx="4294967295"/>
          </p:nvPr>
        </p:nvSpPr>
        <p:spPr/>
        <p:txBody>
          <a:bodyPr/>
          <a:lstStyle/>
          <a:p>
            <a:r>
              <a:rPr lang="en-US" altLang="ko-KR" dirty="0"/>
              <a:t>Summary 2/3: Uncertainty</a:t>
            </a:r>
          </a:p>
        </p:txBody>
      </p:sp>
      <mc:AlternateContent xmlns:mc="http://schemas.openxmlformats.org/markup-compatibility/2006" xmlns:a14="http://schemas.microsoft.com/office/drawing/2010/main">
        <mc:Choice Requires="a14">
          <p:sp>
            <p:nvSpPr>
              <p:cNvPr id="48453" name="Content Placeholder 2"/>
              <p:cNvSpPr>
                <a:spLocks noGrp="1" noChangeArrowheads="1"/>
              </p:cNvSpPr>
              <p:nvPr>
                <p:ph idx="4294967295"/>
              </p:nvPr>
            </p:nvSpPr>
            <p:spPr>
              <a:xfrm>
                <a:off x="228600" y="1524000"/>
                <a:ext cx="8610600" cy="4572000"/>
              </a:xfrm>
            </p:spPr>
            <p:txBody>
              <a:bodyPr/>
              <a:lstStyle/>
              <a:p>
                <a:pPr>
                  <a:spcBef>
                    <a:spcPts val="2376"/>
                  </a:spcBef>
                </a:pPr>
                <a:r>
                  <a:rPr lang="en-US" altLang="ko-KR" sz="2400" dirty="0">
                    <a:solidFill>
                      <a:srgbClr val="0070C0"/>
                    </a:solidFill>
                    <a:cs typeface="Tahoma" panose="020B0604030504040204" pitchFamily="34" charset="0"/>
                  </a:rPr>
                  <a:t>Probabilistic models </a:t>
                </a:r>
                <a:r>
                  <a:rPr lang="en-US" altLang="ko-KR" sz="2400" dirty="0">
                    <a:cs typeface="Tahoma" panose="020B0604030504040204" pitchFamily="34" charset="0"/>
                  </a:rPr>
                  <a:t>describe conditional distribution of target variable given input variables (and parameters) and thus describe </a:t>
                </a:r>
                <a:r>
                  <a:rPr lang="en-US" altLang="ko-KR" sz="2400" dirty="0">
                    <a:solidFill>
                      <a:srgbClr val="0070C0"/>
                    </a:solidFill>
                    <a:cs typeface="Tahoma" panose="020B0604030504040204" pitchFamily="34" charset="0"/>
                  </a:rPr>
                  <a:t>aleatoric uncertainty </a:t>
                </a:r>
                <a:r>
                  <a:rPr lang="en-US" altLang="ko-KR" sz="2400" dirty="0">
                    <a:cs typeface="Tahoma" panose="020B0604030504040204" pitchFamily="34" charset="0"/>
                  </a:rPr>
                  <a:t>of modelled process</a:t>
                </a:r>
              </a:p>
              <a:p>
                <a:pPr>
                  <a:spcBef>
                    <a:spcPts val="2376"/>
                  </a:spcBef>
                </a:pPr>
                <a:r>
                  <a:rPr lang="is-IS" altLang="ko-KR" sz="2400" dirty="0">
                    <a:solidFill>
                      <a:srgbClr val="0070C0"/>
                    </a:solidFill>
                    <a:ea typeface="MS PGothic" panose="020B0600070205080204" pitchFamily="34" charset="-128"/>
                  </a:rPr>
                  <a:t>Maximum Likelihood Estimation (MLE):</a:t>
                </a:r>
                <a:r>
                  <a:rPr lang="is-IS" altLang="ko-KR" sz="2400" dirty="0">
                    <a:ea typeface="MS PGothic" panose="020B0600070205080204" pitchFamily="34" charset="-128"/>
                  </a:rPr>
                  <a:t> </a:t>
                </a:r>
                <a:r>
                  <a:rPr lang="en-AU" altLang="ko-KR" sz="2400" dirty="0">
                    <a:ea typeface="Arial" panose="020B0604020202020204" pitchFamily="34" charset="0"/>
                  </a:rPr>
                  <a:t>choose parameter values to maximise (modelled) probability of observed data</a:t>
                </a:r>
              </a:p>
              <a:p>
                <a:pPr>
                  <a:spcBef>
                    <a:spcPts val="2376"/>
                  </a:spcBef>
                </a:pPr>
                <a:r>
                  <a:rPr lang="en-AU" altLang="ko-KR" sz="2400" dirty="0">
                    <a:ea typeface="Arial" panose="020B0604020202020204" pitchFamily="34" charset="0"/>
                  </a:rPr>
                  <a:t>Typically done by minimising the negative </a:t>
                </a:r>
                <a:r>
                  <a:rPr lang="en-AU" altLang="ko-KR" sz="2400" dirty="0">
                    <a:solidFill>
                      <a:srgbClr val="0070C0"/>
                    </a:solidFill>
                    <a:ea typeface="Arial" panose="020B0604020202020204" pitchFamily="34" charset="0"/>
                  </a:rPr>
                  <a:t>log likelihood</a:t>
                </a:r>
              </a:p>
              <a:p>
                <a:pPr>
                  <a:spcBef>
                    <a:spcPts val="2376"/>
                  </a:spcBef>
                </a:pPr>
                <a:r>
                  <a:rPr lang="en-AU" altLang="ko-KR" sz="2400" dirty="0">
                    <a:solidFill>
                      <a:srgbClr val="0070C0"/>
                    </a:solidFill>
                    <a:cs typeface="Tahoma" panose="020B0604030504040204" pitchFamily="34" charset="0"/>
                  </a:rPr>
                  <a:t>Epistemic uncertainty</a:t>
                </a:r>
                <a:r>
                  <a:rPr lang="en-AU" altLang="ko-KR" sz="2400" dirty="0">
                    <a:cs typeface="Tahoma" panose="020B0604030504040204" pitchFamily="34" charset="0"/>
                  </a:rPr>
                  <a:t> about parameters and predictions due to finite data, i.e., could have observed different </a:t>
                </a:r>
                <a14:m>
                  <m:oMath xmlns:m="http://schemas.openxmlformats.org/officeDocument/2006/math">
                    <m:r>
                      <a:rPr lang="en-AU" altLang="ko-KR" sz="2400" i="1" dirty="0" smtClean="0">
                        <a:latin typeface="Cambria Math" panose="02040503050406030204" pitchFamily="18" charset="0"/>
                        <a:cs typeface="Tahoma" panose="020B0604030504040204" pitchFamily="34" charset="0"/>
                      </a:rPr>
                      <m:t>𝑋</m:t>
                    </m:r>
                  </m:oMath>
                </a14:m>
                <a:r>
                  <a:rPr lang="en-AU" altLang="ko-KR" sz="2400" dirty="0">
                    <a:cs typeface="Tahoma" panose="020B0604030504040204" pitchFamily="34" charset="0"/>
                  </a:rPr>
                  <a:t> and also different </a:t>
                </a:r>
                <a14:m>
                  <m:oMath xmlns:m="http://schemas.openxmlformats.org/officeDocument/2006/math">
                    <m:r>
                      <a:rPr lang="en-AU" altLang="ko-KR" sz="2400" i="1" dirty="0" smtClean="0">
                        <a:latin typeface="Cambria Math" panose="02040503050406030204" pitchFamily="18" charset="0"/>
                        <a:cs typeface="Tahoma" panose="020B0604030504040204" pitchFamily="34" charset="0"/>
                      </a:rPr>
                      <m:t>𝑌</m:t>
                    </m:r>
                  </m:oMath>
                </a14:m>
                <a:r>
                  <a:rPr lang="en-AU" altLang="ko-KR" sz="2400" dirty="0">
                    <a:cs typeface="Tahoma" panose="020B0604030504040204" pitchFamily="34" charset="0"/>
                  </a:rPr>
                  <a:t> given </a:t>
                </a:r>
                <a14:m>
                  <m:oMath xmlns:m="http://schemas.openxmlformats.org/officeDocument/2006/math">
                    <m:r>
                      <a:rPr lang="en-AU" altLang="ko-KR" sz="2400" i="1" dirty="0" smtClean="0">
                        <a:latin typeface="Cambria Math" panose="02040503050406030204" pitchFamily="18" charset="0"/>
                        <a:cs typeface="Tahoma" panose="020B0604030504040204" pitchFamily="34" charset="0"/>
                      </a:rPr>
                      <m:t>𝑋</m:t>
                    </m:r>
                  </m:oMath>
                </a14:m>
                <a:r>
                  <a:rPr lang="en-AU" altLang="ko-KR" sz="2400" dirty="0">
                    <a:cs typeface="Tahoma" panose="020B0604030504040204" pitchFamily="34" charset="0"/>
                  </a:rPr>
                  <a:t> (noise)</a:t>
                </a:r>
                <a:endParaRPr lang="en-US" altLang="ko-KR" sz="2400" dirty="0">
                  <a:cs typeface="Tahoma" panose="020B0604030504040204" pitchFamily="34" charset="0"/>
                </a:endParaRPr>
              </a:p>
              <a:p>
                <a:pPr marL="0" lvl="1" indent="0"/>
                <a:endParaRPr lang="en-US" altLang="ko-KR" dirty="0">
                  <a:ea typeface="MS PGothic" panose="020B0600070205080204" pitchFamily="34" charset="-128"/>
                  <a:cs typeface="Tahoma" panose="020B0604030504040204" pitchFamily="34" charset="0"/>
                </a:endParaRPr>
              </a:p>
              <a:p>
                <a:endParaRPr lang="en-US" altLang="ko-KR" sz="2400" dirty="0">
                  <a:cs typeface="Tahoma" panose="020B0604030504040204" pitchFamily="34" charset="0"/>
                </a:endParaRPr>
              </a:p>
              <a:p>
                <a:pPr marL="0" lvl="1" indent="0"/>
                <a:endParaRPr lang="en-US" altLang="ko-KR" dirty="0">
                  <a:ea typeface="MS PGothic" panose="020B0600070205080204" pitchFamily="34" charset="-128"/>
                  <a:cs typeface="Tahoma" panose="020B0604030504040204" pitchFamily="34" charset="0"/>
                </a:endParaRPr>
              </a:p>
            </p:txBody>
          </p:sp>
        </mc:Choice>
        <mc:Fallback xmlns="">
          <p:sp>
            <p:nvSpPr>
              <p:cNvPr id="48453" name="Content Placeholder 2"/>
              <p:cNvSpPr>
                <a:spLocks noGrp="1" noRot="1" noChangeAspect="1" noMove="1" noResize="1" noEditPoints="1" noAdjustHandles="1" noChangeArrowheads="1" noChangeShapeType="1" noTextEdit="1"/>
              </p:cNvSpPr>
              <p:nvPr>
                <p:ph idx="4294967295"/>
              </p:nvPr>
            </p:nvSpPr>
            <p:spPr>
              <a:xfrm>
                <a:off x="228600" y="1524000"/>
                <a:ext cx="8610600" cy="4572000"/>
              </a:xfrm>
              <a:blipFill>
                <a:blip r:embed="rId2"/>
                <a:stretch>
                  <a:fillRect t="-1111" r="-884"/>
                </a:stretch>
              </a:blipFill>
            </p:spPr>
            <p:txBody>
              <a:bodyPr/>
              <a:lstStyle/>
              <a:p>
                <a:r>
                  <a:rPr lang="en-AU">
                    <a:noFill/>
                  </a:rPr>
                  <a:t> </a:t>
                </a:r>
              </a:p>
            </p:txBody>
          </p:sp>
        </mc:Fallback>
      </mc:AlternateContent>
      <p:sp>
        <p:nvSpPr>
          <p:cNvPr id="92164" name="TextBox 5"/>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5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45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45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idx="4294967295"/>
          </p:nvPr>
        </p:nvSpPr>
        <p:spPr/>
        <p:txBody>
          <a:bodyPr/>
          <a:lstStyle/>
          <a:p>
            <a:r>
              <a:rPr lang="en-US" altLang="ko-KR" dirty="0"/>
              <a:t>Summary 3/3: Quantifying Uncertainty</a:t>
            </a:r>
          </a:p>
        </p:txBody>
      </p:sp>
      <p:sp>
        <p:nvSpPr>
          <p:cNvPr id="48453" name="Content Placeholder 2"/>
          <p:cNvSpPr>
            <a:spLocks noGrp="1" noChangeArrowheads="1"/>
          </p:cNvSpPr>
          <p:nvPr>
            <p:ph idx="4294967295"/>
          </p:nvPr>
        </p:nvSpPr>
        <p:spPr>
          <a:xfrm>
            <a:off x="228600" y="1524000"/>
            <a:ext cx="8610600" cy="4572000"/>
          </a:xfrm>
        </p:spPr>
        <p:txBody>
          <a:bodyPr/>
          <a:lstStyle/>
          <a:p>
            <a:pPr>
              <a:spcBef>
                <a:spcPts val="2376"/>
              </a:spcBef>
            </a:pPr>
            <a:r>
              <a:rPr lang="en-US" altLang="ko-KR" sz="2400" dirty="0">
                <a:solidFill>
                  <a:srgbClr val="0070C0"/>
                </a:solidFill>
                <a:cs typeface="Tahoma" panose="020B0604030504040204" pitchFamily="34" charset="0"/>
              </a:rPr>
              <a:t>Bootstrap </a:t>
            </a:r>
            <a:r>
              <a:rPr lang="en-US" altLang="ko-KR" sz="2400" dirty="0">
                <a:cs typeface="Tahoma" panose="020B0604030504040204" pitchFamily="34" charset="0"/>
              </a:rPr>
              <a:t>quantifies epistemic uncertainty by re-fitting model with datasets re-sampled from available data</a:t>
            </a:r>
          </a:p>
          <a:p>
            <a:pPr>
              <a:spcBef>
                <a:spcPts val="2376"/>
              </a:spcBef>
            </a:pPr>
            <a:r>
              <a:rPr lang="en-US" altLang="ko-KR" sz="2400" dirty="0">
                <a:cs typeface="Tahoma" panose="020B0604030504040204" pitchFamily="34" charset="0"/>
              </a:rPr>
              <a:t>Results in distribution over parameters, predictions, and performance estimates</a:t>
            </a:r>
          </a:p>
          <a:p>
            <a:pPr>
              <a:spcBef>
                <a:spcPts val="2376"/>
              </a:spcBef>
            </a:pPr>
            <a:r>
              <a:rPr lang="en-AU" altLang="ko-KR" sz="2400" dirty="0">
                <a:solidFill>
                  <a:srgbClr val="0070C0"/>
                </a:solidFill>
                <a:ea typeface="MS PGothic" panose="020B0600070205080204" pitchFamily="34" charset="-128"/>
              </a:rPr>
              <a:t>Bayesian models </a:t>
            </a:r>
            <a:r>
              <a:rPr lang="en-AU" altLang="ko-KR" sz="2400" dirty="0"/>
              <a:t>instead define directly prior probability distributions on parameters</a:t>
            </a:r>
            <a:endParaRPr lang="en-AU" altLang="ko-KR" sz="2400" dirty="0">
              <a:ea typeface="Arial" panose="020B0604020202020204" pitchFamily="34" charset="0"/>
            </a:endParaRPr>
          </a:p>
          <a:p>
            <a:pPr>
              <a:spcBef>
                <a:spcPts val="2376"/>
              </a:spcBef>
            </a:pPr>
            <a:r>
              <a:rPr lang="en-AU" altLang="ko-KR" sz="2400" dirty="0">
                <a:ea typeface="Arial" panose="020B0604020202020204" pitchFamily="34" charset="0"/>
              </a:rPr>
              <a:t>Results in </a:t>
            </a:r>
            <a:r>
              <a:rPr lang="en-AU" altLang="ko-KR" sz="2400" dirty="0">
                <a:solidFill>
                  <a:srgbClr val="0070C0"/>
                </a:solidFill>
                <a:ea typeface="Arial" panose="020B0604020202020204" pitchFamily="34" charset="0"/>
              </a:rPr>
              <a:t>posterior distribution</a:t>
            </a:r>
            <a:r>
              <a:rPr lang="en-AU" altLang="ko-KR" sz="2400" dirty="0">
                <a:ea typeface="Arial" panose="020B0604020202020204" pitchFamily="34" charset="0"/>
              </a:rPr>
              <a:t> (given the data) of parameters and predictions that also quantifies epistemic uncertainty (use Bayes’ theorem to evaluate posterior)</a:t>
            </a:r>
            <a:endParaRPr lang="en-US" altLang="ko-KR" dirty="0">
              <a:ea typeface="MS PGothic" panose="020B0600070205080204" pitchFamily="34" charset="-128"/>
              <a:cs typeface="Tahoma" panose="020B0604030504040204" pitchFamily="34" charset="0"/>
            </a:endParaRPr>
          </a:p>
          <a:p>
            <a:endParaRPr lang="en-US" altLang="ko-KR" sz="2400" dirty="0">
              <a:cs typeface="Tahoma" panose="020B0604030504040204" pitchFamily="34" charset="0"/>
            </a:endParaRPr>
          </a:p>
          <a:p>
            <a:pPr marL="0" lvl="1" indent="0"/>
            <a:endParaRPr lang="en-US" altLang="ko-KR" dirty="0">
              <a:ea typeface="MS PGothic" panose="020B0600070205080204" pitchFamily="34" charset="-128"/>
              <a:cs typeface="Tahoma" panose="020B0604030504040204" pitchFamily="34" charset="0"/>
            </a:endParaRPr>
          </a:p>
        </p:txBody>
      </p:sp>
      <p:sp>
        <p:nvSpPr>
          <p:cNvPr id="92164" name="TextBox 5"/>
          <p:cNvSpPr>
            <a:spLocks noChangeArrowheads="1"/>
          </p:cNvSpPr>
          <p:nvPr/>
        </p:nvSpPr>
        <p:spPr bwMode="auto">
          <a:xfrm>
            <a:off x="228600" y="6353175"/>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2800">
                <a:solidFill>
                  <a:schemeClr val="tx1"/>
                </a:solidFill>
                <a:latin typeface="Tahoma" panose="020B0604030504040204" pitchFamily="34" charset="0"/>
                <a:ea typeface="MS PGothic" panose="020B0600070205080204" pitchFamily="34" charset="-128"/>
                <a:cs typeface="Arial" panose="020B0604020202020204" pitchFamily="34" charset="0"/>
              </a:defRPr>
            </a:lvl1pPr>
            <a:lvl2pPr marL="742950" indent="-285750">
              <a:spcBef>
                <a:spcPct val="20000"/>
              </a:spcBef>
              <a:buFont typeface="Wingdings" panose="05000000000000000000" pitchFamily="2" charset="2"/>
              <a:buChar char="o"/>
              <a:defRPr sz="2400">
                <a:solidFill>
                  <a:schemeClr val="tx1"/>
                </a:solidFill>
                <a:latin typeface="Tahoma" panose="020B0604030504040204" pitchFamily="34" charset="0"/>
                <a:ea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000">
                <a:solidFill>
                  <a:schemeClr val="tx1"/>
                </a:solidFill>
                <a:latin typeface="Tahoma" panose="020B0604030504040204" pitchFamily="34" charset="0"/>
                <a:ea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Ø"/>
              <a:defRPr sz="1600">
                <a:solidFill>
                  <a:schemeClr val="tx1"/>
                </a:solidFill>
                <a:latin typeface="Tahoma" panose="020B0604030504040204" pitchFamily="34" charset="0"/>
                <a:ea typeface="MS PGothic" panose="020B0600070205080204" pitchFamily="34" charset="-128"/>
                <a:cs typeface="Tahoma" panose="020B060403050404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cs typeface="Tahoma" panose="020B0604030504040204" pitchFamily="34" charset="0"/>
              </a:defRPr>
            </a:lvl9pPr>
          </a:lstStyle>
          <a:p>
            <a:pPr>
              <a:spcBef>
                <a:spcPct val="0"/>
              </a:spcBef>
              <a:buFontTx/>
              <a:buNone/>
            </a:pPr>
            <a:r>
              <a:rPr lang="en-US" altLang="ko-KR" sz="1200">
                <a:ea typeface="굴림" pitchFamily="6" charset="-127"/>
              </a:rPr>
              <a:t>Probabilistic Machine Learning</a:t>
            </a:r>
          </a:p>
        </p:txBody>
      </p:sp>
    </p:spTree>
    <p:extLst>
      <p:ext uri="{BB962C8B-B14F-4D97-AF65-F5344CB8AC3E}">
        <p14:creationId xmlns:p14="http://schemas.microsoft.com/office/powerpoint/2010/main" val="357412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5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45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00200"/>
            <a:ext cx="6096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10.11"/>
  <p:tag name="AS_TITLE" val="Aspose.Slides for .NET 2.0"/>
  <p:tag name="AS_VERSION" val="17.9.1"/>
</p:tagLst>
</file>

<file path=ppt/theme/theme1.xml><?xml version="1.0" encoding="utf-8"?>
<a:theme xmlns:a="http://schemas.openxmlformats.org/drawingml/2006/main" name="IT_Grey">
  <a:themeElements>
    <a:clrScheme name="IT_Gre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T_Grey">
      <a:majorFont>
        <a:latin typeface="Tahoma"/>
        <a:ea typeface="ＭＳ Ｐゴシック"/>
        <a:cs typeface="Arial"/>
      </a:majorFont>
      <a:minorFont>
        <a:latin typeface="Tahoma"/>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IT_Gre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T_Gre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T_Gre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T_Gre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T_Gre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T_Grey 6">
        <a:dk1>
          <a:srgbClr val="005A58"/>
        </a:dk1>
        <a:lt1>
          <a:srgbClr val="FFFFFF"/>
        </a:lt1>
        <a:dk2>
          <a:srgbClr val="008080"/>
        </a:dk2>
        <a:lt2>
          <a:srgbClr val="FFFF99"/>
        </a:lt2>
        <a:accent1>
          <a:srgbClr val="006462"/>
        </a:accent1>
        <a:accent2>
          <a:srgbClr val="6D6FC7"/>
        </a:accent2>
        <a:accent3>
          <a:srgbClr val="FFFFFF"/>
        </a:accent3>
        <a:accent4>
          <a:srgbClr val="004C4A"/>
        </a:accent4>
        <a:accent5>
          <a:srgbClr val="AAB8B7"/>
        </a:accent5>
        <a:accent6>
          <a:srgbClr val="6264B4"/>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IT_Grey 7">
        <a:dk1>
          <a:srgbClr val="5C1F00"/>
        </a:dk1>
        <a:lt1>
          <a:srgbClr val="FFFFFF"/>
        </a:lt1>
        <a:dk2>
          <a:srgbClr val="800000"/>
        </a:dk2>
        <a:lt2>
          <a:srgbClr val="DFD293"/>
        </a:lt2>
        <a:accent1>
          <a:srgbClr val="CC3300"/>
        </a:accent1>
        <a:accent2>
          <a:srgbClr val="BE7960"/>
        </a:accent2>
        <a:accent3>
          <a:srgbClr val="FFFFFF"/>
        </a:accent3>
        <a:accent4>
          <a:srgbClr val="4D1900"/>
        </a:accent4>
        <a:accent5>
          <a:srgbClr val="E2ADAA"/>
        </a:accent5>
        <a:accent6>
          <a:srgbClr val="AC6D5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IT_Grey 8">
        <a:dk1>
          <a:srgbClr val="003366"/>
        </a:dk1>
        <a:lt1>
          <a:srgbClr val="FFFFFF"/>
        </a:lt1>
        <a:dk2>
          <a:srgbClr val="000099"/>
        </a:dk2>
        <a:lt2>
          <a:srgbClr val="CCFFFF"/>
        </a:lt2>
        <a:accent1>
          <a:srgbClr val="3366CC"/>
        </a:accent1>
        <a:accent2>
          <a:srgbClr val="00B000"/>
        </a:accent2>
        <a:accent3>
          <a:srgbClr val="FFFFFF"/>
        </a:accent3>
        <a:accent4>
          <a:srgbClr val="002A56"/>
        </a:accent4>
        <a:accent5>
          <a:srgbClr val="ADB8E2"/>
        </a:accent5>
        <a:accent6>
          <a:srgbClr val="009F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IT_Grey 9">
        <a:dk1>
          <a:srgbClr val="336699"/>
        </a:dk1>
        <a:lt1>
          <a:srgbClr val="FFFFFF"/>
        </a:lt1>
        <a:dk2>
          <a:srgbClr val="000000"/>
        </a:dk2>
        <a:lt2>
          <a:srgbClr val="E3EBF1"/>
        </a:lt2>
        <a:accent1>
          <a:srgbClr val="003399"/>
        </a:accent1>
        <a:accent2>
          <a:srgbClr val="468A4B"/>
        </a:accent2>
        <a:accent3>
          <a:srgbClr val="FFFFFF"/>
        </a:accent3>
        <a:accent4>
          <a:srgbClr val="2A5682"/>
        </a:accent4>
        <a:accent5>
          <a:srgbClr val="AAADCA"/>
        </a:accent5>
        <a:accent6>
          <a:srgbClr val="3F7D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IT_Grey 10">
        <a:dk1>
          <a:srgbClr val="777777"/>
        </a:dk1>
        <a:lt1>
          <a:srgbClr val="FFFFFF"/>
        </a:lt1>
        <a:dk2>
          <a:srgbClr val="686B5D"/>
        </a:dk2>
        <a:lt2>
          <a:srgbClr val="D1D1CB"/>
        </a:lt2>
        <a:accent1>
          <a:srgbClr val="909082"/>
        </a:accent1>
        <a:accent2>
          <a:srgbClr val="809EA8"/>
        </a:accent2>
        <a:accent3>
          <a:srgbClr val="FFFFFF"/>
        </a:accent3>
        <a:accent4>
          <a:srgbClr val="656565"/>
        </a:accent4>
        <a:accent5>
          <a:srgbClr val="C6C6C1"/>
        </a:accent5>
        <a:accent6>
          <a:srgbClr val="738F98"/>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IT_Grey 11">
        <a:dk1>
          <a:srgbClr val="3E3E5C"/>
        </a:dk1>
        <a:lt1>
          <a:srgbClr val="FFFFFF"/>
        </a:lt1>
        <a:dk2>
          <a:srgbClr val="666699"/>
        </a:dk2>
        <a:lt2>
          <a:srgbClr val="FFFFFF"/>
        </a:lt2>
        <a:accent1>
          <a:srgbClr val="60597B"/>
        </a:accent1>
        <a:accent2>
          <a:srgbClr val="6666FF"/>
        </a:accent2>
        <a:accent3>
          <a:srgbClr val="FFFFFF"/>
        </a:accent3>
        <a:accent4>
          <a:srgbClr val="34344D"/>
        </a:accent4>
        <a:accent5>
          <a:srgbClr val="B6B5BF"/>
        </a:accent5>
        <a:accent6>
          <a:srgbClr val="5C5CE7"/>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IT_Grey 12">
        <a:dk1>
          <a:srgbClr val="2D2015"/>
        </a:dk1>
        <a:lt1>
          <a:srgbClr val="FFFFFF"/>
        </a:lt1>
        <a:dk2>
          <a:srgbClr val="523E26"/>
        </a:dk2>
        <a:lt2>
          <a:srgbClr val="DFC08D"/>
        </a:lt2>
        <a:accent1>
          <a:srgbClr val="8C7B70"/>
        </a:accent1>
        <a:accent2>
          <a:srgbClr val="8F5F2F"/>
        </a:accent2>
        <a:accent3>
          <a:srgbClr val="FFFFFF"/>
        </a:accent3>
        <a:accent4>
          <a:srgbClr val="251A10"/>
        </a:accent4>
        <a:accent5>
          <a:srgbClr val="C5BFBB"/>
        </a:accent5>
        <a:accent6>
          <a:srgbClr val="81552A"/>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31974</TotalTime>
  <Words>5071</Words>
  <Application>Microsoft Office PowerPoint</Application>
  <PresentationFormat>On-screen Show (4:3)</PresentationFormat>
  <Paragraphs>712</Paragraphs>
  <Slides>53</Slides>
  <Notes>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굴림</vt:lpstr>
      <vt:lpstr>Malgun Gothic</vt:lpstr>
      <vt:lpstr>MS PGothic</vt:lpstr>
      <vt:lpstr>Arial</vt:lpstr>
      <vt:lpstr>Cambria Math</vt:lpstr>
      <vt:lpstr>Tahoma</vt:lpstr>
      <vt:lpstr>Wingdings</vt:lpstr>
      <vt:lpstr>IT_Grey</vt:lpstr>
      <vt:lpstr>ITO5201 - Machine Learning</vt:lpstr>
      <vt:lpstr>Uncertainty in Machine Learning (ML)</vt:lpstr>
      <vt:lpstr>Uncertainty in Machine Learning (ML)</vt:lpstr>
      <vt:lpstr>Probability Theory</vt:lpstr>
      <vt:lpstr>Basics of Probability Theory</vt:lpstr>
      <vt:lpstr>Random Variables</vt:lpstr>
      <vt:lpstr>Random Variables</vt:lpstr>
      <vt:lpstr>Distributions</vt:lpstr>
      <vt:lpstr>Discrete Random Variables</vt:lpstr>
      <vt:lpstr>Discrete Random Variables</vt:lpstr>
      <vt:lpstr>Two or More Variables: Joint and Marginal Probabilities</vt:lpstr>
      <vt:lpstr>Two or More Variables: Joint and Marginal Probabilities</vt:lpstr>
      <vt:lpstr>Conditional Probability</vt:lpstr>
      <vt:lpstr>Conditional Probability</vt:lpstr>
      <vt:lpstr>Two Variables: Independence</vt:lpstr>
      <vt:lpstr>Continuous Random Variables</vt:lpstr>
      <vt:lpstr>Continuous Random Variables</vt:lpstr>
      <vt:lpstr>Continuous Random Variables</vt:lpstr>
      <vt:lpstr>Continuous Random Variables</vt:lpstr>
      <vt:lpstr>Expected (Mean) Values</vt:lpstr>
      <vt:lpstr>Expected (Mean) Values</vt:lpstr>
      <vt:lpstr>Conditional Expectation</vt:lpstr>
      <vt:lpstr>Probabilistic Models: Learning about a coin</vt:lpstr>
      <vt:lpstr>Probabilistic Models</vt:lpstr>
      <vt:lpstr>Probabilistic Models</vt:lpstr>
      <vt:lpstr>Learning about a coin</vt:lpstr>
      <vt:lpstr>Maximum Likelihood Principle</vt:lpstr>
      <vt:lpstr>Likelihood Function for Coin Example</vt:lpstr>
      <vt:lpstr>Maximum Likelihood</vt:lpstr>
      <vt:lpstr>Find Maximum Likelihood Estimate</vt:lpstr>
      <vt:lpstr>MLE for Coin Example</vt:lpstr>
      <vt:lpstr>MLE for Coin Example in General</vt:lpstr>
      <vt:lpstr>Learning about a coin</vt:lpstr>
      <vt:lpstr>Bootstrap</vt:lpstr>
      <vt:lpstr>Uncertainty Quantification</vt:lpstr>
      <vt:lpstr>Parameter Uncertainty Conceptually</vt:lpstr>
      <vt:lpstr>Bootstrap for Quantifying Uncertainty </vt:lpstr>
      <vt:lpstr>Bootstrap Example</vt:lpstr>
      <vt:lpstr>Summary</vt:lpstr>
      <vt:lpstr>PowerPoint Presentation</vt:lpstr>
      <vt:lpstr>Motivation for Bayesian Approach</vt:lpstr>
      <vt:lpstr>What is Bayesian Approach to ML</vt:lpstr>
      <vt:lpstr>Encoding Prior Knowledge</vt:lpstr>
      <vt:lpstr>Encoding Prior Knowledge</vt:lpstr>
      <vt:lpstr>What is Bayesian Approach to ML</vt:lpstr>
      <vt:lpstr>What is Bayesian Approach to ML</vt:lpstr>
      <vt:lpstr>Bayesian Approach: Prediction</vt:lpstr>
      <vt:lpstr>Bayesian Approach: Prediction</vt:lpstr>
      <vt:lpstr>Bayesian Approach: Prediction</vt:lpstr>
      <vt:lpstr>Summary 1/3: Probability</vt:lpstr>
      <vt:lpstr>Summary 2/3: Uncertainty</vt:lpstr>
      <vt:lpstr>Summary 3/3: Quantifying Uncertainty</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Teresa Wang</dc:creator>
  <cp:keywords/>
  <dc:description/>
  <cp:lastModifiedBy>Callum Fitzpatrick</cp:lastModifiedBy>
  <cp:revision>1935</cp:revision>
  <cp:lastPrinted>2022-08-02T19:36:34Z</cp:lastPrinted>
  <dcterms:created xsi:type="dcterms:W3CDTF">1601-01-01T00:00:00Z</dcterms:created>
  <dcterms:modified xsi:type="dcterms:W3CDTF">2024-05-22T04:58:16Z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